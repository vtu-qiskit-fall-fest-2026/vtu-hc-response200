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1.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5143500" cy="9144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2E1B5B"/>
                </a:solidFill>
                <a:latin typeface="Calibri"/>
              </a:rPr>
              <a:t>Share of 4,000 shots in the best 10% of plans</a:t>
            </a:r>
          </a:p>
        </c:rich>
      </c:tx>
      <c:layout/>
      <c:overlay val="0"/>
    </c:title>
    <c:autoTitleDeleted val="0"/>
    <c:plotArea>
      <c:barChart>
        <c:barDir val="col"/>
        <c:grouping val="clustered"/>
        <c:ser>
          <c:idx val="0"/>
          <c:order val="0"/>
          <c:tx>
            <c:strRef>
              <c:f>Sheet1!$B$1</c:f>
              <c:strCache>
                <c:ptCount val="1"/>
                <c:pt idx="0">
                  <c:v>Random guessing</c:v>
                </c:pt>
              </c:strCache>
            </c:strRef>
          </c:tx>
          <c:spPr>
            <a:solidFill>
              <a:srgbClr val="CBD1F5"/>
            </a:solidFill>
          </c:spPr>
          <c:cat>
            <c:strRef>
              <c:f>Sheet1!$A$2:$A$4</c:f>
              <c:strCache>
                <c:ptCount val="3"/>
                <c:pt idx="0">
                  <c:v>Water only</c:v>
                </c:pt>
                <c:pt idx="1">
                  <c:v>Balanced</c:v>
                </c:pt>
                <c:pt idx="2">
                  <c:v>Carbon only</c:v>
                </c:pt>
              </c:strCache>
            </c:strRef>
          </c:cat>
          <c:val>
            <c:numRef>
              <c:f>Sheet1!$B$2:$B$4</c:f>
              <c:numCache>
                <c:formatCode>General</c:formatCode>
                <c:ptCount val="3"/>
                <c:pt idx="0">
                  <c:v>10.0</c:v>
                </c:pt>
                <c:pt idx="1">
                  <c:v>10.0</c:v>
                </c:pt>
                <c:pt idx="2">
                  <c:v>10.0</c:v>
                </c:pt>
              </c:numCache>
            </c:numRef>
          </c:val>
        </c:ser>
        <c:ser>
          <c:idx val="1"/>
          <c:order val="1"/>
          <c:tx>
            <c:strRef>
              <c:f>Sheet1!$C$1</c:f>
              <c:strCache>
                <c:ptCount val="1"/>
                <c:pt idx="0">
                  <c:v>IBM hardware</c:v>
                </c:pt>
              </c:strCache>
            </c:strRef>
          </c:tx>
          <c:spPr>
            <a:solidFill>
              <a:srgbClr val="5B3BA8"/>
            </a:solidFill>
          </c:spPr>
          <c:cat>
            <c:strRef>
              <c:f>Sheet1!$A$2:$A$4</c:f>
              <c:strCache>
                <c:ptCount val="3"/>
                <c:pt idx="0">
                  <c:v>Water only</c:v>
                </c:pt>
                <c:pt idx="1">
                  <c:v>Balanced</c:v>
                </c:pt>
                <c:pt idx="2">
                  <c:v>Carbon only</c:v>
                </c:pt>
              </c:strCache>
            </c:strRef>
          </c:cat>
          <c:val>
            <c:numRef>
              <c:f>Sheet1!$C$2:$C$4</c:f>
              <c:numCache>
                <c:formatCode>General</c:formatCode>
                <c:ptCount val="3"/>
                <c:pt idx="0">
                  <c:v>18.2</c:v>
                </c:pt>
                <c:pt idx="1">
                  <c:v>18.9</c:v>
                </c:pt>
                <c:pt idx="2">
                  <c:v>22.6</c:v>
                </c:pt>
              </c:numCache>
            </c:numRef>
          </c:val>
        </c:ser>
        <c:ser>
          <c:idx val="2"/>
          <c:order val="2"/>
          <c:tx>
            <c:strRef>
              <c:f>Sheet1!$D$1</c:f>
              <c:strCache>
                <c:ptCount val="1"/>
                <c:pt idx="0">
                  <c:v>IBM + error mitigation</c:v>
                </c:pt>
              </c:strCache>
            </c:strRef>
          </c:tx>
          <c:spPr>
            <a:solidFill>
              <a:srgbClr val="E8639F"/>
            </a:solidFill>
          </c:spPr>
          <c:cat>
            <c:strRef>
              <c:f>Sheet1!$A$2:$A$4</c:f>
              <c:strCache>
                <c:ptCount val="3"/>
                <c:pt idx="0">
                  <c:v>Water only</c:v>
                </c:pt>
                <c:pt idx="1">
                  <c:v>Balanced</c:v>
                </c:pt>
                <c:pt idx="2">
                  <c:v>Carbon only</c:v>
                </c:pt>
              </c:strCache>
            </c:strRef>
          </c:cat>
          <c:val>
            <c:numRef>
              <c:f>Sheet1!$D$2:$D$4</c:f>
              <c:numCache>
                <c:formatCode>General</c:formatCode>
                <c:ptCount val="3"/>
                <c:pt idx="0">
                  <c:v>18.3</c:v>
                </c:pt>
                <c:pt idx="1">
                  <c:v>21.1</c:v>
                </c:pt>
                <c:pt idx="2">
                  <c:v>19.1</c:v>
                </c:pt>
              </c:numCache>
            </c:numRef>
          </c:val>
        </c:ser>
        <c:ser>
          <c:idx val="3"/>
          <c:order val="3"/>
          <c:tx>
            <c:strRef>
              <c:f>Sheet1!$E$1</c:f>
              <c:strCache>
                <c:ptCount val="1"/>
                <c:pt idx="0">
                  <c:v>Perfect simulator</c:v>
                </c:pt>
              </c:strCache>
            </c:strRef>
          </c:tx>
          <c:spPr>
            <a:solidFill>
              <a:srgbClr val="7C93F0"/>
            </a:solidFill>
          </c:spPr>
          <c:cat>
            <c:strRef>
              <c:f>Sheet1!$A$2:$A$4</c:f>
              <c:strCache>
                <c:ptCount val="3"/>
                <c:pt idx="0">
                  <c:v>Water only</c:v>
                </c:pt>
                <c:pt idx="1">
                  <c:v>Balanced</c:v>
                </c:pt>
                <c:pt idx="2">
                  <c:v>Carbon only</c:v>
                </c:pt>
              </c:strCache>
            </c:strRef>
          </c:cat>
          <c:val>
            <c:numRef>
              <c:f>Sheet1!$E$2:$E$4</c:f>
              <c:numCache>
                <c:formatCode>General</c:formatCode>
                <c:ptCount val="3"/>
                <c:pt idx="0">
                  <c:v>28.1</c:v>
                </c:pt>
                <c:pt idx="1">
                  <c:v>33.5</c:v>
                </c:pt>
                <c:pt idx="2">
                  <c:v>30.6</c:v>
                </c:pt>
              </c:numCache>
            </c:numRef>
          </c:val>
        </c:ser>
        <c:dLbls>
          <c:numFmt formatCode="0&quot;%&quot;" sourceLinked="0"/>
          <c:txPr>
            <a:bodyPr/>
            <a:lstStyle/>
            <a:p>
              <a:pPr>
                <a:defRPr sz="850">
                  <a:solidFill>
                    <a:srgbClr val="2E1B5B"/>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B8BDEB"/>
            </a:solidFill>
          </a:ln>
        </c:spPr>
        <c:txPr>
          <a:bodyPr/>
          <a:lstStyle/>
          <a:p>
            <a:pPr>
              <a:defRPr sz="1000">
                <a:solidFill>
                  <a:srgbClr val="2E1B5B"/>
                </a:solidFill>
              </a:defRPr>
            </a:pPr>
          </a:p>
        </c:txPr>
        <c:crossAx val="-2113994440"/>
        <c:crosses val="autoZero"/>
        <c:auto val="1"/>
        <c:lblAlgn val="ctr"/>
        <c:lblOffset val="100"/>
        <c:noMultiLvlLbl val="0"/>
      </c:catAx>
      <c:valAx>
        <c:axId val="-2113994440"/>
        <c:scaling>
          <c:max val="40.0"/>
          <c:min val="0.0"/>
        </c:scaling>
        <c:delete val="0"/>
        <c:axPos val="l"/>
        <c:majorGridlines>
          <c:spPr>
            <a:ln>
              <a:solidFill>
                <a:srgbClr val="EEF0FE"/>
              </a:solidFill>
            </a:ln>
          </c:spPr>
        </c:majorGridlines>
        <c:numFmt formatCode="0&quot;%&quot;" sourceLinked="0"/>
        <c:majorTickMark val="out"/>
        <c:minorTickMark val="none"/>
        <c:tickLblPos val="nextTo"/>
        <c:spPr>
          <a:ln>
            <a:noFill/>
          </a:ln>
        </c:spPr>
        <c:txPr>
          <a:bodyPr/>
          <a:lstStyle/>
          <a:p>
            <a:pPr>
              <a:defRPr sz="900"/>
            </a:pPr>
          </a:p>
        </c:txPr>
        <c:crossAx val="-2068027336"/>
        <c:crosses val="autoZero"/>
        <c:majorUnit val="10.0"/>
      </c:valAx>
    </c:plotArea>
    <c:legend>
      <c:legendPos val="b"/>
      <c:overlay val="0"/>
      <c:txPr>
        <a:bodyPr/>
        <a:lstStyle/>
        <a:p>
          <a:pPr>
            <a:defRPr sz="900"/>
          </a:pPr>
        </a:p>
      </c:txPr>
    </c:legend>
    <c:dispBlanksAs val="gap"/>
  </c:chart>
  <c:txPr>
    <a:bodyPr/>
    <a:lstStyle/>
    <a:p>
      <a:pPr>
        <a:defRPr sz="1000">
          <a:solidFill>
            <a:srgbClr val="6F7399"/>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2E1B5B"/>
                </a:solidFill>
                <a:latin typeface="Calibri"/>
              </a:rPr>
              <a:t>Two-qubit gates grow with problem size</a:t>
            </a:r>
          </a:p>
        </c:rich>
      </c:tx>
      <c:layout/>
      <c:overlay val="0"/>
    </c:title>
    <c:autoTitleDeleted val="0"/>
    <c:plotArea>
      <c:lineChart>
        <c:grouping val="standard"/>
        <c:varyColors val="0"/>
        <c:ser>
          <c:idx val="0"/>
          <c:order val="0"/>
          <c:tx>
            <c:strRef>
              <c:f>Sheet1!$B$1</c:f>
              <c:strCache>
                <c:ptCount val="1"/>
                <c:pt idx="0">
                  <c:v>Two-qubit gates</c:v>
                </c:pt>
              </c:strCache>
            </c:strRef>
          </c:tx>
          <c:spPr>
            <a:ln w="28575">
              <a:solidFill>
                <a:srgbClr val="5B3BA8"/>
              </a:solidFill>
            </a:ln>
          </c:spPr>
          <c:marker>
            <c:symbol val="circle"/>
            <c:size val="7"/>
            <c:spPr>
              <a:solidFill>
                <a:srgbClr val="5B3BA8"/>
              </a:solidFill>
              <a:ln>
                <a:solidFill>
                  <a:srgbClr val="FFFFFF"/>
                </a:solidFill>
              </a:ln>
            </c:spPr>
          </c:marker>
          <c:dPt>
            <c:idx val="0"/>
            <c:marker>
              <c:size val="10"/>
              <c:spPr>
                <a:solidFill>
                  <a:srgbClr val="E8639F"/>
                </a:solidFill>
              </c:spPr>
            </c:marker>
          </c:dPt>
          <c:dLbls>
            <c:dLbl>
              <c:idx val="0"/>
              <c:spPr/>
              <c:txPr>
                <a:bodyPr/>
                <a:lstStyle/>
                <a:p>
                  <a:pPr>
                    <a:defRPr sz="1000" b="1">
                      <a:solidFill>
                        <a:srgbClr val="E8639F"/>
                      </a:solidFill>
                    </a:defRPr>
                  </a:pPr>
                </a:p>
              </c:txPr>
              <c:dLblPos val="t"/>
              <c:showLegendKey val="0"/>
              <c:showVal val="1"/>
              <c:showCatName val="0"/>
              <c:showSerName val="0"/>
              <c:showPercent val="0"/>
              <c:showBubbleSize val="0"/>
            </c:dLbl>
            <c:dLbl>
              <c:idx val="7"/>
              <c:spPr/>
              <c:txPr>
                <a:bodyPr/>
                <a:lstStyle/>
                <a:p>
                  <a:pPr>
                    <a:defRPr sz="1000" b="1">
                      <a:solidFill>
                        <a:srgbClr val="2E1B5B"/>
                      </a:solidFill>
                    </a:defRPr>
                  </a:pPr>
                </a:p>
              </c:txPr>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8</c:v>
                </c:pt>
                <c:pt idx="1">
                  <c:v>10</c:v>
                </c:pt>
                <c:pt idx="2">
                  <c:v>12</c:v>
                </c:pt>
                <c:pt idx="3">
                  <c:v>14</c:v>
                </c:pt>
                <c:pt idx="4">
                  <c:v>16</c:v>
                </c:pt>
                <c:pt idx="5">
                  <c:v>18</c:v>
                </c:pt>
                <c:pt idx="6">
                  <c:v>20</c:v>
                </c:pt>
                <c:pt idx="7">
                  <c:v>22</c:v>
                </c:pt>
              </c:strCache>
            </c:strRef>
          </c:cat>
          <c:val>
            <c:numRef>
              <c:f>Sheet1!$B$2:$B$9</c:f>
              <c:numCache>
                <c:formatCode>General</c:formatCode>
                <c:ptCount val="8"/>
                <c:pt idx="0">
                  <c:v>114</c:v>
                </c:pt>
                <c:pt idx="1">
                  <c:v>188</c:v>
                </c:pt>
                <c:pt idx="2">
                  <c:v>280</c:v>
                </c:pt>
                <c:pt idx="3">
                  <c:v>411</c:v>
                </c:pt>
                <c:pt idx="4">
                  <c:v>518</c:v>
                </c:pt>
                <c:pt idx="5">
                  <c:v>664</c:v>
                </c:pt>
                <c:pt idx="6">
                  <c:v>828</c:v>
                </c:pt>
                <c:pt idx="7">
                  <c:v>1010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8BDEB"/>
            </a:solidFill>
          </a:ln>
        </c:spPr>
        <c:txPr>
          <a:bodyPr/>
          <a:lstStyle/>
          <a:p>
            <a:pPr>
              <a:defRPr sz="900"/>
            </a:pPr>
          </a:p>
        </c:txPr>
        <c:crossAx val="2140495176"/>
        <c:crosses val="autoZero"/>
        <c:auto val="1"/>
        <c:lblAlgn val="ctr"/>
        <c:lblOffset val="100"/>
        <c:noMultiLvlLbl val="0"/>
      </c:catAx>
      <c:valAx>
        <c:axId val="2140495176"/>
        <c:scaling>
          <c:max val="1200.0"/>
          <c:min val="0.0"/>
        </c:scaling>
        <c:delete val="0"/>
        <c:axPos val="l"/>
        <c:majorGridlines>
          <c:spPr>
            <a:ln>
              <a:solidFill>
                <a:srgbClr val="EEF0FE"/>
              </a:solidFill>
            </a:ln>
          </c:spPr>
        </c:majorGridlines>
        <c:majorTickMark val="out"/>
        <c:minorTickMark val="none"/>
        <c:tickLblPos val="nextTo"/>
        <c:spPr>
          <a:ln>
            <a:noFill/>
          </a:ln>
        </c:spPr>
        <c:txPr>
          <a:bodyPr/>
          <a:lstStyle/>
          <a:p>
            <a:pPr>
              <a:defRPr sz="900"/>
            </a:pPr>
          </a:p>
        </c:txPr>
        <c:crossAx val="2118791784"/>
        <c:crosses val="autoZero"/>
        <c:majorUnit val="300.0"/>
      </c:valAx>
    </c:plotArea>
    <c:plotVisOnly val="1"/>
    <c:dispBlanksAs val="gap"/>
    <c:showDLblsOverMax val="0"/>
  </c:chart>
  <c:txPr>
    <a:bodyPr/>
    <a:lstStyle/>
    <a:p>
      <a:pPr>
        <a:defRPr sz="1000">
          <a:solidFill>
            <a:srgbClr val="6F7399"/>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2EFA1F8C-B10B-C84D-94FC-B3DA01C1C208}" type="datetimeFigureOut">
              <a:rPr lang="en-US" smtClean="0"/>
              <a:t>10/22/2026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20902761-92A6-8544-9B98-D45CEE3CC886}" type="slidenum">
              <a:rPr lang="en-US" smtClean="0"/>
              <a:t>‹#›</a:t>
            </a:fld>
            <a:endParaRPr lang="en-US"/>
          </a:p>
        </p:txBody>
      </p:sp>
    </p:spTree>
    <p:extLst>
      <p:ext uri="{BB962C8B-B14F-4D97-AF65-F5344CB8AC3E}">
        <p14:creationId xmlns:p14="http://schemas.microsoft.com/office/powerpoint/2010/main" val="3504636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are Team Response200. Our project is GreenQ: it decides where and when to run flexible data-centre jobs so they use less carbon and less water. The optimiser is QAOA written in Qiskit, and we ran it on a real IBM quantum computer.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centres burn electricity, which means carbon, and they use water for cooling. Many jobs, like model training or analytics, are flexible: they can run at another site or at another time. The catch is that the two goals conflict. Evaporative cooling saves electricity but evaporates water; air cooling saves water but uses more electricity. So there is no single best site, and even four jobs give 256 possible plans. The grid and power-plant water figures are cited; site and job figures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objectives: cut carbon and water together with one priority slider; decide where and when with QAOA in Qiskit on real IBM hardware; and prove every answer against the true best. Our main design decision is the encoding. The textbook one-hot form needs 16 qubits and only 0.39 percent of its outputs are valid schedules. We give each job one 'where' qubit and one 'when' qubit: 8 qubits, every output valid, no penalty tuning, and half the two-qubit gates on the real chip.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pipeline: we model the carbon and water of every plan, turn that cost into an 8-qubit Hamiltonian with 31 terms, train QAOA's two angles on a simulator, run the trained circuit on IBM hardware, and check the result against brute force over all 256 plans. On quantum advantage we are explicit: we do not claim it. At this size a laptop solves the problem instantly, and we use it as the referee. What the real quantum computer does show is a clear shift toward cheap plans: about twice as many shots land in the best 10 percent as with random guessing. Because each job needs only two qubits, the formulation scales linearly; what limits us today is hardware noise.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real circuit we ran. Each job has two qubits, a 'when' and a 'where' qubit. Hadamards create an equal superposition of all 256 plans. The cost layer adds a phase proportional to each plan's carbon-and-water cost, using Z, ZZ and ZZZZ terms; a test checks that this Hamiltonian equals the classical cost on all 256 plans. The mixer then makes cheap plans interfere constructively. We train the two angles with CVaR and COBYLA on a simulator, because the free IBM plan gives about 10 minutes of quantum time a month, and send only the trained circuit to hardware. After transpiling for ibm_marrakesh it has 114 two-qubit gates.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layers. The quantum core is plain Python with Qiskit 2.6: the cost model, the encoding, QAOA, and the IBM Runtime SamplerV2 runs on ibm_marrakesh. Every hardware result is saved with its job ID, so the demo never depends on the queue. A FastAPI server serves the saved results and an AI layer on Groq that only explains results; it never chooses a schedule. The web app is React with a mascot, Dewy, that guides the viewer. One command starts everything, and an automated test suite checks the model, the Hamiltonian and the AI guard-rails.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where the 4,000 shots landed. Random guessing puts 10 percent of its shots in the best tenth of plans. The real IBM computer put 18 to 23 percent there, about twice as many, and a perfect simulator about a third. All hardware runs beat random by 14 to 19 standard errors. Error mitigation, dynamical decoupling plus twirling, helped in one setting and hurt in another, so we report no consistent gain. Right: in the balanced setting the best plan saves 530 kg of CO2 and 1,798 litres of water against running every job at home immediately, about 14 percent each. The site and job data are illustrative. And honestly: greedy and simulated annealing also find the best plan at this size, faster. Our claim is a validated formulation, not a speed-up.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Who would use this: cloud and colocation providers, AI and HPC labs that queue large batch jobs, and enterprises with carbon and water targets. Location matters too: a litre in a water-stressed state counts for more, which we model with WRI Aqueduct scores. The AI copilot runs on Groq. Operators can ask why a plan was chosen and get a short plain-language answer, or type their jobs in plain English and get a plan. It is guard-railed: the AI never chooses the schedule, every number it writes is checked against our data, and the demo falls back to saved answers when offline. What could it be worth? For an assumed fleet of 100 GWh a year with 20 percent flexible load, our measured 14 percent saving would be about 3,420 tonnes of CO2 and 11.6 million litres of water a year. Those inputs are assumptions, shown as such.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measured how the problem grows. From 4 to 11 jobs the qubits grow linearly, 2 per job, but the two-qubit gates grow from 114 to 1,010, because every pair of jobs that can share a slot adds gates. Today's hardware handles our 8-qubit case; the real chip kept roughly half to two thirds of the ideal simulator's gain. Our limits are clear: noise, circuit depth, about 10 minutes of free quantum time a month, and illustrative site data. Next: split large fleets into small sub-problems that fit the hardware, plug in live regional carbon and water data, connect to real job schedulers like Kubernetes or Slurm, and use deeper circuits as hardware improves.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Everything is in the repository: the code, the tests, the saved IBM hardware results with job IDs, and a plain-language explainer.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sp>
      <p:sp>
        <p:nvSpPr>
          <p:cNvPr id="3" name="Shape 1"/>
          <p:cNvSpPr/>
          <p:nvPr/>
        </p:nvSpPr>
        <p:spPr>
          <a:xfrm>
            <a:off x="0" y="658368"/>
            <a:ext cx="3054096" cy="45720"/>
          </a:xfrm>
          <a:prstGeom prst="rect">
            <a:avLst/>
          </a:prstGeom>
          <a:solidFill>
            <a:srgbClr val="7C93F0"/>
          </a:solidFill>
          <a:ln w="12700">
            <a:solidFill>
              <a:srgbClr val="7C93F0"/>
            </a:solidFill>
            <a:prstDash val="solid"/>
          </a:ln>
        </p:spPr>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sp>
      <p:sp>
        <p:nvSpPr>
          <p:cNvPr id="3" name="Shape 1"/>
          <p:cNvSpPr/>
          <p:nvPr/>
        </p:nvSpPr>
        <p:spPr>
          <a:xfrm>
            <a:off x="0" y="658368"/>
            <a:ext cx="3054096" cy="45720"/>
          </a:xfrm>
          <a:prstGeom prst="rect">
            <a:avLst/>
          </a:prstGeom>
          <a:solidFill>
            <a:srgbClr val="7C93F0"/>
          </a:solidFill>
          <a:ln w="12700">
            <a:solidFill>
              <a:srgbClr val="7C93F0"/>
            </a:solidFill>
            <a:prstDash val="solid"/>
          </a:ln>
        </p:spPr>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pic>
        <p:nvPicPr>
          <p:cNvPr id="19" name="Image 3" descr="sphere.png"/>
          <p:cNvPicPr>
            <a:picLocks noChangeAspect="1"/>
          </p:cNvPicPr>
          <p:nvPr/>
        </p:nvPicPr>
        <p:blipFill>
          <a:blip r:embed="rId5"/>
          <a:stretch>
            <a:fillRect/>
          </a:stretch>
        </p:blipFill>
        <p:spPr>
          <a:xfrm>
            <a:off x="7909560" y="822960"/>
            <a:ext cx="777240" cy="777240"/>
          </a:xfrm>
          <a:prstGeom prst="rect">
            <a:avLst/>
          </a:prstGeom>
        </p:spPr>
      </p:pic>
      <p:pic>
        <p:nvPicPr>
          <p:cNvPr id="20" name="Image 4" descr="bird1.png"/>
          <p:cNvPicPr>
            <a:picLocks noChangeAspect="1"/>
          </p:cNvPicPr>
          <p:nvPr/>
        </p:nvPicPr>
        <p:blipFill>
          <a:blip r:embed="rId6"/>
          <a:stretch>
            <a:fillRect/>
          </a:stretch>
        </p:blipFill>
        <p:spPr>
          <a:xfrm>
            <a:off x="7086600" y="868680"/>
            <a:ext cx="548640" cy="329184"/>
          </a:xfrm>
          <a:prstGeom prst="rect">
            <a:avLst/>
          </a:prstGeom>
        </p:spPr>
      </p:pic>
      <p:pic>
        <p:nvPicPr>
          <p:cNvPr id="21" name="Image 5" descr="bird2.png"/>
          <p:cNvPicPr>
            <a:picLocks noChangeAspect="1"/>
          </p:cNvPicPr>
          <p:nvPr/>
        </p:nvPicPr>
        <p:blipFill>
          <a:blip r:embed="rId7"/>
          <a:stretch>
            <a:fillRect/>
          </a:stretch>
        </p:blipFill>
        <p:spPr>
          <a:xfrm>
            <a:off x="6903720" y="1261872"/>
            <a:ext cx="384048" cy="228600"/>
          </a:xfrm>
          <a:prstGeom prst="rect">
            <a:avLst/>
          </a:prstGeom>
        </p:spPr>
      </p:pic>
      <p:sp>
        <p:nvSpPr>
          <p:cNvPr id="22" name="Text 14"/>
          <p:cNvSpPr>
            <a:spLocks noGrp="1"/>
          </p:cNvSpPr>
          <p:nvPr>
            <p:ph type="title" idx="120" hasCustomPrompt="1"/>
          </p:nvPr>
        </p:nvSpPr>
        <p:spPr>
          <a:xfrm>
            <a:off x="457200" y="841248"/>
            <a:ext cx="6309360" cy="594360"/>
          </a:xfrm>
          <a:prstGeom prst="rect">
            <a:avLst/>
          </a:prstGeom>
          <a:noFill/>
          <a:ln/>
        </p:spPr>
        <p:txBody>
          <a:bodyPr wrap="square" rtlCol="0"/>
          <a:lstStyle>
            <a:lvl1pPr marL="0" indent="0" algn="l">
              <a:buNone/>
              <a:defRPr lang="en-US" sz="2600" b="1" dirty="0">
                <a:solidFill>
                  <a:srgbClr val="2E1B5B"/>
                </a:solidFill>
                <a:latin typeface="Georgia" pitchFamily="34" charset="0"/>
                <a:ea typeface="Georgia" pitchFamily="34" charset="-122"/>
                <a:cs typeface="Georgia" pitchFamily="34" charset="-120"/>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12.png"/><Relationship Id="rId6"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hart" Target="../charts/chart1.xml"/><Relationship Id="rId4" Type="http://schemas.openxmlformats.org/officeDocument/2006/relationships/image" Target="../media/image8.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16.png"/><Relationship Id="rId7" Type="http://schemas.openxmlformats.org/officeDocument/2006/relationships/image" Target="../media/image21.png"/><Relationship Id="rId8"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hyperlink" Target="https://greenq-xi.vercel.app" TargetMode="External"/><Relationship Id="rId8" Type="http://schemas.openxmlformats.org/officeDocument/2006/relationships/hyperlink" Target="https://github.com/vtu-qiskit-fall-fest-2026/vtu-hc-response200"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329184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PARTICIPANT PRESENTATION</a:t>
            </a:r>
            <a:endParaRPr lang="en-US" sz="1000" dirty="0"/>
          </a:p>
        </p:txBody>
      </p:sp>
      <p:sp>
        <p:nvSpPr>
          <p:cNvPr id="3" name="Text 1"/>
          <p:cNvSpPr txBox="1"/>
          <p:nvPr/>
        </p:nvSpPr>
        <p:spPr>
          <a:xfrm>
            <a:off x="457200" y="1234440"/>
            <a:ext cx="3383280" cy="1645920"/>
          </a:xfrm>
          <a:prstGeom prst="rect">
            <a:avLst/>
          </a:prstGeom>
          <a:noFill/>
          <a:ln/>
        </p:spPr>
        <p:txBody>
          <a:bodyPr wrap="square" lIns="0" tIns="0" rIns="0" bIns="0" rtlCol="0" anchor="t"/>
          <a:lstStyle/>
          <a:p>
            <a:pPr marL="0" indent="0">
              <a:buNone/>
            </a:pPr>
            <a:r>
              <a:rPr lang="en-US" sz="3800" b="1" dirty="0">
                <a:solidFill>
                  <a:srgbClr val="2E1B5B"/>
                </a:solidFill>
                <a:latin typeface="Georgia" pitchFamily="34" charset="0"/>
                <a:ea typeface="Georgia" pitchFamily="34" charset="-122"/>
                <a:cs typeface="Georgia" pitchFamily="34" charset="-120"/>
              </a:rPr>
              <a:t>Qiskit</a:t>
            </a:r>
            <a:endParaRPr lang="en-US" sz="3800" dirty="0"/>
          </a:p>
          <a:p>
            <a:pPr marL="0" indent="0">
              <a:buNone/>
            </a:pPr>
            <a:r>
              <a:rPr lang="en-US" sz="3800" b="1" dirty="0">
                <a:solidFill>
                  <a:srgbClr val="E8639F"/>
                </a:solidFill>
                <a:latin typeface="Georgia" pitchFamily="34" charset="0"/>
                <a:ea typeface="Georgia" pitchFamily="34" charset="-122"/>
                <a:cs typeface="Georgia" pitchFamily="34" charset="-120"/>
              </a:rPr>
              <a:t>Fall Fest</a:t>
            </a:r>
            <a:endParaRPr lang="en-US" sz="3800" dirty="0"/>
          </a:p>
          <a:p>
            <a:pPr marL="0" indent="0">
              <a:buNone/>
            </a:pPr>
            <a:r>
              <a:rPr lang="en-US" sz="3800" b="1" dirty="0">
                <a:solidFill>
                  <a:srgbClr val="2E1B5B"/>
                </a:solidFill>
                <a:latin typeface="Georgia" pitchFamily="34" charset="0"/>
                <a:ea typeface="Georgia" pitchFamily="34" charset="-122"/>
                <a:cs typeface="Georgia" pitchFamily="34" charset="-120"/>
              </a:rPr>
              <a:t>2026</a:t>
            </a:r>
            <a:endParaRPr lang="en-US" sz="3800" dirty="0"/>
          </a:p>
        </p:txBody>
      </p:sp>
      <p:sp>
        <p:nvSpPr>
          <p:cNvPr id="4" name="Text 2"/>
          <p:cNvSpPr txBox="1"/>
          <p:nvPr/>
        </p:nvSpPr>
        <p:spPr>
          <a:xfrm>
            <a:off x="457200" y="3017520"/>
            <a:ext cx="3291840" cy="274320"/>
          </a:xfrm>
          <a:prstGeom prst="rect">
            <a:avLst/>
          </a:prstGeom>
          <a:noFill/>
          <a:ln/>
        </p:spPr>
        <p:txBody>
          <a:bodyPr wrap="square" lIns="0" tIns="0" rIns="0" bIns="0" rtlCol="0" anchor="t"/>
          <a:lstStyle/>
          <a:p>
            <a:pPr marL="0" indent="0">
              <a:buNone/>
            </a:pPr>
            <a:r>
              <a:rPr lang="en-US" sz="1300" dirty="0">
                <a:solidFill>
                  <a:srgbClr val="4A4380"/>
                </a:solidFill>
                <a:latin typeface="Calibri" pitchFamily="34" charset="0"/>
                <a:ea typeface="Calibri" pitchFamily="34" charset="-122"/>
                <a:cs typeface="Calibri" pitchFamily="34" charset="-120"/>
              </a:rPr>
              <a:t>Hackathon · Team Details</a:t>
            </a:r>
            <a:endParaRPr lang="en-US" sz="1300" dirty="0"/>
          </a:p>
        </p:txBody>
      </p:sp>
      <p:pic>
        <p:nvPicPr>
          <p:cNvPr id="5" name="Bloch sphere ring" descr="sphere.png"/>
          <p:cNvPicPr>
            <a:picLocks noChangeAspect="1"/>
          </p:cNvPicPr>
          <p:nvPr/>
        </p:nvPicPr>
        <p:blipFill>
          <a:blip r:embed="rId3"/>
          <a:stretch>
            <a:fillRect/>
          </a:stretch>
        </p:blipFill>
        <p:spPr>
          <a:xfrm>
            <a:off x="457200" y="3291840"/>
            <a:ext cx="1371600" cy="1371600"/>
          </a:xfrm>
          <a:prstGeom prst="rect">
            <a:avLst/>
          </a:prstGeom>
        </p:spPr>
      </p:pic>
      <p:pic>
        <p:nvPicPr>
          <p:cNvPr id="6" name="Image 1" descr="bird1.png"/>
          <p:cNvPicPr>
            <a:picLocks noChangeAspect="1"/>
          </p:cNvPicPr>
          <p:nvPr/>
        </p:nvPicPr>
        <p:blipFill>
          <a:blip r:embed="rId4"/>
          <a:stretch>
            <a:fillRect/>
          </a:stretch>
        </p:blipFill>
        <p:spPr>
          <a:xfrm>
            <a:off x="2148840" y="3429000"/>
            <a:ext cx="731520" cy="438912"/>
          </a:xfrm>
          <a:prstGeom prst="rect">
            <a:avLst/>
          </a:prstGeom>
        </p:spPr>
      </p:pic>
      <p:pic>
        <p:nvPicPr>
          <p:cNvPr id="7" name="Image 2" descr="bird2.png"/>
          <p:cNvPicPr>
            <a:picLocks noChangeAspect="1"/>
          </p:cNvPicPr>
          <p:nvPr/>
        </p:nvPicPr>
        <p:blipFill>
          <a:blip r:embed="rId5"/>
          <a:stretch>
            <a:fillRect/>
          </a:stretch>
        </p:blipFill>
        <p:spPr>
          <a:xfrm>
            <a:off x="2880360" y="3977640"/>
            <a:ext cx="502920" cy="301752"/>
          </a:xfrm>
          <a:prstGeom prst="rect">
            <a:avLst/>
          </a:prstGeom>
        </p:spPr>
      </p:pic>
      <p:pic>
        <p:nvPicPr>
          <p:cNvPr id="8" name="Image 3" descr="bird3.png"/>
          <p:cNvPicPr>
            <a:picLocks noChangeAspect="1"/>
          </p:cNvPicPr>
          <p:nvPr/>
        </p:nvPicPr>
        <p:blipFill>
          <a:blip r:embed="rId6"/>
          <a:stretch>
            <a:fillRect/>
          </a:stretch>
        </p:blipFill>
        <p:spPr>
          <a:xfrm>
            <a:off x="2331720" y="4297680"/>
            <a:ext cx="384048" cy="228600"/>
          </a:xfrm>
          <a:prstGeom prst="rect">
            <a:avLst/>
          </a:prstGeom>
        </p:spPr>
      </p:pic>
      <p:sp>
        <p:nvSpPr>
          <p:cNvPr id="9" name="Text 3"/>
          <p:cNvSpPr txBox="1"/>
          <p:nvPr/>
        </p:nvSpPr>
        <p:spPr>
          <a:xfrm>
            <a:off x="4023360" y="841248"/>
            <a:ext cx="4663440" cy="320040"/>
          </a:xfrm>
          <a:prstGeom prst="rect">
            <a:avLst/>
          </a:prstGeom>
          <a:noFill/>
          <a:ln/>
        </p:spPr>
        <p:txBody>
          <a:bodyPr wrap="square" lIns="0" tIns="0" rIns="0" bIns="0" rtlCol="0" anchor="t"/>
          <a:lstStyle/>
          <a:p>
            <a:pPr marL="0" indent="0">
              <a:buNone/>
            </a:pPr>
            <a:r>
              <a:rPr lang="en-US" sz="1600" b="1" dirty="0">
                <a:solidFill>
                  <a:srgbClr val="2E1B5B"/>
                </a:solidFill>
                <a:latin typeface="Georgia" pitchFamily="34" charset="0"/>
                <a:ea typeface="Georgia" pitchFamily="34" charset="-122"/>
                <a:cs typeface="Georgia" pitchFamily="34" charset="-120"/>
              </a:rPr>
              <a:t>Participant Details</a:t>
            </a:r>
            <a:endParaRPr lang="en-US" sz="1600" dirty="0"/>
          </a:p>
        </p:txBody>
      </p:sp>
      <p:sp>
        <p:nvSpPr>
          <p:cNvPr id="10" name="Field: PROJECT TITLE"/>
          <p:cNvSpPr/>
          <p:nvPr/>
        </p:nvSpPr>
        <p:spPr>
          <a:xfrm>
            <a:off x="4023360" y="1261872"/>
            <a:ext cx="466344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PROJECT TITLE</a:t>
            </a:r>
            <a:endParaRPr lang="en-US" sz="900" dirty="0"/>
          </a:p>
        </p:txBody>
      </p:sp>
      <p:sp>
        <p:nvSpPr>
          <p:cNvPr id="11" name="Field: TRACK"/>
          <p:cNvSpPr/>
          <p:nvPr/>
        </p:nvSpPr>
        <p:spPr>
          <a:xfrm>
            <a:off x="4023360" y="18653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TRACK</a:t>
            </a:r>
            <a:endParaRPr lang="en-US" sz="900" dirty="0"/>
          </a:p>
        </p:txBody>
      </p:sp>
      <p:sp>
        <p:nvSpPr>
          <p:cNvPr id="12" name="Field: TEAM NAME"/>
          <p:cNvSpPr/>
          <p:nvPr/>
        </p:nvSpPr>
        <p:spPr>
          <a:xfrm>
            <a:off x="6400800" y="18653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NAME</a:t>
            </a:r>
            <a:endParaRPr lang="en-US" sz="900" dirty="0"/>
          </a:p>
        </p:txBody>
      </p:sp>
      <p:sp>
        <p:nvSpPr>
          <p:cNvPr id="13" name="Field: TEAM LEADER"/>
          <p:cNvSpPr/>
          <p:nvPr/>
        </p:nvSpPr>
        <p:spPr>
          <a:xfrm>
            <a:off x="4023360" y="246888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LEADER</a:t>
            </a:r>
            <a:endParaRPr lang="en-US" sz="900" dirty="0"/>
          </a:p>
        </p:txBody>
      </p:sp>
      <p:sp>
        <p:nvSpPr>
          <p:cNvPr id="14" name="Field: EMAIL / CONTACT"/>
          <p:cNvSpPr/>
          <p:nvPr/>
        </p:nvSpPr>
        <p:spPr>
          <a:xfrm>
            <a:off x="6400800" y="246888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EMAIL / CONTACT</a:t>
            </a:r>
            <a:endParaRPr lang="en-US" sz="900" dirty="0"/>
          </a:p>
        </p:txBody>
      </p:sp>
      <p:sp>
        <p:nvSpPr>
          <p:cNvPr id="15" name="Field: TEAM MEMBERS"/>
          <p:cNvSpPr/>
          <p:nvPr/>
        </p:nvSpPr>
        <p:spPr>
          <a:xfrm>
            <a:off x="4023360" y="3072384"/>
            <a:ext cx="4663440" cy="777240"/>
          </a:xfrm>
          <a:prstGeom prst="roundRect">
            <a:avLst>
              <a:gd name="adj" fmla="val 7059"/>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MEMBERS</a:t>
            </a:r>
            <a:endParaRPr lang="en-US" sz="900" dirty="0"/>
          </a:p>
        </p:txBody>
      </p:sp>
      <p:sp>
        <p:nvSpPr>
          <p:cNvPr id="16" name="Field: INSTITUTION / ORGANISATION"/>
          <p:cNvSpPr/>
          <p:nvPr/>
        </p:nvSpPr>
        <p:spPr>
          <a:xfrm>
            <a:off x="4023360" y="39227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INSTITUTION / ORGANISATION</a:t>
            </a:r>
            <a:endParaRPr lang="en-US" sz="900" dirty="0"/>
          </a:p>
        </p:txBody>
      </p:sp>
      <p:sp>
        <p:nvSpPr>
          <p:cNvPr id="17" name="Field: COUNTRY"/>
          <p:cNvSpPr/>
          <p:nvPr/>
        </p:nvSpPr>
        <p:spPr>
          <a:xfrm>
            <a:off x="6400800" y="39227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COUNTRY</a:t>
            </a:r>
            <a:endParaRPr lang="en-US" sz="900" dirty="0"/>
          </a:p>
        </p:txBody>
      </p:sp>
      <p:sp>
        <p:nvSpPr>
          <p:cNvPr id="18" name="Value: PROJECT TITLE"/>
          <p:cNvSpPr txBox="1"/>
          <p:nvPr/>
        </p:nvSpPr>
        <p:spPr>
          <a:xfrm>
            <a:off x="4114800" y="1522475"/>
            <a:ext cx="4480560" cy="256032"/>
          </a:xfrm>
          <a:prstGeom prst="rect">
            <a:avLst/>
          </a:prstGeom>
          <a:noFill/>
        </p:spPr>
        <p:txBody>
          <a:bodyPr wrap="square" lIns="0" rIns="0" tIns="0" bIns="0">
            <a:spAutoFit/>
          </a:bodyPr>
          <a:lstStyle/>
          <a:p>
            <a:r>
              <a:rPr sz="1200" i="0">
                <a:solidFill>
                  <a:srgbClr val="2E1B5B"/>
                </a:solidFill>
                <a:latin typeface="Calibri"/>
              </a:rPr>
              <a:t>GreenQ: quantum scheduling for less carbon and water</a:t>
            </a:r>
          </a:p>
        </p:txBody>
      </p:sp>
      <p:sp>
        <p:nvSpPr>
          <p:cNvPr id="19" name="Value: TRACK"/>
          <p:cNvSpPr txBox="1"/>
          <p:nvPr/>
        </p:nvSpPr>
        <p:spPr>
          <a:xfrm>
            <a:off x="4114800" y="2125979"/>
            <a:ext cx="2103120" cy="256032"/>
          </a:xfrm>
          <a:prstGeom prst="rect">
            <a:avLst/>
          </a:prstGeom>
          <a:noFill/>
        </p:spPr>
        <p:txBody>
          <a:bodyPr wrap="square" lIns="0" rIns="0" tIns="0" bIns="0">
            <a:spAutoFit/>
          </a:bodyPr>
          <a:lstStyle/>
          <a:p>
            <a:r>
              <a:rPr sz="1100" i="0">
                <a:solidFill>
                  <a:srgbClr val="2E1B5B"/>
                </a:solidFill>
                <a:latin typeface="Calibri"/>
              </a:rPr>
              <a:t>Track 6 · Climate &amp; Sustainability</a:t>
            </a:r>
          </a:p>
        </p:txBody>
      </p:sp>
      <p:sp>
        <p:nvSpPr>
          <p:cNvPr id="20" name="Value: TEAM NAME"/>
          <p:cNvSpPr txBox="1"/>
          <p:nvPr/>
        </p:nvSpPr>
        <p:spPr>
          <a:xfrm>
            <a:off x="6492240" y="2125979"/>
            <a:ext cx="2103120" cy="256032"/>
          </a:xfrm>
          <a:prstGeom prst="rect">
            <a:avLst/>
          </a:prstGeom>
          <a:noFill/>
        </p:spPr>
        <p:txBody>
          <a:bodyPr wrap="square" lIns="0" rIns="0" tIns="0" bIns="0">
            <a:spAutoFit/>
          </a:bodyPr>
          <a:lstStyle/>
          <a:p>
            <a:r>
              <a:rPr sz="1100" i="0">
                <a:solidFill>
                  <a:srgbClr val="2E1B5B"/>
                </a:solidFill>
                <a:latin typeface="Calibri"/>
              </a:rPr>
              <a:t>Response200 · VTU-QFF-HC-0137</a:t>
            </a:r>
          </a:p>
        </p:txBody>
      </p:sp>
      <p:sp>
        <p:nvSpPr>
          <p:cNvPr id="21" name="Value: TEAM LEADER"/>
          <p:cNvSpPr txBox="1"/>
          <p:nvPr/>
        </p:nvSpPr>
        <p:spPr>
          <a:xfrm>
            <a:off x="4114800" y="2729483"/>
            <a:ext cx="2103120" cy="256032"/>
          </a:xfrm>
          <a:prstGeom prst="rect">
            <a:avLst/>
          </a:prstGeom>
          <a:noFill/>
        </p:spPr>
        <p:txBody>
          <a:bodyPr wrap="square" lIns="0" rIns="0" tIns="0" bIns="0">
            <a:spAutoFit/>
          </a:bodyPr>
          <a:lstStyle/>
          <a:p>
            <a:r>
              <a:rPr sz="1200" i="0">
                <a:solidFill>
                  <a:srgbClr val="2E1B5B"/>
                </a:solidFill>
                <a:latin typeface="Calibri"/>
              </a:rPr>
              <a:t>Jagpreet Singh</a:t>
            </a:r>
          </a:p>
        </p:txBody>
      </p:sp>
      <p:sp>
        <p:nvSpPr>
          <p:cNvPr id="22" name="Value: EMAIL / CONTACT"/>
          <p:cNvSpPr txBox="1"/>
          <p:nvPr/>
        </p:nvSpPr>
        <p:spPr>
          <a:xfrm>
            <a:off x="6492240" y="2729483"/>
            <a:ext cx="2103120" cy="256032"/>
          </a:xfrm>
          <a:prstGeom prst="rect">
            <a:avLst/>
          </a:prstGeom>
          <a:noFill/>
        </p:spPr>
        <p:txBody>
          <a:bodyPr wrap="square" lIns="0" rIns="0" tIns="0" bIns="0">
            <a:spAutoFit/>
          </a:bodyPr>
          <a:lstStyle/>
          <a:p>
            <a:r>
              <a:rPr sz="1100" i="0">
                <a:solidFill>
                  <a:srgbClr val="2E1B5B"/>
                </a:solidFill>
                <a:latin typeface="Calibri"/>
              </a:rPr>
              <a:t>jagpreet.singh2060@gmail.com</a:t>
            </a:r>
          </a:p>
        </p:txBody>
      </p:sp>
      <p:sp>
        <p:nvSpPr>
          <p:cNvPr id="23" name="Value: TEAM MEMBERS"/>
          <p:cNvSpPr txBox="1"/>
          <p:nvPr/>
        </p:nvSpPr>
        <p:spPr>
          <a:xfrm>
            <a:off x="4114800" y="3332987"/>
            <a:ext cx="4480560" cy="502920"/>
          </a:xfrm>
          <a:prstGeom prst="rect">
            <a:avLst/>
          </a:prstGeom>
          <a:noFill/>
        </p:spPr>
        <p:txBody>
          <a:bodyPr wrap="square" lIns="0" rIns="0" tIns="0" bIns="0">
            <a:spAutoFit/>
          </a:bodyPr>
          <a:lstStyle/>
          <a:p>
            <a:r>
              <a:rPr sz="1200" i="0">
                <a:solidFill>
                  <a:srgbClr val="2E1B5B"/>
                </a:solidFill>
                <a:latin typeface="Calibri"/>
              </a:rPr>
              <a:t>Jagpreet Singh (Team Lead)  ·  Ramandeep Singh (Developer)</a:t>
            </a:r>
          </a:p>
        </p:txBody>
      </p:sp>
      <p:sp>
        <p:nvSpPr>
          <p:cNvPr id="24" name="Value: INSTITUTION / ORGANISATION"/>
          <p:cNvSpPr txBox="1"/>
          <p:nvPr/>
        </p:nvSpPr>
        <p:spPr>
          <a:xfrm>
            <a:off x="4114800" y="4183379"/>
            <a:ext cx="2103120" cy="256032"/>
          </a:xfrm>
          <a:prstGeom prst="rect">
            <a:avLst/>
          </a:prstGeom>
          <a:noFill/>
        </p:spPr>
        <p:txBody>
          <a:bodyPr wrap="square" lIns="0" rIns="0" tIns="0" bIns="0">
            <a:spAutoFit/>
          </a:bodyPr>
          <a:lstStyle/>
          <a:p>
            <a:r>
              <a:rPr sz="1000" i="0">
                <a:solidFill>
                  <a:srgbClr val="2E1B5B"/>
                </a:solidFill>
                <a:latin typeface="Calibri"/>
              </a:rPr>
              <a:t>SRM Institute of Science and Technology</a:t>
            </a:r>
          </a:p>
        </p:txBody>
      </p:sp>
      <p:sp>
        <p:nvSpPr>
          <p:cNvPr id="25" name="Value: COUNTRY"/>
          <p:cNvSpPr txBox="1"/>
          <p:nvPr/>
        </p:nvSpPr>
        <p:spPr>
          <a:xfrm>
            <a:off x="6492240" y="4183379"/>
            <a:ext cx="2103120" cy="256032"/>
          </a:xfrm>
          <a:prstGeom prst="rect">
            <a:avLst/>
          </a:prstGeom>
          <a:noFill/>
        </p:spPr>
        <p:txBody>
          <a:bodyPr wrap="square" lIns="0" rIns="0" tIns="0" bIns="0">
            <a:spAutoFit/>
          </a:bodyPr>
          <a:lstStyle/>
          <a:p>
            <a:r>
              <a:rPr sz="1200" i="0">
                <a:solidFill>
                  <a:srgbClr val="2E1B5B"/>
                </a:solidFill>
                <a:latin typeface="Calibri"/>
              </a:rPr>
              <a:t>India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Problem Statement</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
        <p:nvSpPr>
          <p:cNvPr id="26" name="TextBox 25"/>
          <p:cNvSpPr txBox="1"/>
          <p:nvPr/>
        </p:nvSpPr>
        <p:spPr>
          <a:xfrm>
            <a:off x="731520" y="1901952"/>
            <a:ext cx="3429000" cy="640080"/>
          </a:xfrm>
          <a:prstGeom prst="rect">
            <a:avLst/>
          </a:prstGeom>
          <a:noFill/>
        </p:spPr>
        <p:txBody>
          <a:bodyPr wrap="square" lIns="0" rIns="0" tIns="0" bIns="0" anchor="t">
            <a:spAutoFit/>
          </a:bodyPr>
          <a:lstStyle/>
          <a:p>
            <a:pPr algn="l"/>
            <a:r>
              <a:rPr sz="1500" b="1">
                <a:solidFill>
                  <a:srgbClr val="2E1B5B"/>
                </a:solidFill>
                <a:latin typeface="Calibri"/>
              </a:rPr>
              <a:t>Where and when a job runs changes its carbon and its water.</a:t>
            </a:r>
          </a:p>
        </p:txBody>
      </p:sp>
      <p:sp>
        <p:nvSpPr>
          <p:cNvPr id="27" name="TextBox 26"/>
          <p:cNvSpPr txBox="1"/>
          <p:nvPr/>
        </p:nvSpPr>
        <p:spPr>
          <a:xfrm>
            <a:off x="731520" y="2487168"/>
            <a:ext cx="3429000" cy="228600"/>
          </a:xfrm>
          <a:prstGeom prst="rect">
            <a:avLst/>
          </a:prstGeom>
          <a:noFill/>
        </p:spPr>
        <p:txBody>
          <a:bodyPr wrap="square" lIns="0" rIns="0" tIns="0" bIns="0" anchor="t">
            <a:spAutoFit/>
          </a:bodyPr>
          <a:lstStyle/>
          <a:p>
            <a:pPr algn="l"/>
            <a:r>
              <a:rPr sz="1050" b="0">
                <a:solidFill>
                  <a:srgbClr val="6F7399"/>
                </a:solidFill>
                <a:latin typeface="Calibri"/>
              </a:rPr>
              <a:t>Many jobs can move: ML training, analytics, video rendering.</a:t>
            </a:r>
          </a:p>
        </p:txBody>
      </p:sp>
      <p:sp>
        <p:nvSpPr>
          <p:cNvPr id="28" name="Stat tile"/>
          <p:cNvSpPr/>
          <p:nvPr/>
        </p:nvSpPr>
        <p:spPr>
          <a:xfrm>
            <a:off x="731520" y="2834640"/>
            <a:ext cx="1645920" cy="1188720"/>
          </a:xfrm>
          <a:prstGeom prst="roundRect">
            <a:avLst>
              <a:gd name="adj" fmla="val 8000"/>
            </a:avLst>
          </a:prstGeom>
          <a:solidFill>
            <a:srgbClr val="EE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Icon circle leaf"/>
          <p:cNvSpPr/>
          <p:nvPr/>
        </p:nvSpPr>
        <p:spPr>
          <a:xfrm>
            <a:off x="868680" y="2944368"/>
            <a:ext cx="329184" cy="329184"/>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eaf_w.png"/>
          <p:cNvPicPr>
            <a:picLocks noChangeAspect="1"/>
          </p:cNvPicPr>
          <p:nvPr/>
        </p:nvPicPr>
        <p:blipFill>
          <a:blip r:embed="rId3"/>
          <a:stretch>
            <a:fillRect/>
          </a:stretch>
        </p:blipFill>
        <p:spPr>
          <a:xfrm>
            <a:off x="947684" y="3023372"/>
            <a:ext cx="171175" cy="171175"/>
          </a:xfrm>
          <a:prstGeom prst="rect">
            <a:avLst/>
          </a:prstGeom>
        </p:spPr>
      </p:pic>
      <p:sp>
        <p:nvSpPr>
          <p:cNvPr id="31" name="TextBox 30"/>
          <p:cNvSpPr txBox="1"/>
          <p:nvPr/>
        </p:nvSpPr>
        <p:spPr>
          <a:xfrm>
            <a:off x="868680" y="3310128"/>
            <a:ext cx="1417320" cy="347472"/>
          </a:xfrm>
          <a:prstGeom prst="rect">
            <a:avLst/>
          </a:prstGeom>
          <a:noFill/>
        </p:spPr>
        <p:txBody>
          <a:bodyPr wrap="square" lIns="0" rIns="0" tIns="0" bIns="0" anchor="t">
            <a:spAutoFit/>
          </a:bodyPr>
          <a:lstStyle/>
          <a:p>
            <a:pPr algn="l"/>
            <a:r>
              <a:rPr sz="2000" b="1">
                <a:solidFill>
                  <a:srgbClr val="2E1B5B"/>
                </a:solidFill>
                <a:latin typeface="Georgia"/>
              </a:rPr>
              <a:t>0.710</a:t>
            </a:r>
          </a:p>
        </p:txBody>
      </p:sp>
      <p:sp>
        <p:nvSpPr>
          <p:cNvPr id="32" name="TextBox 31"/>
          <p:cNvSpPr txBox="1"/>
          <p:nvPr/>
        </p:nvSpPr>
        <p:spPr>
          <a:xfrm>
            <a:off x="868680" y="3639312"/>
            <a:ext cx="1417320" cy="329184"/>
          </a:xfrm>
          <a:prstGeom prst="rect">
            <a:avLst/>
          </a:prstGeom>
          <a:noFill/>
        </p:spPr>
        <p:txBody>
          <a:bodyPr wrap="square" lIns="0" rIns="0" tIns="0" bIns="0" anchor="t">
            <a:spAutoFit/>
          </a:bodyPr>
          <a:lstStyle/>
          <a:p>
            <a:pPr algn="l"/>
            <a:r>
              <a:rPr sz="1000" b="0">
                <a:solidFill>
                  <a:srgbClr val="6F7399"/>
                </a:solidFill>
                <a:latin typeface="Calibri"/>
              </a:rPr>
              <a:t>kg CO₂ per kWh on India's grid</a:t>
            </a:r>
          </a:p>
        </p:txBody>
      </p:sp>
      <p:sp>
        <p:nvSpPr>
          <p:cNvPr id="33" name="Stat tile"/>
          <p:cNvSpPr/>
          <p:nvPr/>
        </p:nvSpPr>
        <p:spPr>
          <a:xfrm>
            <a:off x="2514600" y="2834640"/>
            <a:ext cx="1645920" cy="1188720"/>
          </a:xfrm>
          <a:prstGeom prst="roundRect">
            <a:avLst>
              <a:gd name="adj" fmla="val 8000"/>
            </a:avLst>
          </a:prstGeom>
          <a:solidFill>
            <a:srgbClr val="EE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con circle drop"/>
          <p:cNvSpPr/>
          <p:nvPr/>
        </p:nvSpPr>
        <p:spPr>
          <a:xfrm>
            <a:off x="2651760" y="2944368"/>
            <a:ext cx="329184" cy="329184"/>
          </a:xfrm>
          <a:prstGeom prst="ellipse">
            <a:avLst/>
          </a:prstGeom>
          <a:solidFill>
            <a:srgbClr val="7C9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drop_w.png"/>
          <p:cNvPicPr>
            <a:picLocks noChangeAspect="1"/>
          </p:cNvPicPr>
          <p:nvPr/>
        </p:nvPicPr>
        <p:blipFill>
          <a:blip r:embed="rId4"/>
          <a:stretch>
            <a:fillRect/>
          </a:stretch>
        </p:blipFill>
        <p:spPr>
          <a:xfrm>
            <a:off x="2730764" y="3023372"/>
            <a:ext cx="171175" cy="171175"/>
          </a:xfrm>
          <a:prstGeom prst="rect">
            <a:avLst/>
          </a:prstGeom>
        </p:spPr>
      </p:pic>
      <p:sp>
        <p:nvSpPr>
          <p:cNvPr id="36" name="TextBox 35"/>
          <p:cNvSpPr txBox="1"/>
          <p:nvPr/>
        </p:nvSpPr>
        <p:spPr>
          <a:xfrm>
            <a:off x="2651760" y="3310128"/>
            <a:ext cx="1417320" cy="347472"/>
          </a:xfrm>
          <a:prstGeom prst="rect">
            <a:avLst/>
          </a:prstGeom>
          <a:noFill/>
        </p:spPr>
        <p:txBody>
          <a:bodyPr wrap="square" lIns="0" rIns="0" tIns="0" bIns="0" anchor="t">
            <a:spAutoFit/>
          </a:bodyPr>
          <a:lstStyle/>
          <a:p>
            <a:pPr algn="l"/>
            <a:r>
              <a:rPr sz="2000" b="1">
                <a:solidFill>
                  <a:srgbClr val="2E1B5B"/>
                </a:solidFill>
                <a:latin typeface="Georgia"/>
              </a:rPr>
              <a:t>2.6 L</a:t>
            </a:r>
          </a:p>
        </p:txBody>
      </p:sp>
      <p:sp>
        <p:nvSpPr>
          <p:cNvPr id="37" name="TextBox 36"/>
          <p:cNvSpPr txBox="1"/>
          <p:nvPr/>
        </p:nvSpPr>
        <p:spPr>
          <a:xfrm>
            <a:off x="2651760" y="3639312"/>
            <a:ext cx="1417320" cy="329184"/>
          </a:xfrm>
          <a:prstGeom prst="rect">
            <a:avLst/>
          </a:prstGeom>
          <a:noFill/>
        </p:spPr>
        <p:txBody>
          <a:bodyPr wrap="square" lIns="0" rIns="0" tIns="0" bIns="0" anchor="t">
            <a:spAutoFit/>
          </a:bodyPr>
          <a:lstStyle/>
          <a:p>
            <a:pPr algn="l"/>
            <a:r>
              <a:rPr sz="1000" b="0">
                <a:solidFill>
                  <a:srgbClr val="6F7399"/>
                </a:solidFill>
                <a:latin typeface="Calibri"/>
              </a:rPr>
              <a:t>water per kWh at coal plants</a:t>
            </a:r>
          </a:p>
        </p:txBody>
      </p:sp>
      <p:sp>
        <p:nvSpPr>
          <p:cNvPr id="38" name="TextBox 37"/>
          <p:cNvSpPr txBox="1"/>
          <p:nvPr/>
        </p:nvSpPr>
        <p:spPr>
          <a:xfrm>
            <a:off x="731520" y="4160520"/>
            <a:ext cx="3474720" cy="201168"/>
          </a:xfrm>
          <a:prstGeom prst="rect">
            <a:avLst/>
          </a:prstGeom>
          <a:noFill/>
        </p:spPr>
        <p:txBody>
          <a:bodyPr wrap="square" lIns="0" rIns="0" tIns="0" bIns="0" anchor="t">
            <a:spAutoFit/>
          </a:bodyPr>
          <a:lstStyle/>
          <a:p>
            <a:pPr algn="l"/>
            <a:r>
              <a:rPr sz="900" b="0">
                <a:solidFill>
                  <a:srgbClr val="6F7399"/>
                </a:solidFill>
                <a:latin typeface="Calibri"/>
              </a:rPr>
              <a:t>Sources: CEA CO₂ Baseline Database FY 2024-25 · Macknick et al. 2012 (NREL)</a:t>
            </a:r>
          </a:p>
        </p:txBody>
      </p:sp>
      <p:sp>
        <p:nvSpPr>
          <p:cNvPr id="39" name="TextBox 38"/>
          <p:cNvSpPr txBox="1"/>
          <p:nvPr/>
        </p:nvSpPr>
        <p:spPr>
          <a:xfrm>
            <a:off x="4526280" y="1901952"/>
            <a:ext cx="2743200" cy="201168"/>
          </a:xfrm>
          <a:prstGeom prst="rect">
            <a:avLst/>
          </a:prstGeom>
          <a:noFill/>
        </p:spPr>
        <p:txBody>
          <a:bodyPr wrap="square" lIns="0" rIns="0" tIns="0" bIns="0" anchor="t">
            <a:spAutoFit/>
          </a:bodyPr>
          <a:lstStyle/>
          <a:p>
            <a:pPr algn="l"/>
            <a:r>
              <a:rPr sz="900" b="1" spc="100">
                <a:solidFill>
                  <a:srgbClr val="5B3BA8"/>
                </a:solidFill>
                <a:latin typeface="Calibri"/>
              </a:rPr>
              <a:t>THE CONFLICT</a:t>
            </a:r>
          </a:p>
        </p:txBody>
      </p:sp>
      <p:sp>
        <p:nvSpPr>
          <p:cNvPr id="40" name="Site A card"/>
          <p:cNvSpPr/>
          <p:nvPr/>
        </p:nvSpPr>
        <p:spPr>
          <a:xfrm>
            <a:off x="4526280" y="2176272"/>
            <a:ext cx="1920240" cy="1481328"/>
          </a:xfrm>
          <a:prstGeom prst="roundRect">
            <a:avLst>
              <a:gd name="adj" fmla="val 8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Icon circle drop"/>
          <p:cNvSpPr/>
          <p:nvPr/>
        </p:nvSpPr>
        <p:spPr>
          <a:xfrm>
            <a:off x="4663440" y="2304288"/>
            <a:ext cx="365760" cy="365760"/>
          </a:xfrm>
          <a:prstGeom prst="ellipse">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drop_w.png"/>
          <p:cNvPicPr>
            <a:picLocks noChangeAspect="1"/>
          </p:cNvPicPr>
          <p:nvPr/>
        </p:nvPicPr>
        <p:blipFill>
          <a:blip r:embed="rId4"/>
          <a:stretch>
            <a:fillRect/>
          </a:stretch>
        </p:blipFill>
        <p:spPr>
          <a:xfrm>
            <a:off x="4751222" y="2392070"/>
            <a:ext cx="190195" cy="190195"/>
          </a:xfrm>
          <a:prstGeom prst="rect">
            <a:avLst/>
          </a:prstGeom>
        </p:spPr>
      </p:pic>
      <p:sp>
        <p:nvSpPr>
          <p:cNvPr id="43" name="TextBox 42"/>
          <p:cNvSpPr txBox="1"/>
          <p:nvPr/>
        </p:nvSpPr>
        <p:spPr>
          <a:xfrm>
            <a:off x="5120640" y="2286000"/>
            <a:ext cx="1280160" cy="411480"/>
          </a:xfrm>
          <a:prstGeom prst="rect">
            <a:avLst/>
          </a:prstGeom>
          <a:noFill/>
        </p:spPr>
        <p:txBody>
          <a:bodyPr wrap="square" lIns="0" rIns="0" tIns="0" bIns="0" anchor="t">
            <a:spAutoFit/>
          </a:bodyPr>
          <a:lstStyle/>
          <a:p>
            <a:pPr algn="l"/>
            <a:r>
              <a:rPr sz="1300" b="1">
                <a:solidFill>
                  <a:srgbClr val="2E1B5B"/>
                </a:solidFill>
                <a:latin typeface="Calibri"/>
              </a:rPr>
              <a:t>Site A</a:t>
            </a:r>
          </a:p>
          <a:p>
            <a:pPr algn="l"/>
            <a:r>
              <a:rPr sz="1000" b="0">
                <a:solidFill>
                  <a:srgbClr val="6F7399"/>
                </a:solidFill>
                <a:latin typeface="Calibri"/>
              </a:rPr>
              <a:t>Evaporative cooling</a:t>
            </a:r>
          </a:p>
        </p:txBody>
      </p:sp>
      <p:sp>
        <p:nvSpPr>
          <p:cNvPr id="44" name="TextBox 43"/>
          <p:cNvSpPr txBox="1"/>
          <p:nvPr/>
        </p:nvSpPr>
        <p:spPr>
          <a:xfrm>
            <a:off x="4681728" y="2907792"/>
            <a:ext cx="822960" cy="237744"/>
          </a:xfrm>
          <a:prstGeom prst="rect">
            <a:avLst/>
          </a:prstGeom>
          <a:noFill/>
        </p:spPr>
        <p:txBody>
          <a:bodyPr wrap="square" lIns="0" rIns="0" tIns="0" bIns="0" anchor="t">
            <a:spAutoFit/>
          </a:bodyPr>
          <a:lstStyle/>
          <a:p>
            <a:pPr algn="l"/>
            <a:r>
              <a:rPr sz="1100" b="0">
                <a:solidFill>
                  <a:srgbClr val="2E1B5B"/>
                </a:solidFill>
                <a:latin typeface="Calibri"/>
              </a:rPr>
              <a:t>Electricity</a:t>
            </a:r>
          </a:p>
        </p:txBody>
      </p:sp>
      <p:sp>
        <p:nvSpPr>
          <p:cNvPr id="45" name="TextBox 44"/>
          <p:cNvSpPr txBox="1"/>
          <p:nvPr/>
        </p:nvSpPr>
        <p:spPr>
          <a:xfrm>
            <a:off x="5394960" y="2907792"/>
            <a:ext cx="960120" cy="237744"/>
          </a:xfrm>
          <a:prstGeom prst="rect">
            <a:avLst/>
          </a:prstGeom>
          <a:noFill/>
        </p:spPr>
        <p:txBody>
          <a:bodyPr wrap="square" lIns="0" rIns="0" tIns="0" bIns="0" anchor="t">
            <a:spAutoFit/>
          </a:bodyPr>
          <a:lstStyle/>
          <a:p>
            <a:pPr algn="r"/>
            <a:r>
              <a:rPr sz="1100" b="1">
                <a:solidFill>
                  <a:srgbClr val="5B3BA8"/>
                </a:solidFill>
                <a:latin typeface="Calibri"/>
              </a:rPr>
              <a:t>▼ less</a:t>
            </a:r>
          </a:p>
        </p:txBody>
      </p:sp>
      <p:sp>
        <p:nvSpPr>
          <p:cNvPr id="46" name="TextBox 45"/>
          <p:cNvSpPr txBox="1"/>
          <p:nvPr/>
        </p:nvSpPr>
        <p:spPr>
          <a:xfrm>
            <a:off x="4681728" y="3236976"/>
            <a:ext cx="822960" cy="237744"/>
          </a:xfrm>
          <a:prstGeom prst="rect">
            <a:avLst/>
          </a:prstGeom>
          <a:noFill/>
        </p:spPr>
        <p:txBody>
          <a:bodyPr wrap="square" lIns="0" rIns="0" tIns="0" bIns="0" anchor="t">
            <a:spAutoFit/>
          </a:bodyPr>
          <a:lstStyle/>
          <a:p>
            <a:pPr algn="l"/>
            <a:r>
              <a:rPr sz="1100" b="0">
                <a:solidFill>
                  <a:srgbClr val="2E1B5B"/>
                </a:solidFill>
                <a:latin typeface="Calibri"/>
              </a:rPr>
              <a:t>Water</a:t>
            </a:r>
          </a:p>
        </p:txBody>
      </p:sp>
      <p:sp>
        <p:nvSpPr>
          <p:cNvPr id="47" name="TextBox 46"/>
          <p:cNvSpPr txBox="1"/>
          <p:nvPr/>
        </p:nvSpPr>
        <p:spPr>
          <a:xfrm>
            <a:off x="5394960" y="3236976"/>
            <a:ext cx="960120" cy="237744"/>
          </a:xfrm>
          <a:prstGeom prst="rect">
            <a:avLst/>
          </a:prstGeom>
          <a:noFill/>
        </p:spPr>
        <p:txBody>
          <a:bodyPr wrap="square" lIns="0" rIns="0" tIns="0" bIns="0" anchor="t">
            <a:spAutoFit/>
          </a:bodyPr>
          <a:lstStyle/>
          <a:p>
            <a:pPr algn="r"/>
            <a:r>
              <a:rPr sz="1100" b="1">
                <a:solidFill>
                  <a:srgbClr val="E8639F"/>
                </a:solidFill>
                <a:latin typeface="Calibri"/>
              </a:rPr>
              <a:t>▲ more</a:t>
            </a:r>
          </a:p>
        </p:txBody>
      </p:sp>
      <p:sp>
        <p:nvSpPr>
          <p:cNvPr id="48" name="Site B card"/>
          <p:cNvSpPr/>
          <p:nvPr/>
        </p:nvSpPr>
        <p:spPr>
          <a:xfrm>
            <a:off x="6583680" y="2176272"/>
            <a:ext cx="1920240" cy="1481328"/>
          </a:xfrm>
          <a:prstGeom prst="roundRect">
            <a:avLst>
              <a:gd name="adj" fmla="val 8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Icon circle server"/>
          <p:cNvSpPr/>
          <p:nvPr/>
        </p:nvSpPr>
        <p:spPr>
          <a:xfrm>
            <a:off x="6720840" y="2304288"/>
            <a:ext cx="365760" cy="365760"/>
          </a:xfrm>
          <a:prstGeom prst="ellipse">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server_w.png"/>
          <p:cNvPicPr>
            <a:picLocks noChangeAspect="1"/>
          </p:cNvPicPr>
          <p:nvPr/>
        </p:nvPicPr>
        <p:blipFill>
          <a:blip r:embed="rId5"/>
          <a:stretch>
            <a:fillRect/>
          </a:stretch>
        </p:blipFill>
        <p:spPr>
          <a:xfrm>
            <a:off x="6808622" y="2392070"/>
            <a:ext cx="190195" cy="190195"/>
          </a:xfrm>
          <a:prstGeom prst="rect">
            <a:avLst/>
          </a:prstGeom>
        </p:spPr>
      </p:pic>
      <p:sp>
        <p:nvSpPr>
          <p:cNvPr id="51" name="TextBox 50"/>
          <p:cNvSpPr txBox="1"/>
          <p:nvPr/>
        </p:nvSpPr>
        <p:spPr>
          <a:xfrm>
            <a:off x="7178040" y="2286000"/>
            <a:ext cx="1280160" cy="411480"/>
          </a:xfrm>
          <a:prstGeom prst="rect">
            <a:avLst/>
          </a:prstGeom>
          <a:noFill/>
        </p:spPr>
        <p:txBody>
          <a:bodyPr wrap="square" lIns="0" rIns="0" tIns="0" bIns="0" anchor="t">
            <a:spAutoFit/>
          </a:bodyPr>
          <a:lstStyle/>
          <a:p>
            <a:pPr algn="l"/>
            <a:r>
              <a:rPr sz="1300" b="1">
                <a:solidFill>
                  <a:srgbClr val="2E1B5B"/>
                </a:solidFill>
                <a:latin typeface="Calibri"/>
              </a:rPr>
              <a:t>Site B</a:t>
            </a:r>
          </a:p>
          <a:p>
            <a:pPr algn="l"/>
            <a:r>
              <a:rPr sz="1000" b="0">
                <a:solidFill>
                  <a:srgbClr val="6F7399"/>
                </a:solidFill>
                <a:latin typeface="Calibri"/>
              </a:rPr>
              <a:t>Air-cooled chillers</a:t>
            </a:r>
          </a:p>
        </p:txBody>
      </p:sp>
      <p:sp>
        <p:nvSpPr>
          <p:cNvPr id="52" name="TextBox 51"/>
          <p:cNvSpPr txBox="1"/>
          <p:nvPr/>
        </p:nvSpPr>
        <p:spPr>
          <a:xfrm>
            <a:off x="6739128" y="2907792"/>
            <a:ext cx="822960" cy="237744"/>
          </a:xfrm>
          <a:prstGeom prst="rect">
            <a:avLst/>
          </a:prstGeom>
          <a:noFill/>
        </p:spPr>
        <p:txBody>
          <a:bodyPr wrap="square" lIns="0" rIns="0" tIns="0" bIns="0" anchor="t">
            <a:spAutoFit/>
          </a:bodyPr>
          <a:lstStyle/>
          <a:p>
            <a:pPr algn="l"/>
            <a:r>
              <a:rPr sz="1100" b="0">
                <a:solidFill>
                  <a:srgbClr val="2E1B5B"/>
                </a:solidFill>
                <a:latin typeface="Calibri"/>
              </a:rPr>
              <a:t>Electricity</a:t>
            </a:r>
          </a:p>
        </p:txBody>
      </p:sp>
      <p:sp>
        <p:nvSpPr>
          <p:cNvPr id="53" name="TextBox 52"/>
          <p:cNvSpPr txBox="1"/>
          <p:nvPr/>
        </p:nvSpPr>
        <p:spPr>
          <a:xfrm>
            <a:off x="7452360" y="2907792"/>
            <a:ext cx="960120" cy="237744"/>
          </a:xfrm>
          <a:prstGeom prst="rect">
            <a:avLst/>
          </a:prstGeom>
          <a:noFill/>
        </p:spPr>
        <p:txBody>
          <a:bodyPr wrap="square" lIns="0" rIns="0" tIns="0" bIns="0" anchor="t">
            <a:spAutoFit/>
          </a:bodyPr>
          <a:lstStyle/>
          <a:p>
            <a:pPr algn="r"/>
            <a:r>
              <a:rPr sz="1100" b="1">
                <a:solidFill>
                  <a:srgbClr val="E8639F"/>
                </a:solidFill>
                <a:latin typeface="Calibri"/>
              </a:rPr>
              <a:t>▲ more</a:t>
            </a:r>
          </a:p>
        </p:txBody>
      </p:sp>
      <p:sp>
        <p:nvSpPr>
          <p:cNvPr id="54" name="TextBox 53"/>
          <p:cNvSpPr txBox="1"/>
          <p:nvPr/>
        </p:nvSpPr>
        <p:spPr>
          <a:xfrm>
            <a:off x="6739128" y="3236976"/>
            <a:ext cx="822960" cy="237744"/>
          </a:xfrm>
          <a:prstGeom prst="rect">
            <a:avLst/>
          </a:prstGeom>
          <a:noFill/>
        </p:spPr>
        <p:txBody>
          <a:bodyPr wrap="square" lIns="0" rIns="0" tIns="0" bIns="0" anchor="t">
            <a:spAutoFit/>
          </a:bodyPr>
          <a:lstStyle/>
          <a:p>
            <a:pPr algn="l"/>
            <a:r>
              <a:rPr sz="1100" b="0">
                <a:solidFill>
                  <a:srgbClr val="2E1B5B"/>
                </a:solidFill>
                <a:latin typeface="Calibri"/>
              </a:rPr>
              <a:t>Water</a:t>
            </a:r>
          </a:p>
        </p:txBody>
      </p:sp>
      <p:sp>
        <p:nvSpPr>
          <p:cNvPr id="55" name="TextBox 54"/>
          <p:cNvSpPr txBox="1"/>
          <p:nvPr/>
        </p:nvSpPr>
        <p:spPr>
          <a:xfrm>
            <a:off x="7452360" y="3236976"/>
            <a:ext cx="960120" cy="237744"/>
          </a:xfrm>
          <a:prstGeom prst="rect">
            <a:avLst/>
          </a:prstGeom>
          <a:noFill/>
        </p:spPr>
        <p:txBody>
          <a:bodyPr wrap="square" lIns="0" rIns="0" tIns="0" bIns="0" anchor="t">
            <a:spAutoFit/>
          </a:bodyPr>
          <a:lstStyle/>
          <a:p>
            <a:pPr algn="r"/>
            <a:r>
              <a:rPr sz="1100" b="1">
                <a:solidFill>
                  <a:srgbClr val="5B3BA8"/>
                </a:solidFill>
                <a:latin typeface="Calibri"/>
              </a:rPr>
              <a:t>▼ almost none</a:t>
            </a:r>
          </a:p>
        </p:txBody>
      </p:sp>
      <p:sp>
        <p:nvSpPr>
          <p:cNvPr id="56" name="Choice pill"/>
          <p:cNvSpPr/>
          <p:nvPr/>
        </p:nvSpPr>
        <p:spPr>
          <a:xfrm>
            <a:off x="4526280" y="3840480"/>
            <a:ext cx="3977639" cy="475488"/>
          </a:xfrm>
          <a:prstGeom prst="roundRect">
            <a:avLst>
              <a:gd name="adj" fmla="val 50000"/>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4617720" y="3840480"/>
            <a:ext cx="3794760" cy="475488"/>
          </a:xfrm>
          <a:prstGeom prst="rect">
            <a:avLst/>
          </a:prstGeom>
          <a:noFill/>
        </p:spPr>
        <p:txBody>
          <a:bodyPr wrap="square" lIns="0" rIns="0" tIns="0" bIns="0" anchor="ctr">
            <a:spAutoFit/>
          </a:bodyPr>
          <a:lstStyle/>
          <a:p>
            <a:pPr algn="ctr"/>
            <a:r>
              <a:rPr sz="1200" b="1">
                <a:solidFill>
                  <a:srgbClr val="FFFFFF"/>
                </a:solidFill>
                <a:latin typeface="Calibri"/>
              </a:rPr>
              <a:t>4 jobs × 2 sites × 2 time slots = 256 possible plans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Objectives &amp; Novelty</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3</a:t>
            </a:fld>
            <a:endParaRPr lang="en-US"/>
          </a:p>
        </p:txBody>
      </p:sp>
      <p:sp>
        <p:nvSpPr>
          <p:cNvPr id="26" name="TextBox 25"/>
          <p:cNvSpPr txBox="1"/>
          <p:nvPr/>
        </p:nvSpPr>
        <p:spPr>
          <a:xfrm>
            <a:off x="731520" y="1901952"/>
            <a:ext cx="2743200" cy="201168"/>
          </a:xfrm>
          <a:prstGeom prst="rect">
            <a:avLst/>
          </a:prstGeom>
          <a:noFill/>
        </p:spPr>
        <p:txBody>
          <a:bodyPr wrap="square" lIns="0" rIns="0" tIns="0" bIns="0" anchor="t">
            <a:spAutoFit/>
          </a:bodyPr>
          <a:lstStyle/>
          <a:p>
            <a:pPr algn="l"/>
            <a:r>
              <a:rPr sz="900" b="1" spc="100">
                <a:solidFill>
                  <a:srgbClr val="5B3BA8"/>
                </a:solidFill>
                <a:latin typeface="Calibri"/>
              </a:rPr>
              <a:t>OBJECTIVES</a:t>
            </a:r>
          </a:p>
        </p:txBody>
      </p:sp>
      <p:sp>
        <p:nvSpPr>
          <p:cNvPr id="27" name="Icon circle sliders"/>
          <p:cNvSpPr/>
          <p:nvPr/>
        </p:nvSpPr>
        <p:spPr>
          <a:xfrm>
            <a:off x="731520" y="2212848"/>
            <a:ext cx="438912" cy="438912"/>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sliders_w.png"/>
          <p:cNvPicPr>
            <a:picLocks noChangeAspect="1"/>
          </p:cNvPicPr>
          <p:nvPr/>
        </p:nvPicPr>
        <p:blipFill>
          <a:blip r:embed="rId3"/>
          <a:stretch>
            <a:fillRect/>
          </a:stretch>
        </p:blipFill>
        <p:spPr>
          <a:xfrm>
            <a:off x="836858" y="2318186"/>
            <a:ext cx="228234" cy="228234"/>
          </a:xfrm>
          <a:prstGeom prst="rect">
            <a:avLst/>
          </a:prstGeom>
        </p:spPr>
      </p:pic>
      <p:sp>
        <p:nvSpPr>
          <p:cNvPr id="29" name="TextBox 28"/>
          <p:cNvSpPr txBox="1"/>
          <p:nvPr/>
        </p:nvSpPr>
        <p:spPr>
          <a:xfrm>
            <a:off x="1298448" y="2203704"/>
            <a:ext cx="2926080" cy="256032"/>
          </a:xfrm>
          <a:prstGeom prst="rect">
            <a:avLst/>
          </a:prstGeom>
          <a:noFill/>
        </p:spPr>
        <p:txBody>
          <a:bodyPr wrap="square" lIns="0" rIns="0" tIns="0" bIns="0" anchor="t">
            <a:spAutoFit/>
          </a:bodyPr>
          <a:lstStyle/>
          <a:p>
            <a:pPr algn="l"/>
            <a:r>
              <a:rPr sz="1300" b="1">
                <a:solidFill>
                  <a:srgbClr val="2E1B5B"/>
                </a:solidFill>
                <a:latin typeface="Calibri"/>
              </a:rPr>
              <a:t>Cut carbon and water together</a:t>
            </a:r>
          </a:p>
        </p:txBody>
      </p:sp>
      <p:sp>
        <p:nvSpPr>
          <p:cNvPr id="30" name="TextBox 29"/>
          <p:cNvSpPr txBox="1"/>
          <p:nvPr/>
        </p:nvSpPr>
        <p:spPr>
          <a:xfrm>
            <a:off x="1298448" y="2459736"/>
            <a:ext cx="2926080" cy="228600"/>
          </a:xfrm>
          <a:prstGeom prst="rect">
            <a:avLst/>
          </a:prstGeom>
          <a:noFill/>
        </p:spPr>
        <p:txBody>
          <a:bodyPr wrap="square" lIns="0" rIns="0" tIns="0" bIns="0" anchor="t">
            <a:spAutoFit/>
          </a:bodyPr>
          <a:lstStyle/>
          <a:p>
            <a:pPr algn="l"/>
            <a:r>
              <a:rPr sz="1050" b="0">
                <a:solidFill>
                  <a:srgbClr val="6F7399"/>
                </a:solidFill>
                <a:latin typeface="Calibri"/>
              </a:rPr>
              <a:t>One slider sets which matters more</a:t>
            </a:r>
          </a:p>
        </p:txBody>
      </p:sp>
      <p:sp>
        <p:nvSpPr>
          <p:cNvPr id="31" name="Icon circle atom"/>
          <p:cNvSpPr/>
          <p:nvPr/>
        </p:nvSpPr>
        <p:spPr>
          <a:xfrm>
            <a:off x="731520" y="2962656"/>
            <a:ext cx="438912" cy="438912"/>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atom_w.png"/>
          <p:cNvPicPr>
            <a:picLocks noChangeAspect="1"/>
          </p:cNvPicPr>
          <p:nvPr/>
        </p:nvPicPr>
        <p:blipFill>
          <a:blip r:embed="rId4"/>
          <a:stretch>
            <a:fillRect/>
          </a:stretch>
        </p:blipFill>
        <p:spPr>
          <a:xfrm>
            <a:off x="836858" y="3067994"/>
            <a:ext cx="228234" cy="228234"/>
          </a:xfrm>
          <a:prstGeom prst="rect">
            <a:avLst/>
          </a:prstGeom>
        </p:spPr>
      </p:pic>
      <p:sp>
        <p:nvSpPr>
          <p:cNvPr id="33" name="TextBox 32"/>
          <p:cNvSpPr txBox="1"/>
          <p:nvPr/>
        </p:nvSpPr>
        <p:spPr>
          <a:xfrm>
            <a:off x="1298448" y="2953512"/>
            <a:ext cx="2926080" cy="256032"/>
          </a:xfrm>
          <a:prstGeom prst="rect">
            <a:avLst/>
          </a:prstGeom>
          <a:noFill/>
        </p:spPr>
        <p:txBody>
          <a:bodyPr wrap="square" lIns="0" rIns="0" tIns="0" bIns="0" anchor="t">
            <a:spAutoFit/>
          </a:bodyPr>
          <a:lstStyle/>
          <a:p>
            <a:pPr algn="l"/>
            <a:r>
              <a:rPr sz="1300" b="1">
                <a:solidFill>
                  <a:srgbClr val="2E1B5B"/>
                </a:solidFill>
                <a:latin typeface="Calibri"/>
              </a:rPr>
              <a:t>Decide where + when with QAOA</a:t>
            </a:r>
          </a:p>
        </p:txBody>
      </p:sp>
      <p:sp>
        <p:nvSpPr>
          <p:cNvPr id="34" name="TextBox 33"/>
          <p:cNvSpPr txBox="1"/>
          <p:nvPr/>
        </p:nvSpPr>
        <p:spPr>
          <a:xfrm>
            <a:off x="1298448" y="3209544"/>
            <a:ext cx="2926080" cy="228600"/>
          </a:xfrm>
          <a:prstGeom prst="rect">
            <a:avLst/>
          </a:prstGeom>
          <a:noFill/>
        </p:spPr>
        <p:txBody>
          <a:bodyPr wrap="square" lIns="0" rIns="0" tIns="0" bIns="0" anchor="t">
            <a:spAutoFit/>
          </a:bodyPr>
          <a:lstStyle/>
          <a:p>
            <a:pPr algn="l"/>
            <a:r>
              <a:rPr sz="1050" b="0">
                <a:solidFill>
                  <a:srgbClr val="6F7399"/>
                </a:solidFill>
                <a:latin typeface="Calibri"/>
              </a:rPr>
              <a:t>Built in Qiskit, run on real IBM hardware</a:t>
            </a:r>
          </a:p>
        </p:txBody>
      </p:sp>
      <p:sp>
        <p:nvSpPr>
          <p:cNvPr id="35" name="Icon circle shield"/>
          <p:cNvSpPr/>
          <p:nvPr/>
        </p:nvSpPr>
        <p:spPr>
          <a:xfrm>
            <a:off x="731520" y="3712463"/>
            <a:ext cx="438912" cy="438912"/>
          </a:xfrm>
          <a:prstGeom prst="ellipse">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shield_w.png"/>
          <p:cNvPicPr>
            <a:picLocks noChangeAspect="1"/>
          </p:cNvPicPr>
          <p:nvPr/>
        </p:nvPicPr>
        <p:blipFill>
          <a:blip r:embed="rId5"/>
          <a:stretch>
            <a:fillRect/>
          </a:stretch>
        </p:blipFill>
        <p:spPr>
          <a:xfrm>
            <a:off x="836858" y="3817802"/>
            <a:ext cx="228234" cy="228234"/>
          </a:xfrm>
          <a:prstGeom prst="rect">
            <a:avLst/>
          </a:prstGeom>
        </p:spPr>
      </p:pic>
      <p:sp>
        <p:nvSpPr>
          <p:cNvPr id="37" name="TextBox 36"/>
          <p:cNvSpPr txBox="1"/>
          <p:nvPr/>
        </p:nvSpPr>
        <p:spPr>
          <a:xfrm>
            <a:off x="1298448" y="3703320"/>
            <a:ext cx="2926080" cy="256032"/>
          </a:xfrm>
          <a:prstGeom prst="rect">
            <a:avLst/>
          </a:prstGeom>
          <a:noFill/>
        </p:spPr>
        <p:txBody>
          <a:bodyPr wrap="square" lIns="0" rIns="0" tIns="0" bIns="0" anchor="t">
            <a:spAutoFit/>
          </a:bodyPr>
          <a:lstStyle/>
          <a:p>
            <a:pPr algn="l"/>
            <a:r>
              <a:rPr sz="1300" b="1">
                <a:solidFill>
                  <a:srgbClr val="2E1B5B"/>
                </a:solidFill>
                <a:latin typeface="Calibri"/>
              </a:rPr>
              <a:t>Prove every answer</a:t>
            </a:r>
          </a:p>
        </p:txBody>
      </p:sp>
      <p:sp>
        <p:nvSpPr>
          <p:cNvPr id="38" name="TextBox 37"/>
          <p:cNvSpPr txBox="1"/>
          <p:nvPr/>
        </p:nvSpPr>
        <p:spPr>
          <a:xfrm>
            <a:off x="1298448" y="3959352"/>
            <a:ext cx="2926080" cy="228600"/>
          </a:xfrm>
          <a:prstGeom prst="rect">
            <a:avLst/>
          </a:prstGeom>
          <a:noFill/>
        </p:spPr>
        <p:txBody>
          <a:bodyPr wrap="square" lIns="0" rIns="0" tIns="0" bIns="0" anchor="t">
            <a:spAutoFit/>
          </a:bodyPr>
          <a:lstStyle/>
          <a:p>
            <a:pPr algn="l"/>
            <a:r>
              <a:rPr sz="1050" b="0">
                <a:solidFill>
                  <a:srgbClr val="6F7399"/>
                </a:solidFill>
                <a:latin typeface="Calibri"/>
              </a:rPr>
              <a:t>Graded against the true best of all 256 plans</a:t>
            </a:r>
          </a:p>
        </p:txBody>
      </p:sp>
      <p:sp>
        <p:nvSpPr>
          <p:cNvPr id="39" name="TextBox 38"/>
          <p:cNvSpPr txBox="1"/>
          <p:nvPr/>
        </p:nvSpPr>
        <p:spPr>
          <a:xfrm>
            <a:off x="4526280" y="1901952"/>
            <a:ext cx="3931920" cy="201168"/>
          </a:xfrm>
          <a:prstGeom prst="rect">
            <a:avLst/>
          </a:prstGeom>
          <a:noFill/>
        </p:spPr>
        <p:txBody>
          <a:bodyPr wrap="square" lIns="0" rIns="0" tIns="0" bIns="0" anchor="t">
            <a:spAutoFit/>
          </a:bodyPr>
          <a:lstStyle/>
          <a:p>
            <a:pPr algn="l"/>
            <a:r>
              <a:rPr sz="900" b="1" spc="100">
                <a:solidFill>
                  <a:srgbClr val="5B3BA8"/>
                </a:solidFill>
                <a:latin typeface="Calibri"/>
              </a:rPr>
              <a:t>NOVELTY: A SMARTER ENCODING</a:t>
            </a:r>
          </a:p>
        </p:txBody>
      </p:sp>
      <p:graphicFrame>
        <p:nvGraphicFramePr>
          <p:cNvPr id="40" name="Table 39"/>
          <p:cNvGraphicFramePr>
            <a:graphicFrameLocks noGrp="1"/>
          </p:cNvGraphicFramePr>
          <p:nvPr/>
        </p:nvGraphicFramePr>
        <p:xfrm>
          <a:off x="4526280" y="2194560"/>
          <a:ext cx="3931920" cy="1645920"/>
        </p:xfrm>
        <a:graphic>
          <a:graphicData uri="http://schemas.openxmlformats.org/drawingml/2006/table">
            <a:tbl>
              <a:tblPr>
                <a:tableStyleId>{5C22544A-7EE6-4342-B048-85BDC9FD1C3A}</a:tableStyleId>
              </a:tblPr>
              <a:tblGrid>
                <a:gridCol w="1325880"/>
                <a:gridCol w="1325880"/>
                <a:gridCol w="1280160"/>
              </a:tblGrid>
              <a:tr h="329184">
                <a:tc>
                  <a:txBody>
                    <a:bodyPr/>
                    <a:lstStyle/>
                    <a:p>
                      <a:pPr algn="l"/>
                      <a:r>
                        <a:rPr sz="1100" b="1">
                          <a:solidFill>
                            <a:srgbClr val="FFFFFF"/>
                          </a:solidFill>
                          <a:latin typeface="Calibri"/>
                        </a:rPr>
                        <a:t/>
                      </a:r>
                    </a:p>
                  </a:txBody>
                  <a:tcPr marL="91440" marR="91440" anchor="ctr">
                    <a:lnL w="9525" cap="flat" cmpd="sng" algn="ctr">
                      <a:solidFill>
                        <a:srgbClr val="B8BDEB"/>
                      </a:solidFill>
                      <a:prstDash val="solid"/>
                    </a:lnL>
                    <a:lnR w="9525" cap="flat" cmpd="sng" algn="ctr">
                      <a:solidFill>
                        <a:srgbClr val="B8BDEB"/>
                      </a:solidFill>
                      <a:prstDash val="solid"/>
                    </a:lnR>
                    <a:lnT w="9525" cap="flat" cmpd="sng" algn="ctr">
                      <a:solidFill>
                        <a:srgbClr val="B8BDEB"/>
                      </a:solidFill>
                      <a:prstDash val="solid"/>
                    </a:lnT>
                    <a:lnB w="9525" cap="flat" cmpd="sng" algn="ctr">
                      <a:solidFill>
                        <a:srgbClr val="B8BDEB"/>
                      </a:solidFill>
                      <a:prstDash val="solid"/>
                    </a:lnB>
                    <a:solidFill>
                      <a:srgbClr val="2E1B5B"/>
                    </a:solidFill>
                  </a:tcPr>
                </a:tc>
                <a:tc>
                  <a:txBody>
                    <a:bodyPr/>
                    <a:lstStyle/>
                    <a:p>
                      <a:pPr algn="ctr"/>
                      <a:r>
                        <a:rPr sz="1100" b="1">
                          <a:solidFill>
                            <a:srgbClr val="FFFFFF"/>
                          </a:solidFill>
                          <a:latin typeface="Calibri"/>
                        </a:rPr>
                        <a:t>Textbook one-hot</a:t>
                      </a:r>
                    </a:p>
                  </a:txBody>
                  <a:tcPr marL="91440" marR="91440" anchor="ctr">
                    <a:lnL w="9525" cap="flat" cmpd="sng" algn="ctr">
                      <a:solidFill>
                        <a:srgbClr val="B8BDEB"/>
                      </a:solidFill>
                      <a:prstDash val="solid"/>
                    </a:lnL>
                    <a:lnR w="9525" cap="flat" cmpd="sng" algn="ctr">
                      <a:solidFill>
                        <a:srgbClr val="B8BDEB"/>
                      </a:solidFill>
                      <a:prstDash val="solid"/>
                    </a:lnR>
                    <a:lnT w="9525" cap="flat" cmpd="sng" algn="ctr">
                      <a:solidFill>
                        <a:srgbClr val="B8BDEB"/>
                      </a:solidFill>
                      <a:prstDash val="solid"/>
                    </a:lnT>
                    <a:lnB w="9525" cap="flat" cmpd="sng" algn="ctr">
                      <a:solidFill>
                        <a:srgbClr val="B8BDEB"/>
                      </a:solidFill>
                      <a:prstDash val="solid"/>
                    </a:lnB>
                    <a:solidFill>
                      <a:srgbClr val="2E1B5B"/>
                    </a:solidFill>
                  </a:tcPr>
                </a:tc>
                <a:tc>
                  <a:txBody>
                    <a:bodyPr/>
                    <a:lstStyle/>
                    <a:p>
                      <a:pPr algn="ctr"/>
                      <a:r>
                        <a:rPr sz="1100" b="1">
                          <a:solidFill>
                            <a:srgbClr val="FFFFFF"/>
                          </a:solidFill>
                          <a:latin typeface="Calibri"/>
                        </a:rPr>
                        <a:t>GreenQ</a:t>
                      </a:r>
                    </a:p>
                  </a:txBody>
                  <a:tcPr marL="91440" marR="91440" anchor="ctr">
                    <a:lnL w="9525" cap="flat" cmpd="sng" algn="ctr">
                      <a:solidFill>
                        <a:srgbClr val="B8BDEB"/>
                      </a:solidFill>
                      <a:prstDash val="solid"/>
                    </a:lnL>
                    <a:lnR w="9525" cap="flat" cmpd="sng" algn="ctr">
                      <a:solidFill>
                        <a:srgbClr val="B8BDEB"/>
                      </a:solidFill>
                      <a:prstDash val="solid"/>
                    </a:lnR>
                    <a:lnT w="9525" cap="flat" cmpd="sng" algn="ctr">
                      <a:solidFill>
                        <a:srgbClr val="B8BDEB"/>
                      </a:solidFill>
                      <a:prstDash val="solid"/>
                    </a:lnT>
                    <a:lnB w="9525" cap="flat" cmpd="sng" algn="ctr">
                      <a:solidFill>
                        <a:srgbClr val="B8BDEB"/>
                      </a:solidFill>
                      <a:prstDash val="solid"/>
                    </a:lnB>
                    <a:solidFill>
                      <a:srgbClr val="2E1B5B"/>
                    </a:solidFill>
                  </a:tcPr>
                </a:tc>
              </a:tr>
              <a:tr h="329184">
                <a:tc>
                  <a:txBody>
                    <a:bodyPr/>
                    <a:lstStyle/>
                    <a:p>
                      <a:pPr algn="l"/>
                      <a:r>
                        <a:rPr sz="1100" b="0">
                          <a:solidFill>
                            <a:srgbClr val="2E1B5B"/>
                          </a:solidFill>
                          <a:latin typeface="Calibri"/>
                        </a:rPr>
                        <a:t>Qubits</a:t>
                      </a:r>
                    </a:p>
                  </a:txBody>
                  <a:tcPr marL="91440" marR="91440" anchor="ctr">
                    <a:lnL w="9525" cap="flat" cmpd="sng" algn="ctr">
                      <a:solidFill>
                        <a:srgbClr val="B8BDEB"/>
                      </a:solidFill>
                      <a:prstDash val="solid"/>
                    </a:lnL>
                    <a:lnR w="9525" cap="flat" cmpd="sng" algn="ctr">
                      <a:solidFill>
                        <a:srgbClr val="B8BDEB"/>
                      </a:solidFill>
                      <a:prstDash val="solid"/>
                    </a:lnR>
                    <a:lnT w="9525" cap="flat" cmpd="sng" algn="ctr">
                      <a:solidFill>
                        <a:srgbClr val="B8BDEB"/>
                      </a:solidFill>
                      <a:prstDash val="solid"/>
                    </a:lnT>
                    <a:lnB w="9525" cap="flat" cmpd="sng" algn="ctr">
                      <a:solidFill>
                        <a:srgbClr val="B8BDEB"/>
                      </a:solidFill>
                      <a:prstDash val="solid"/>
                    </a:lnB>
                    <a:solidFill>
                      <a:srgbClr val="FFFFFF"/>
                    </a:solidFill>
                  </a:tcPr>
                </a:tc>
                <a:tc>
                  <a:txBody>
                    <a:bodyPr/>
                    <a:lstStyle/>
                    <a:p>
                      <a:pPr algn="ctr"/>
                      <a:r>
                        <a:rPr sz="1100" b="0">
                          <a:solidFill>
                            <a:srgbClr val="2E1B5B"/>
                          </a:solidFill>
                          <a:latin typeface="Calibri"/>
                        </a:rPr>
                        <a:t>16</a:t>
                      </a:r>
                    </a:p>
                  </a:txBody>
                  <a:tcPr marL="91440" marR="91440" anchor="ctr">
                    <a:lnL w="9525" cap="flat" cmpd="sng" algn="ctr">
                      <a:solidFill>
                        <a:srgbClr val="B8BDEB"/>
                      </a:solidFill>
                      <a:prstDash val="solid"/>
                    </a:lnL>
                    <a:lnR w="9525" cap="flat" cmpd="sng" algn="ctr">
                      <a:solidFill>
                        <a:srgbClr val="B8BDEB"/>
                      </a:solidFill>
                      <a:prstDash val="solid"/>
                    </a:lnR>
                    <a:lnT w="9525" cap="flat" cmpd="sng" algn="ctr">
                      <a:solidFill>
                        <a:srgbClr val="B8BDEB"/>
                      </a:solidFill>
                      <a:prstDash val="solid"/>
                    </a:lnT>
                    <a:lnB w="9525" cap="flat" cmpd="sng" algn="ctr">
                      <a:solidFill>
                        <a:srgbClr val="B8BDEB"/>
                      </a:solidFill>
                      <a:prstDash val="solid"/>
                    </a:lnB>
                    <a:solidFill>
                      <a:srgbClr val="FFFFFF"/>
                    </a:solidFill>
                  </a:tcPr>
                </a:tc>
                <a:tc>
                  <a:txBody>
                    <a:bodyPr/>
                    <a:lstStyle/>
                    <a:p>
                      <a:pPr algn="ctr"/>
                      <a:r>
                        <a:rPr sz="1100" b="1">
                          <a:solidFill>
                            <a:srgbClr val="5B3BA8"/>
                          </a:solidFill>
                          <a:latin typeface="Calibri"/>
                        </a:rPr>
                        <a:t>8</a:t>
                      </a:r>
                    </a:p>
                  </a:txBody>
                  <a:tcPr marL="91440" marR="91440" anchor="ctr">
                    <a:lnL w="9525" cap="flat" cmpd="sng" algn="ctr">
                      <a:solidFill>
                        <a:srgbClr val="B8BDEB"/>
                      </a:solidFill>
                      <a:prstDash val="solid"/>
                    </a:lnL>
                    <a:lnR w="9525" cap="flat" cmpd="sng" algn="ctr">
                      <a:solidFill>
                        <a:srgbClr val="B8BDEB"/>
                      </a:solidFill>
                      <a:prstDash val="solid"/>
                    </a:lnR>
                    <a:lnT w="9525" cap="flat" cmpd="sng" algn="ctr">
                      <a:solidFill>
                        <a:srgbClr val="B8BDEB"/>
                      </a:solidFill>
                      <a:prstDash val="solid"/>
                    </a:lnT>
                    <a:lnB w="9525" cap="flat" cmpd="sng" algn="ctr">
                      <a:solidFill>
                        <a:srgbClr val="B8BDEB"/>
                      </a:solidFill>
                      <a:prstDash val="solid"/>
                    </a:lnB>
                    <a:solidFill>
                      <a:srgbClr val="EEF0FE"/>
                    </a:solidFill>
                  </a:tcPr>
                </a:tc>
              </a:tr>
              <a:tr h="329184">
                <a:tc>
                  <a:txBody>
                    <a:bodyPr/>
                    <a:lstStyle/>
                    <a:p>
                      <a:pPr algn="l"/>
                      <a:r>
                        <a:rPr sz="1100" b="0">
                          <a:solidFill>
                            <a:srgbClr val="2E1B5B"/>
                          </a:solidFill>
                          <a:latin typeface="Calibri"/>
                        </a:rPr>
                        <a:t>Valid answers</a:t>
                      </a:r>
                    </a:p>
                  </a:txBody>
                  <a:tcPr marL="91440" marR="91440" anchor="ctr">
                    <a:lnL w="9525" cap="flat" cmpd="sng" algn="ctr">
                      <a:solidFill>
                        <a:srgbClr val="B8BDEB"/>
                      </a:solidFill>
                      <a:prstDash val="solid"/>
                    </a:lnL>
                    <a:lnR w="9525" cap="flat" cmpd="sng" algn="ctr">
                      <a:solidFill>
                        <a:srgbClr val="B8BDEB"/>
                      </a:solidFill>
                      <a:prstDash val="solid"/>
                    </a:lnR>
                    <a:lnT w="9525" cap="flat" cmpd="sng" algn="ctr">
                      <a:solidFill>
                        <a:srgbClr val="B8BDEB"/>
                      </a:solidFill>
                      <a:prstDash val="solid"/>
                    </a:lnT>
                    <a:lnB w="9525" cap="flat" cmpd="sng" algn="ctr">
                      <a:solidFill>
                        <a:srgbClr val="B8BDEB"/>
                      </a:solidFill>
                      <a:prstDash val="solid"/>
                    </a:lnB>
                    <a:solidFill>
                      <a:srgbClr val="FFFFFF"/>
                    </a:solidFill>
                  </a:tcPr>
                </a:tc>
                <a:tc>
                  <a:txBody>
                    <a:bodyPr/>
                    <a:lstStyle/>
                    <a:p>
                      <a:pPr algn="ctr"/>
                      <a:r>
                        <a:rPr sz="1100" b="0">
                          <a:solidFill>
                            <a:srgbClr val="2E1B5B"/>
                          </a:solidFill>
                          <a:latin typeface="Calibri"/>
                        </a:rPr>
                        <a:t>0.39%</a:t>
                      </a:r>
                    </a:p>
                  </a:txBody>
                  <a:tcPr marL="91440" marR="91440" anchor="ctr">
                    <a:lnL w="9525" cap="flat" cmpd="sng" algn="ctr">
                      <a:solidFill>
                        <a:srgbClr val="B8BDEB"/>
                      </a:solidFill>
                      <a:prstDash val="solid"/>
                    </a:lnL>
                    <a:lnR w="9525" cap="flat" cmpd="sng" algn="ctr">
                      <a:solidFill>
                        <a:srgbClr val="B8BDEB"/>
                      </a:solidFill>
                      <a:prstDash val="solid"/>
                    </a:lnR>
                    <a:lnT w="9525" cap="flat" cmpd="sng" algn="ctr">
                      <a:solidFill>
                        <a:srgbClr val="B8BDEB"/>
                      </a:solidFill>
                      <a:prstDash val="solid"/>
                    </a:lnT>
                    <a:lnB w="9525" cap="flat" cmpd="sng" algn="ctr">
                      <a:solidFill>
                        <a:srgbClr val="B8BDEB"/>
                      </a:solidFill>
                      <a:prstDash val="solid"/>
                    </a:lnB>
                    <a:solidFill>
                      <a:srgbClr val="FFFFFF"/>
                    </a:solidFill>
                  </a:tcPr>
                </a:tc>
                <a:tc>
                  <a:txBody>
                    <a:bodyPr/>
                    <a:lstStyle/>
                    <a:p>
                      <a:pPr algn="ctr"/>
                      <a:r>
                        <a:rPr sz="1100" b="1">
                          <a:solidFill>
                            <a:srgbClr val="5B3BA8"/>
                          </a:solidFill>
                          <a:latin typeface="Calibri"/>
                        </a:rPr>
                        <a:t>100%</a:t>
                      </a:r>
                    </a:p>
                  </a:txBody>
                  <a:tcPr marL="91440" marR="91440" anchor="ctr">
                    <a:lnL w="9525" cap="flat" cmpd="sng" algn="ctr">
                      <a:solidFill>
                        <a:srgbClr val="B8BDEB"/>
                      </a:solidFill>
                      <a:prstDash val="solid"/>
                    </a:lnL>
                    <a:lnR w="9525" cap="flat" cmpd="sng" algn="ctr">
                      <a:solidFill>
                        <a:srgbClr val="B8BDEB"/>
                      </a:solidFill>
                      <a:prstDash val="solid"/>
                    </a:lnR>
                    <a:lnT w="9525" cap="flat" cmpd="sng" algn="ctr">
                      <a:solidFill>
                        <a:srgbClr val="B8BDEB"/>
                      </a:solidFill>
                      <a:prstDash val="solid"/>
                    </a:lnT>
                    <a:lnB w="9525" cap="flat" cmpd="sng" algn="ctr">
                      <a:solidFill>
                        <a:srgbClr val="B8BDEB"/>
                      </a:solidFill>
                      <a:prstDash val="solid"/>
                    </a:lnB>
                    <a:solidFill>
                      <a:srgbClr val="EEF0FE"/>
                    </a:solidFill>
                  </a:tcPr>
                </a:tc>
              </a:tr>
              <a:tr h="329184">
                <a:tc>
                  <a:txBody>
                    <a:bodyPr/>
                    <a:lstStyle/>
                    <a:p>
                      <a:pPr algn="l"/>
                      <a:r>
                        <a:rPr sz="1100" b="0">
                          <a:solidFill>
                            <a:srgbClr val="2E1B5B"/>
                          </a:solidFill>
                          <a:latin typeface="Calibri"/>
                        </a:rPr>
                        <a:t>Two-qubit gates</a:t>
                      </a:r>
                    </a:p>
                  </a:txBody>
                  <a:tcPr marL="91440" marR="91440" anchor="ctr">
                    <a:lnL w="9525" cap="flat" cmpd="sng" algn="ctr">
                      <a:solidFill>
                        <a:srgbClr val="B8BDEB"/>
                      </a:solidFill>
                      <a:prstDash val="solid"/>
                    </a:lnL>
                    <a:lnR w="9525" cap="flat" cmpd="sng" algn="ctr">
                      <a:solidFill>
                        <a:srgbClr val="B8BDEB"/>
                      </a:solidFill>
                      <a:prstDash val="solid"/>
                    </a:lnR>
                    <a:lnT w="9525" cap="flat" cmpd="sng" algn="ctr">
                      <a:solidFill>
                        <a:srgbClr val="B8BDEB"/>
                      </a:solidFill>
                      <a:prstDash val="solid"/>
                    </a:lnT>
                    <a:lnB w="9525" cap="flat" cmpd="sng" algn="ctr">
                      <a:solidFill>
                        <a:srgbClr val="B8BDEB"/>
                      </a:solidFill>
                      <a:prstDash val="solid"/>
                    </a:lnB>
                    <a:solidFill>
                      <a:srgbClr val="FFFFFF"/>
                    </a:solidFill>
                  </a:tcPr>
                </a:tc>
                <a:tc>
                  <a:txBody>
                    <a:bodyPr/>
                    <a:lstStyle/>
                    <a:p>
                      <a:pPr algn="ctr"/>
                      <a:r>
                        <a:rPr sz="1100" b="0">
                          <a:solidFill>
                            <a:srgbClr val="2E1B5B"/>
                          </a:solidFill>
                          <a:latin typeface="Calibri"/>
                        </a:rPr>
                        <a:t>≈227</a:t>
                      </a:r>
                    </a:p>
                  </a:txBody>
                  <a:tcPr marL="91440" marR="91440" anchor="ctr">
                    <a:lnL w="9525" cap="flat" cmpd="sng" algn="ctr">
                      <a:solidFill>
                        <a:srgbClr val="B8BDEB"/>
                      </a:solidFill>
                      <a:prstDash val="solid"/>
                    </a:lnL>
                    <a:lnR w="9525" cap="flat" cmpd="sng" algn="ctr">
                      <a:solidFill>
                        <a:srgbClr val="B8BDEB"/>
                      </a:solidFill>
                      <a:prstDash val="solid"/>
                    </a:lnR>
                    <a:lnT w="9525" cap="flat" cmpd="sng" algn="ctr">
                      <a:solidFill>
                        <a:srgbClr val="B8BDEB"/>
                      </a:solidFill>
                      <a:prstDash val="solid"/>
                    </a:lnT>
                    <a:lnB w="9525" cap="flat" cmpd="sng" algn="ctr">
                      <a:solidFill>
                        <a:srgbClr val="B8BDEB"/>
                      </a:solidFill>
                      <a:prstDash val="solid"/>
                    </a:lnB>
                    <a:solidFill>
                      <a:srgbClr val="FFFFFF"/>
                    </a:solidFill>
                  </a:tcPr>
                </a:tc>
                <a:tc>
                  <a:txBody>
                    <a:bodyPr/>
                    <a:lstStyle/>
                    <a:p>
                      <a:pPr algn="ctr"/>
                      <a:r>
                        <a:rPr sz="1100" b="1">
                          <a:solidFill>
                            <a:srgbClr val="5B3BA8"/>
                          </a:solidFill>
                          <a:latin typeface="Calibri"/>
                        </a:rPr>
                        <a:t>114</a:t>
                      </a:r>
                    </a:p>
                  </a:txBody>
                  <a:tcPr marL="91440" marR="91440" anchor="ctr">
                    <a:lnL w="9525" cap="flat" cmpd="sng" algn="ctr">
                      <a:solidFill>
                        <a:srgbClr val="B8BDEB"/>
                      </a:solidFill>
                      <a:prstDash val="solid"/>
                    </a:lnL>
                    <a:lnR w="9525" cap="flat" cmpd="sng" algn="ctr">
                      <a:solidFill>
                        <a:srgbClr val="B8BDEB"/>
                      </a:solidFill>
                      <a:prstDash val="solid"/>
                    </a:lnR>
                    <a:lnT w="9525" cap="flat" cmpd="sng" algn="ctr">
                      <a:solidFill>
                        <a:srgbClr val="B8BDEB"/>
                      </a:solidFill>
                      <a:prstDash val="solid"/>
                    </a:lnT>
                    <a:lnB w="9525" cap="flat" cmpd="sng" algn="ctr">
                      <a:solidFill>
                        <a:srgbClr val="B8BDEB"/>
                      </a:solidFill>
                      <a:prstDash val="solid"/>
                    </a:lnB>
                    <a:solidFill>
                      <a:srgbClr val="EEF0FE"/>
                    </a:solidFill>
                  </a:tcPr>
                </a:tc>
              </a:tr>
              <a:tr h="329184">
                <a:tc>
                  <a:txBody>
                    <a:bodyPr/>
                    <a:lstStyle/>
                    <a:p>
                      <a:pPr algn="l"/>
                      <a:r>
                        <a:rPr sz="1100" b="0">
                          <a:solidFill>
                            <a:srgbClr val="2E1B5B"/>
                          </a:solidFill>
                          <a:latin typeface="Calibri"/>
                        </a:rPr>
                        <a:t>Penalty tuning</a:t>
                      </a:r>
                    </a:p>
                  </a:txBody>
                  <a:tcPr marL="91440" marR="91440" anchor="ctr">
                    <a:lnL w="9525" cap="flat" cmpd="sng" algn="ctr">
                      <a:solidFill>
                        <a:srgbClr val="B8BDEB"/>
                      </a:solidFill>
                      <a:prstDash val="solid"/>
                    </a:lnL>
                    <a:lnR w="9525" cap="flat" cmpd="sng" algn="ctr">
                      <a:solidFill>
                        <a:srgbClr val="B8BDEB"/>
                      </a:solidFill>
                      <a:prstDash val="solid"/>
                    </a:lnR>
                    <a:lnT w="9525" cap="flat" cmpd="sng" algn="ctr">
                      <a:solidFill>
                        <a:srgbClr val="B8BDEB"/>
                      </a:solidFill>
                      <a:prstDash val="solid"/>
                    </a:lnT>
                    <a:lnB w="9525" cap="flat" cmpd="sng" algn="ctr">
                      <a:solidFill>
                        <a:srgbClr val="B8BDEB"/>
                      </a:solidFill>
                      <a:prstDash val="solid"/>
                    </a:lnB>
                    <a:solidFill>
                      <a:srgbClr val="FFFFFF"/>
                    </a:solidFill>
                  </a:tcPr>
                </a:tc>
                <a:tc>
                  <a:txBody>
                    <a:bodyPr/>
                    <a:lstStyle/>
                    <a:p>
                      <a:pPr algn="ctr"/>
                      <a:r>
                        <a:rPr sz="1100" b="0">
                          <a:solidFill>
                            <a:srgbClr val="2E1B5B"/>
                          </a:solidFill>
                          <a:latin typeface="Calibri"/>
                        </a:rPr>
                        <a:t>Needed</a:t>
                      </a:r>
                    </a:p>
                  </a:txBody>
                  <a:tcPr marL="91440" marR="91440" anchor="ctr">
                    <a:lnL w="9525" cap="flat" cmpd="sng" algn="ctr">
                      <a:solidFill>
                        <a:srgbClr val="B8BDEB"/>
                      </a:solidFill>
                      <a:prstDash val="solid"/>
                    </a:lnL>
                    <a:lnR w="9525" cap="flat" cmpd="sng" algn="ctr">
                      <a:solidFill>
                        <a:srgbClr val="B8BDEB"/>
                      </a:solidFill>
                      <a:prstDash val="solid"/>
                    </a:lnR>
                    <a:lnT w="9525" cap="flat" cmpd="sng" algn="ctr">
                      <a:solidFill>
                        <a:srgbClr val="B8BDEB"/>
                      </a:solidFill>
                      <a:prstDash val="solid"/>
                    </a:lnT>
                    <a:lnB w="9525" cap="flat" cmpd="sng" algn="ctr">
                      <a:solidFill>
                        <a:srgbClr val="B8BDEB"/>
                      </a:solidFill>
                      <a:prstDash val="solid"/>
                    </a:lnB>
                    <a:solidFill>
                      <a:srgbClr val="FFFFFF"/>
                    </a:solidFill>
                  </a:tcPr>
                </a:tc>
                <a:tc>
                  <a:txBody>
                    <a:bodyPr/>
                    <a:lstStyle/>
                    <a:p>
                      <a:pPr algn="ctr"/>
                      <a:r>
                        <a:rPr sz="1100" b="1">
                          <a:solidFill>
                            <a:srgbClr val="5B3BA8"/>
                          </a:solidFill>
                          <a:latin typeface="Calibri"/>
                        </a:rPr>
                        <a:t>None</a:t>
                      </a:r>
                    </a:p>
                  </a:txBody>
                  <a:tcPr marL="91440" marR="91440" anchor="ctr">
                    <a:lnL w="9525" cap="flat" cmpd="sng" algn="ctr">
                      <a:solidFill>
                        <a:srgbClr val="B8BDEB"/>
                      </a:solidFill>
                      <a:prstDash val="solid"/>
                    </a:lnL>
                    <a:lnR w="9525" cap="flat" cmpd="sng" algn="ctr">
                      <a:solidFill>
                        <a:srgbClr val="B8BDEB"/>
                      </a:solidFill>
                      <a:prstDash val="solid"/>
                    </a:lnR>
                    <a:lnT w="9525" cap="flat" cmpd="sng" algn="ctr">
                      <a:solidFill>
                        <a:srgbClr val="B8BDEB"/>
                      </a:solidFill>
                      <a:prstDash val="solid"/>
                    </a:lnT>
                    <a:lnB w="9525" cap="flat" cmpd="sng" algn="ctr">
                      <a:solidFill>
                        <a:srgbClr val="B8BDEB"/>
                      </a:solidFill>
                      <a:prstDash val="solid"/>
                    </a:lnB>
                    <a:solidFill>
                      <a:srgbClr val="EEF0FE"/>
                    </a:solidFill>
                  </a:tcPr>
                </a:tc>
              </a:tr>
            </a:tbl>
          </a:graphicData>
        </a:graphic>
      </p:graphicFrame>
      <p:sp>
        <p:nvSpPr>
          <p:cNvPr id="41" name="TextBox 40"/>
          <p:cNvSpPr txBox="1"/>
          <p:nvPr/>
        </p:nvSpPr>
        <p:spPr>
          <a:xfrm>
            <a:off x="4526280" y="4005072"/>
            <a:ext cx="3931920" cy="457200"/>
          </a:xfrm>
          <a:prstGeom prst="rect">
            <a:avLst/>
          </a:prstGeom>
          <a:noFill/>
        </p:spPr>
        <p:txBody>
          <a:bodyPr wrap="square" lIns="0" rIns="0" tIns="0" bIns="0" anchor="t">
            <a:spAutoFit/>
          </a:bodyPr>
          <a:lstStyle/>
          <a:p>
            <a:pPr algn="l"/>
            <a:r>
              <a:rPr sz="1000" b="0">
                <a:solidFill>
                  <a:srgbClr val="6F7399"/>
                </a:solidFill>
                <a:latin typeface="Calibri"/>
              </a:rPr>
              <a:t>2 qubits per job, a where bit and a when bit, so every measured answer is a valid plan. Gate counts are for ibm_marrakesh.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Solution &amp; Quantum Advantage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4</a:t>
            </a:fld>
            <a:endParaRPr lang="en-US"/>
          </a:p>
        </p:txBody>
      </p:sp>
      <p:sp>
        <p:nvSpPr>
          <p:cNvPr id="26" name="Step 1"/>
          <p:cNvSpPr/>
          <p:nvPr/>
        </p:nvSpPr>
        <p:spPr>
          <a:xfrm>
            <a:off x="713232" y="1938528"/>
            <a:ext cx="1353312" cy="960120"/>
          </a:xfrm>
          <a:prstGeom prst="roundRect">
            <a:avLst>
              <a:gd name="adj" fmla="val 8000"/>
            </a:avLst>
          </a:prstGeom>
          <a:solidFill>
            <a:srgbClr val="EE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32104" y="2029968"/>
            <a:ext cx="1143000" cy="182880"/>
          </a:xfrm>
          <a:prstGeom prst="rect">
            <a:avLst/>
          </a:prstGeom>
          <a:noFill/>
        </p:spPr>
        <p:txBody>
          <a:bodyPr wrap="square" lIns="0" rIns="0" tIns="0" bIns="0" anchor="t">
            <a:spAutoFit/>
          </a:bodyPr>
          <a:lstStyle/>
          <a:p>
            <a:pPr algn="l"/>
            <a:r>
              <a:rPr sz="1000" b="1">
                <a:solidFill>
                  <a:srgbClr val="E8639F"/>
                </a:solidFill>
                <a:latin typeface="Calibri"/>
              </a:rPr>
              <a:t>01</a:t>
            </a:r>
          </a:p>
        </p:txBody>
      </p:sp>
      <p:sp>
        <p:nvSpPr>
          <p:cNvPr id="28" name="TextBox 27"/>
          <p:cNvSpPr txBox="1"/>
          <p:nvPr/>
        </p:nvSpPr>
        <p:spPr>
          <a:xfrm>
            <a:off x="832104" y="2231136"/>
            <a:ext cx="1143000" cy="274320"/>
          </a:xfrm>
          <a:prstGeom prst="rect">
            <a:avLst/>
          </a:prstGeom>
          <a:noFill/>
        </p:spPr>
        <p:txBody>
          <a:bodyPr wrap="square" lIns="0" rIns="0" tIns="0" bIns="0" anchor="t">
            <a:spAutoFit/>
          </a:bodyPr>
          <a:lstStyle/>
          <a:p>
            <a:pPr algn="l"/>
            <a:r>
              <a:rPr sz="1150" b="1">
                <a:solidFill>
                  <a:srgbClr val="2E1B5B"/>
                </a:solidFill>
                <a:latin typeface="Calibri"/>
              </a:rPr>
              <a:t>Jobs · sites · slots</a:t>
            </a:r>
          </a:p>
        </p:txBody>
      </p:sp>
      <p:sp>
        <p:nvSpPr>
          <p:cNvPr id="29" name="TextBox 28"/>
          <p:cNvSpPr txBox="1"/>
          <p:nvPr/>
        </p:nvSpPr>
        <p:spPr>
          <a:xfrm>
            <a:off x="832104" y="2505456"/>
            <a:ext cx="1143000" cy="329184"/>
          </a:xfrm>
          <a:prstGeom prst="rect">
            <a:avLst/>
          </a:prstGeom>
          <a:noFill/>
        </p:spPr>
        <p:txBody>
          <a:bodyPr wrap="square" lIns="0" rIns="0" tIns="0" bIns="0" anchor="t">
            <a:spAutoFit/>
          </a:bodyPr>
          <a:lstStyle/>
          <a:p>
            <a:pPr algn="l"/>
            <a:r>
              <a:rPr sz="1000" b="0">
                <a:solidFill>
                  <a:srgbClr val="6F7399"/>
                </a:solidFill>
                <a:latin typeface="Calibri"/>
              </a:rPr>
              <a:t>4 × 2 × 2 = 256 plans</a:t>
            </a:r>
          </a:p>
        </p:txBody>
      </p:sp>
      <p:sp>
        <p:nvSpPr>
          <p:cNvPr id="30" name="Flow arrow"/>
          <p:cNvSpPr/>
          <p:nvPr/>
        </p:nvSpPr>
        <p:spPr>
          <a:xfrm>
            <a:off x="2103120" y="2322576"/>
            <a:ext cx="164592" cy="201168"/>
          </a:xfrm>
          <a:prstGeom prst="rightArrow">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tep 2"/>
          <p:cNvSpPr/>
          <p:nvPr/>
        </p:nvSpPr>
        <p:spPr>
          <a:xfrm>
            <a:off x="2286000" y="1938528"/>
            <a:ext cx="1353312" cy="960120"/>
          </a:xfrm>
          <a:prstGeom prst="roundRect">
            <a:avLst>
              <a:gd name="adj" fmla="val 8000"/>
            </a:avLst>
          </a:prstGeom>
          <a:solidFill>
            <a:srgbClr val="EE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2404872" y="2029968"/>
            <a:ext cx="1143000" cy="182880"/>
          </a:xfrm>
          <a:prstGeom prst="rect">
            <a:avLst/>
          </a:prstGeom>
          <a:noFill/>
        </p:spPr>
        <p:txBody>
          <a:bodyPr wrap="square" lIns="0" rIns="0" tIns="0" bIns="0" anchor="t">
            <a:spAutoFit/>
          </a:bodyPr>
          <a:lstStyle/>
          <a:p>
            <a:pPr algn="l"/>
            <a:r>
              <a:rPr sz="1000" b="1">
                <a:solidFill>
                  <a:srgbClr val="E8639F"/>
                </a:solidFill>
                <a:latin typeface="Calibri"/>
              </a:rPr>
              <a:t>02</a:t>
            </a:r>
          </a:p>
        </p:txBody>
      </p:sp>
      <p:sp>
        <p:nvSpPr>
          <p:cNvPr id="33" name="TextBox 32"/>
          <p:cNvSpPr txBox="1"/>
          <p:nvPr/>
        </p:nvSpPr>
        <p:spPr>
          <a:xfrm>
            <a:off x="2404872" y="2231136"/>
            <a:ext cx="1143000" cy="274320"/>
          </a:xfrm>
          <a:prstGeom prst="rect">
            <a:avLst/>
          </a:prstGeom>
          <a:noFill/>
        </p:spPr>
        <p:txBody>
          <a:bodyPr wrap="square" lIns="0" rIns="0" tIns="0" bIns="0" anchor="t">
            <a:spAutoFit/>
          </a:bodyPr>
          <a:lstStyle/>
          <a:p>
            <a:pPr algn="l"/>
            <a:r>
              <a:rPr sz="1150" b="1">
                <a:solidFill>
                  <a:srgbClr val="2E1B5B"/>
                </a:solidFill>
                <a:latin typeface="Calibri"/>
              </a:rPr>
              <a:t>Cost model</a:t>
            </a:r>
          </a:p>
        </p:txBody>
      </p:sp>
      <p:sp>
        <p:nvSpPr>
          <p:cNvPr id="34" name="TextBox 33"/>
          <p:cNvSpPr txBox="1"/>
          <p:nvPr/>
        </p:nvSpPr>
        <p:spPr>
          <a:xfrm>
            <a:off x="2404872" y="2505456"/>
            <a:ext cx="1143000" cy="329184"/>
          </a:xfrm>
          <a:prstGeom prst="rect">
            <a:avLst/>
          </a:prstGeom>
          <a:noFill/>
        </p:spPr>
        <p:txBody>
          <a:bodyPr wrap="square" lIns="0" rIns="0" tIns="0" bIns="0" anchor="t">
            <a:spAutoFit/>
          </a:bodyPr>
          <a:lstStyle/>
          <a:p>
            <a:pPr algn="l"/>
            <a:r>
              <a:rPr sz="1000" b="0">
                <a:solidFill>
                  <a:srgbClr val="6F7399"/>
                </a:solidFill>
                <a:latin typeface="Calibri"/>
              </a:rPr>
              <a:t>kg CO₂ + litres, one slider</a:t>
            </a:r>
          </a:p>
        </p:txBody>
      </p:sp>
      <p:sp>
        <p:nvSpPr>
          <p:cNvPr id="35" name="Flow arrow"/>
          <p:cNvSpPr/>
          <p:nvPr/>
        </p:nvSpPr>
        <p:spPr>
          <a:xfrm>
            <a:off x="3675887" y="2322576"/>
            <a:ext cx="164592" cy="201168"/>
          </a:xfrm>
          <a:prstGeom prst="rightArrow">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ep 3"/>
          <p:cNvSpPr/>
          <p:nvPr/>
        </p:nvSpPr>
        <p:spPr>
          <a:xfrm>
            <a:off x="3858768" y="1938528"/>
            <a:ext cx="1353312" cy="960120"/>
          </a:xfrm>
          <a:prstGeom prst="roundRect">
            <a:avLst>
              <a:gd name="adj" fmla="val 8000"/>
            </a:avLst>
          </a:prstGeom>
          <a:solidFill>
            <a:srgbClr val="EE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977639" y="2029968"/>
            <a:ext cx="1143000" cy="182880"/>
          </a:xfrm>
          <a:prstGeom prst="rect">
            <a:avLst/>
          </a:prstGeom>
          <a:noFill/>
        </p:spPr>
        <p:txBody>
          <a:bodyPr wrap="square" lIns="0" rIns="0" tIns="0" bIns="0" anchor="t">
            <a:spAutoFit/>
          </a:bodyPr>
          <a:lstStyle/>
          <a:p>
            <a:pPr algn="l"/>
            <a:r>
              <a:rPr sz="1000" b="1">
                <a:solidFill>
                  <a:srgbClr val="E8639F"/>
                </a:solidFill>
                <a:latin typeface="Calibri"/>
              </a:rPr>
              <a:t>03</a:t>
            </a:r>
          </a:p>
        </p:txBody>
      </p:sp>
      <p:sp>
        <p:nvSpPr>
          <p:cNvPr id="38" name="TextBox 37"/>
          <p:cNvSpPr txBox="1"/>
          <p:nvPr/>
        </p:nvSpPr>
        <p:spPr>
          <a:xfrm>
            <a:off x="3977639" y="2231136"/>
            <a:ext cx="1143000" cy="274320"/>
          </a:xfrm>
          <a:prstGeom prst="rect">
            <a:avLst/>
          </a:prstGeom>
          <a:noFill/>
        </p:spPr>
        <p:txBody>
          <a:bodyPr wrap="square" lIns="0" rIns="0" tIns="0" bIns="0" anchor="t">
            <a:spAutoFit/>
          </a:bodyPr>
          <a:lstStyle/>
          <a:p>
            <a:pPr algn="l"/>
            <a:r>
              <a:rPr sz="1150" b="1">
                <a:solidFill>
                  <a:srgbClr val="2E1B5B"/>
                </a:solidFill>
                <a:latin typeface="Calibri"/>
              </a:rPr>
              <a:t>Hamiltonian</a:t>
            </a:r>
          </a:p>
        </p:txBody>
      </p:sp>
      <p:sp>
        <p:nvSpPr>
          <p:cNvPr id="39" name="TextBox 38"/>
          <p:cNvSpPr txBox="1"/>
          <p:nvPr/>
        </p:nvSpPr>
        <p:spPr>
          <a:xfrm>
            <a:off x="3977639" y="2505456"/>
            <a:ext cx="1143000" cy="329184"/>
          </a:xfrm>
          <a:prstGeom prst="rect">
            <a:avLst/>
          </a:prstGeom>
          <a:noFill/>
        </p:spPr>
        <p:txBody>
          <a:bodyPr wrap="square" lIns="0" rIns="0" tIns="0" bIns="0" anchor="t">
            <a:spAutoFit/>
          </a:bodyPr>
          <a:lstStyle/>
          <a:p>
            <a:pPr algn="l"/>
            <a:r>
              <a:rPr sz="1000" b="0">
                <a:solidFill>
                  <a:srgbClr val="6F7399"/>
                </a:solidFill>
                <a:latin typeface="Calibri"/>
              </a:rPr>
              <a:t>8 qubits · 31 terms</a:t>
            </a:r>
          </a:p>
        </p:txBody>
      </p:sp>
      <p:sp>
        <p:nvSpPr>
          <p:cNvPr id="40" name="Flow arrow"/>
          <p:cNvSpPr/>
          <p:nvPr/>
        </p:nvSpPr>
        <p:spPr>
          <a:xfrm>
            <a:off x="5248656" y="2322576"/>
            <a:ext cx="164592" cy="201168"/>
          </a:xfrm>
          <a:prstGeom prst="rightArrow">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tep 4"/>
          <p:cNvSpPr/>
          <p:nvPr/>
        </p:nvSpPr>
        <p:spPr>
          <a:xfrm>
            <a:off x="5431536" y="1938528"/>
            <a:ext cx="1353312" cy="960120"/>
          </a:xfrm>
          <a:prstGeom prst="roundRect">
            <a:avLst>
              <a:gd name="adj" fmla="val 8000"/>
            </a:avLst>
          </a:prstGeom>
          <a:solidFill>
            <a:srgbClr val="EE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550408" y="2029968"/>
            <a:ext cx="1143000" cy="182880"/>
          </a:xfrm>
          <a:prstGeom prst="rect">
            <a:avLst/>
          </a:prstGeom>
          <a:noFill/>
        </p:spPr>
        <p:txBody>
          <a:bodyPr wrap="square" lIns="0" rIns="0" tIns="0" bIns="0" anchor="t">
            <a:spAutoFit/>
          </a:bodyPr>
          <a:lstStyle/>
          <a:p>
            <a:pPr algn="l"/>
            <a:r>
              <a:rPr sz="1000" b="1">
                <a:solidFill>
                  <a:srgbClr val="E8639F"/>
                </a:solidFill>
                <a:latin typeface="Calibri"/>
              </a:rPr>
              <a:t>04</a:t>
            </a:r>
          </a:p>
        </p:txBody>
      </p:sp>
      <p:sp>
        <p:nvSpPr>
          <p:cNvPr id="43" name="TextBox 42"/>
          <p:cNvSpPr txBox="1"/>
          <p:nvPr/>
        </p:nvSpPr>
        <p:spPr>
          <a:xfrm>
            <a:off x="5550408" y="2231136"/>
            <a:ext cx="1143000" cy="274320"/>
          </a:xfrm>
          <a:prstGeom prst="rect">
            <a:avLst/>
          </a:prstGeom>
          <a:noFill/>
        </p:spPr>
        <p:txBody>
          <a:bodyPr wrap="square" lIns="0" rIns="0" tIns="0" bIns="0" anchor="t">
            <a:spAutoFit/>
          </a:bodyPr>
          <a:lstStyle/>
          <a:p>
            <a:pPr algn="l"/>
            <a:r>
              <a:rPr sz="1150" b="1">
                <a:solidFill>
                  <a:srgbClr val="2E1B5B"/>
                </a:solidFill>
                <a:latin typeface="Calibri"/>
              </a:rPr>
              <a:t>QAOA on IBM</a:t>
            </a:r>
          </a:p>
        </p:txBody>
      </p:sp>
      <p:sp>
        <p:nvSpPr>
          <p:cNvPr id="44" name="TextBox 43"/>
          <p:cNvSpPr txBox="1"/>
          <p:nvPr/>
        </p:nvSpPr>
        <p:spPr>
          <a:xfrm>
            <a:off x="5550408" y="2505456"/>
            <a:ext cx="1143000" cy="329184"/>
          </a:xfrm>
          <a:prstGeom prst="rect">
            <a:avLst/>
          </a:prstGeom>
          <a:noFill/>
        </p:spPr>
        <p:txBody>
          <a:bodyPr wrap="square" lIns="0" rIns="0" tIns="0" bIns="0" anchor="t">
            <a:spAutoFit/>
          </a:bodyPr>
          <a:lstStyle/>
          <a:p>
            <a:pPr algn="l"/>
            <a:r>
              <a:rPr sz="1000" b="0">
                <a:solidFill>
                  <a:srgbClr val="6F7399"/>
                </a:solidFill>
                <a:latin typeface="Calibri"/>
              </a:rPr>
              <a:t>trained on a simulator</a:t>
            </a:r>
          </a:p>
        </p:txBody>
      </p:sp>
      <p:sp>
        <p:nvSpPr>
          <p:cNvPr id="45" name="Flow arrow"/>
          <p:cNvSpPr/>
          <p:nvPr/>
        </p:nvSpPr>
        <p:spPr>
          <a:xfrm>
            <a:off x="6821424" y="2322576"/>
            <a:ext cx="164592" cy="201168"/>
          </a:xfrm>
          <a:prstGeom prst="rightArrow">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tep 5"/>
          <p:cNvSpPr/>
          <p:nvPr/>
        </p:nvSpPr>
        <p:spPr>
          <a:xfrm>
            <a:off x="7004304" y="1938528"/>
            <a:ext cx="1353312" cy="960120"/>
          </a:xfrm>
          <a:prstGeom prst="roundRect">
            <a:avLst>
              <a:gd name="adj" fmla="val 8000"/>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123176" y="2029968"/>
            <a:ext cx="1143000" cy="182880"/>
          </a:xfrm>
          <a:prstGeom prst="rect">
            <a:avLst/>
          </a:prstGeom>
          <a:noFill/>
        </p:spPr>
        <p:txBody>
          <a:bodyPr wrap="square" lIns="0" rIns="0" tIns="0" bIns="0" anchor="t">
            <a:spAutoFit/>
          </a:bodyPr>
          <a:lstStyle/>
          <a:p>
            <a:pPr algn="l"/>
            <a:r>
              <a:rPr sz="1000" b="1">
                <a:solidFill>
                  <a:srgbClr val="E8639F"/>
                </a:solidFill>
                <a:latin typeface="Calibri"/>
              </a:rPr>
              <a:t>05</a:t>
            </a:r>
          </a:p>
        </p:txBody>
      </p:sp>
      <p:sp>
        <p:nvSpPr>
          <p:cNvPr id="48" name="TextBox 47"/>
          <p:cNvSpPr txBox="1"/>
          <p:nvPr/>
        </p:nvSpPr>
        <p:spPr>
          <a:xfrm>
            <a:off x="7123176" y="2231136"/>
            <a:ext cx="1143000" cy="274320"/>
          </a:xfrm>
          <a:prstGeom prst="rect">
            <a:avLst/>
          </a:prstGeom>
          <a:noFill/>
        </p:spPr>
        <p:txBody>
          <a:bodyPr wrap="square" lIns="0" rIns="0" tIns="0" bIns="0" anchor="t">
            <a:spAutoFit/>
          </a:bodyPr>
          <a:lstStyle/>
          <a:p>
            <a:pPr algn="l"/>
            <a:r>
              <a:rPr sz="1150" b="1">
                <a:solidFill>
                  <a:srgbClr val="FFFFFF"/>
                </a:solidFill>
                <a:latin typeface="Calibri"/>
              </a:rPr>
              <a:t>Best plan</a:t>
            </a:r>
          </a:p>
        </p:txBody>
      </p:sp>
      <p:sp>
        <p:nvSpPr>
          <p:cNvPr id="49" name="TextBox 48"/>
          <p:cNvSpPr txBox="1"/>
          <p:nvPr/>
        </p:nvSpPr>
        <p:spPr>
          <a:xfrm>
            <a:off x="7123176" y="2505456"/>
            <a:ext cx="1143000" cy="329184"/>
          </a:xfrm>
          <a:prstGeom prst="rect">
            <a:avLst/>
          </a:prstGeom>
          <a:noFill/>
        </p:spPr>
        <p:txBody>
          <a:bodyPr wrap="square" lIns="0" rIns="0" tIns="0" bIns="0" anchor="t">
            <a:spAutoFit/>
          </a:bodyPr>
          <a:lstStyle/>
          <a:p>
            <a:pPr algn="l"/>
            <a:r>
              <a:rPr sz="1000" b="0">
                <a:solidFill>
                  <a:srgbClr val="CBD1F5"/>
                </a:solidFill>
                <a:latin typeface="Calibri"/>
              </a:rPr>
              <a:t>checked against all 256</a:t>
            </a:r>
          </a:p>
        </p:txBody>
      </p:sp>
      <p:sp>
        <p:nvSpPr>
          <p:cNvPr id="50" name="Claim card"/>
          <p:cNvSpPr/>
          <p:nvPr/>
        </p:nvSpPr>
        <p:spPr>
          <a:xfrm>
            <a:off x="713232" y="3127248"/>
            <a:ext cx="2487168" cy="1325880"/>
          </a:xfrm>
          <a:prstGeom prst="roundRect">
            <a:avLst>
              <a:gd name="adj" fmla="val 8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Icon circle shield"/>
          <p:cNvSpPr/>
          <p:nvPr/>
        </p:nvSpPr>
        <p:spPr>
          <a:xfrm>
            <a:off x="868680" y="3264408"/>
            <a:ext cx="347472" cy="347472"/>
          </a:xfrm>
          <a:prstGeom prst="ellipse">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shield_w.png"/>
          <p:cNvPicPr>
            <a:picLocks noChangeAspect="1"/>
          </p:cNvPicPr>
          <p:nvPr/>
        </p:nvPicPr>
        <p:blipFill>
          <a:blip r:embed="rId3"/>
          <a:stretch>
            <a:fillRect/>
          </a:stretch>
        </p:blipFill>
        <p:spPr>
          <a:xfrm>
            <a:off x="952073" y="3347801"/>
            <a:ext cx="180685" cy="180685"/>
          </a:xfrm>
          <a:prstGeom prst="rect">
            <a:avLst/>
          </a:prstGeom>
        </p:spPr>
      </p:pic>
      <p:sp>
        <p:nvSpPr>
          <p:cNvPr id="53" name="TextBox 52"/>
          <p:cNvSpPr txBox="1"/>
          <p:nvPr/>
        </p:nvSpPr>
        <p:spPr>
          <a:xfrm>
            <a:off x="1307592" y="3291840"/>
            <a:ext cx="1783080" cy="292608"/>
          </a:xfrm>
          <a:prstGeom prst="rect">
            <a:avLst/>
          </a:prstGeom>
          <a:noFill/>
        </p:spPr>
        <p:txBody>
          <a:bodyPr wrap="square" lIns="0" rIns="0" tIns="0" bIns="0" anchor="ctr">
            <a:spAutoFit/>
          </a:bodyPr>
          <a:lstStyle/>
          <a:p>
            <a:pPr algn="l"/>
            <a:r>
              <a:rPr sz="1250" b="1">
                <a:solidFill>
                  <a:srgbClr val="2E1B5B"/>
                </a:solidFill>
                <a:latin typeface="Calibri"/>
              </a:rPr>
              <a:t>Quantum advantage</a:t>
            </a:r>
          </a:p>
        </p:txBody>
      </p:sp>
      <p:sp>
        <p:nvSpPr>
          <p:cNvPr id="54" name="TextBox 53"/>
          <p:cNvSpPr txBox="1"/>
          <p:nvPr/>
        </p:nvSpPr>
        <p:spPr>
          <a:xfrm>
            <a:off x="868680" y="3703320"/>
            <a:ext cx="2194560" cy="694944"/>
          </a:xfrm>
          <a:prstGeom prst="rect">
            <a:avLst/>
          </a:prstGeom>
          <a:noFill/>
        </p:spPr>
        <p:txBody>
          <a:bodyPr wrap="square" lIns="0" rIns="0" tIns="0" bIns="0" anchor="t">
            <a:spAutoFit/>
          </a:bodyPr>
          <a:lstStyle/>
          <a:p>
            <a:pPr algn="l"/>
            <a:r>
              <a:rPr sz="1050" b="0">
                <a:solidFill>
                  <a:srgbClr val="6F7399"/>
                </a:solidFill>
                <a:latin typeface="Calibri"/>
              </a:rPr>
              <a:t>Not claimed at this size. A laptop checks all 256 plans in about 1 ms, so it is our referee.</a:t>
            </a:r>
          </a:p>
        </p:txBody>
      </p:sp>
      <p:sp>
        <p:nvSpPr>
          <p:cNvPr id="55" name="Claim card"/>
          <p:cNvSpPr/>
          <p:nvPr/>
        </p:nvSpPr>
        <p:spPr>
          <a:xfrm>
            <a:off x="3337560" y="3127248"/>
            <a:ext cx="2487168" cy="1325880"/>
          </a:xfrm>
          <a:prstGeom prst="roundRect">
            <a:avLst>
              <a:gd name="adj" fmla="val 8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3493008" y="3200400"/>
            <a:ext cx="2194560" cy="457200"/>
          </a:xfrm>
          <a:prstGeom prst="rect">
            <a:avLst/>
          </a:prstGeom>
          <a:noFill/>
        </p:spPr>
        <p:txBody>
          <a:bodyPr wrap="square" lIns="0" rIns="0" tIns="0" bIns="0" anchor="t">
            <a:spAutoFit/>
          </a:bodyPr>
          <a:lstStyle/>
          <a:p>
            <a:pPr algn="l"/>
            <a:r>
              <a:rPr sz="2600" b="1">
                <a:solidFill>
                  <a:srgbClr val="E8639F"/>
                </a:solidFill>
                <a:latin typeface="Georgia"/>
              </a:rPr>
              <a:t>≈2×</a:t>
            </a:r>
          </a:p>
        </p:txBody>
      </p:sp>
      <p:sp>
        <p:nvSpPr>
          <p:cNvPr id="57" name="TextBox 56"/>
          <p:cNvSpPr txBox="1"/>
          <p:nvPr/>
        </p:nvSpPr>
        <p:spPr>
          <a:xfrm>
            <a:off x="3493008" y="3703320"/>
            <a:ext cx="2194560" cy="694944"/>
          </a:xfrm>
          <a:prstGeom prst="rect">
            <a:avLst/>
          </a:prstGeom>
          <a:noFill/>
        </p:spPr>
        <p:txBody>
          <a:bodyPr wrap="square" lIns="0" rIns="0" tIns="0" bIns="0" anchor="t">
            <a:spAutoFit/>
          </a:bodyPr>
          <a:lstStyle/>
          <a:p>
            <a:pPr algn="l"/>
            <a:r>
              <a:rPr sz="1050" b="0">
                <a:solidFill>
                  <a:srgbClr val="6F7399"/>
                </a:solidFill>
                <a:latin typeface="Calibri"/>
              </a:rPr>
              <a:t>more shots in the best 10% of plans than random guessing on ibm_marrakesh (18–23% vs 10%)</a:t>
            </a:r>
          </a:p>
        </p:txBody>
      </p:sp>
      <p:sp>
        <p:nvSpPr>
          <p:cNvPr id="58" name="Claim card"/>
          <p:cNvSpPr/>
          <p:nvPr/>
        </p:nvSpPr>
        <p:spPr>
          <a:xfrm>
            <a:off x="5961888" y="3127248"/>
            <a:ext cx="2487168" cy="1325880"/>
          </a:xfrm>
          <a:prstGeom prst="roundRect">
            <a:avLst>
              <a:gd name="adj" fmla="val 8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Icon circle layers"/>
          <p:cNvSpPr/>
          <p:nvPr/>
        </p:nvSpPr>
        <p:spPr>
          <a:xfrm>
            <a:off x="6117336" y="3264408"/>
            <a:ext cx="347472" cy="347472"/>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0" name="Picture 59" descr="layers_w.png"/>
          <p:cNvPicPr>
            <a:picLocks noChangeAspect="1"/>
          </p:cNvPicPr>
          <p:nvPr/>
        </p:nvPicPr>
        <p:blipFill>
          <a:blip r:embed="rId4"/>
          <a:stretch>
            <a:fillRect/>
          </a:stretch>
        </p:blipFill>
        <p:spPr>
          <a:xfrm>
            <a:off x="6200729" y="3347801"/>
            <a:ext cx="180685" cy="180685"/>
          </a:xfrm>
          <a:prstGeom prst="rect">
            <a:avLst/>
          </a:prstGeom>
        </p:spPr>
      </p:pic>
      <p:sp>
        <p:nvSpPr>
          <p:cNvPr id="61" name="TextBox 60"/>
          <p:cNvSpPr txBox="1"/>
          <p:nvPr/>
        </p:nvSpPr>
        <p:spPr>
          <a:xfrm>
            <a:off x="6556248" y="3291840"/>
            <a:ext cx="1783080" cy="292608"/>
          </a:xfrm>
          <a:prstGeom prst="rect">
            <a:avLst/>
          </a:prstGeom>
          <a:noFill/>
        </p:spPr>
        <p:txBody>
          <a:bodyPr wrap="square" lIns="0" rIns="0" tIns="0" bIns="0" anchor="ctr">
            <a:spAutoFit/>
          </a:bodyPr>
          <a:lstStyle/>
          <a:p>
            <a:pPr algn="l"/>
            <a:r>
              <a:rPr sz="1250" b="1">
                <a:solidFill>
                  <a:srgbClr val="2E1B5B"/>
                </a:solidFill>
                <a:latin typeface="Calibri"/>
              </a:rPr>
              <a:t>Path to scale</a:t>
            </a:r>
          </a:p>
        </p:txBody>
      </p:sp>
      <p:sp>
        <p:nvSpPr>
          <p:cNvPr id="62" name="TextBox 61"/>
          <p:cNvSpPr txBox="1"/>
          <p:nvPr/>
        </p:nvSpPr>
        <p:spPr>
          <a:xfrm>
            <a:off x="6117336" y="3703320"/>
            <a:ext cx="2194560" cy="694944"/>
          </a:xfrm>
          <a:prstGeom prst="rect">
            <a:avLst/>
          </a:prstGeom>
          <a:noFill/>
        </p:spPr>
        <p:txBody>
          <a:bodyPr wrap="square" lIns="0" rIns="0" tIns="0" bIns="0" anchor="t">
            <a:spAutoFit/>
          </a:bodyPr>
          <a:lstStyle/>
          <a:p>
            <a:pPr algn="l"/>
            <a:r>
              <a:rPr sz="1050" b="0">
                <a:solidFill>
                  <a:srgbClr val="6F7399"/>
                </a:solidFill>
                <a:latin typeface="Calibri"/>
              </a:rPr>
              <a:t>Qubits grow linearly: 2 per job. Bigger fleets need better hardware.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Algorithm &amp; Circuit Design</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Insert area"/>
          <p:cNvSpPr/>
          <p:nvPr/>
        </p:nvSpPr>
        <p:spPr>
          <a:xfrm>
            <a:off x="457200" y="1691640"/>
            <a:ext cx="4937760" cy="2926080"/>
          </a:xfrm>
          <a:prstGeom prst="roundRect">
            <a:avLst>
              <a:gd name="adj" fmla="val 2500"/>
            </a:avLst>
          </a:prstGeom>
          <a:solidFill>
            <a:srgbClr val="FFFFFF"/>
          </a:solidFill>
          <a:ln w="9525">
            <a:solidFill>
              <a:srgbClr val="B8BDEB"/>
            </a:solidFill>
            <a:prstDash val="solid"/>
          </a:ln>
        </p:spPr>
      </p:sp>
      <p:sp>
        <p:nvSpPr>
          <p:cNvPr id="8" name="Content card"/>
          <p:cNvSpPr/>
          <p:nvPr/>
        </p:nvSpPr>
        <p:spPr>
          <a:xfrm>
            <a:off x="5577840" y="1691640"/>
            <a:ext cx="3108960" cy="2926080"/>
          </a:xfrm>
          <a:prstGeom prst="roundRect">
            <a:avLst>
              <a:gd name="adj" fmla="val 2500"/>
            </a:avLst>
          </a:prstGeom>
          <a:solidFill>
            <a:srgbClr val="FFFFFF"/>
          </a:solidFill>
          <a:ln w="9525">
            <a:solidFill>
              <a:srgbClr val="B8BDEB"/>
            </a:solidFill>
            <a:prstDash val="solid"/>
          </a:ln>
        </p:spPr>
      </p:sp>
      <p:sp>
        <p:nvSpPr>
          <p:cNvPr id="9" name="Card accent"/>
          <p:cNvSpPr/>
          <p:nvPr/>
        </p:nvSpPr>
        <p:spPr>
          <a:xfrm>
            <a:off x="5806440" y="1691640"/>
            <a:ext cx="822960" cy="54864"/>
          </a:xfrm>
          <a:prstGeom prst="rect">
            <a:avLst/>
          </a:prstGeom>
          <a:solidFill>
            <a:srgbClr val="7C93F0"/>
          </a:solidFill>
          <a:ln w="12700">
            <a:solidFill>
              <a:srgbClr val="7C93F0"/>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5</a:t>
            </a:fld>
            <a:endParaRPr lang="en-US"/>
          </a:p>
        </p:txBody>
      </p:sp>
      <p:pic>
        <p:nvPicPr>
          <p:cNvPr id="26" name="Picture 25" descr="circuit.png"/>
          <p:cNvPicPr>
            <a:picLocks noChangeAspect="1"/>
          </p:cNvPicPr>
          <p:nvPr/>
        </p:nvPicPr>
        <p:blipFill>
          <a:blip r:embed="rId3"/>
          <a:stretch>
            <a:fillRect/>
          </a:stretch>
        </p:blipFill>
        <p:spPr>
          <a:xfrm>
            <a:off x="640080" y="1901952"/>
            <a:ext cx="4572000" cy="1939460"/>
          </a:xfrm>
          <a:prstGeom prst="rect">
            <a:avLst/>
          </a:prstGeom>
        </p:spPr>
      </p:pic>
      <p:sp>
        <p:nvSpPr>
          <p:cNvPr id="27" name="TextBox 26"/>
          <p:cNvSpPr txBox="1"/>
          <p:nvPr/>
        </p:nvSpPr>
        <p:spPr>
          <a:xfrm>
            <a:off x="640080" y="4005072"/>
            <a:ext cx="4572000" cy="457200"/>
          </a:xfrm>
          <a:prstGeom prst="rect">
            <a:avLst/>
          </a:prstGeom>
          <a:noFill/>
        </p:spPr>
        <p:txBody>
          <a:bodyPr wrap="square" lIns="0" rIns="0" tIns="0" bIns="0" anchor="t">
            <a:spAutoFit/>
          </a:bodyPr>
          <a:lstStyle/>
          <a:p>
            <a:pPr algn="l"/>
            <a:r>
              <a:rPr sz="1000" b="0">
                <a:solidFill>
                  <a:srgbClr val="6F7399"/>
                </a:solidFill>
                <a:latin typeface="Calibri"/>
              </a:rPr>
              <a:t>The real 8-qubit QAOA circuit (p = 1): Hadamards → cost layer e^(−iγH) → mixer Rx(2β) → measure. Two qubits per job.</a:t>
            </a:r>
          </a:p>
        </p:txBody>
      </p:sp>
      <p:sp>
        <p:nvSpPr>
          <p:cNvPr id="28" name="TextBox 27"/>
          <p:cNvSpPr txBox="1"/>
          <p:nvPr/>
        </p:nvSpPr>
        <p:spPr>
          <a:xfrm>
            <a:off x="5806440" y="1901952"/>
            <a:ext cx="2697480" cy="182880"/>
          </a:xfrm>
          <a:prstGeom prst="rect">
            <a:avLst/>
          </a:prstGeom>
          <a:noFill/>
        </p:spPr>
        <p:txBody>
          <a:bodyPr wrap="square" lIns="0" rIns="0" tIns="0" bIns="0" anchor="t">
            <a:spAutoFit/>
          </a:bodyPr>
          <a:lstStyle/>
          <a:p>
            <a:pPr algn="l"/>
            <a:r>
              <a:rPr sz="850" b="1" spc="80">
                <a:solidFill>
                  <a:srgbClr val="5B3BA8"/>
                </a:solidFill>
                <a:latin typeface="Calibri"/>
              </a:rPr>
              <a:t>QUBITS</a:t>
            </a:r>
          </a:p>
        </p:txBody>
      </p:sp>
      <p:sp>
        <p:nvSpPr>
          <p:cNvPr id="29" name="TextBox 28"/>
          <p:cNvSpPr txBox="1"/>
          <p:nvPr/>
        </p:nvSpPr>
        <p:spPr>
          <a:xfrm>
            <a:off x="5806440" y="2075688"/>
            <a:ext cx="2697480" cy="228600"/>
          </a:xfrm>
          <a:prstGeom prst="rect">
            <a:avLst/>
          </a:prstGeom>
          <a:noFill/>
        </p:spPr>
        <p:txBody>
          <a:bodyPr wrap="square" lIns="0" rIns="0" tIns="0" bIns="0" anchor="t">
            <a:spAutoFit/>
          </a:bodyPr>
          <a:lstStyle/>
          <a:p>
            <a:pPr algn="l"/>
            <a:r>
              <a:rPr sz="1150" b="0">
                <a:solidFill>
                  <a:srgbClr val="2E1B5B"/>
                </a:solidFill>
                <a:latin typeface="Calibri"/>
              </a:rPr>
              <a:t>8 · a where + when bit per job</a:t>
            </a:r>
          </a:p>
        </p:txBody>
      </p:sp>
      <p:sp>
        <p:nvSpPr>
          <p:cNvPr id="30" name="TextBox 29"/>
          <p:cNvSpPr txBox="1"/>
          <p:nvPr/>
        </p:nvSpPr>
        <p:spPr>
          <a:xfrm>
            <a:off x="5806440" y="2331720"/>
            <a:ext cx="2697480" cy="182880"/>
          </a:xfrm>
          <a:prstGeom prst="rect">
            <a:avLst/>
          </a:prstGeom>
          <a:noFill/>
        </p:spPr>
        <p:txBody>
          <a:bodyPr wrap="square" lIns="0" rIns="0" tIns="0" bIns="0" anchor="t">
            <a:spAutoFit/>
          </a:bodyPr>
          <a:lstStyle/>
          <a:p>
            <a:pPr algn="l"/>
            <a:r>
              <a:rPr sz="850" b="1" spc="80">
                <a:solidFill>
                  <a:srgbClr val="5B3BA8"/>
                </a:solidFill>
                <a:latin typeface="Calibri"/>
              </a:rPr>
              <a:t>COST HAMILTONIAN</a:t>
            </a:r>
          </a:p>
        </p:txBody>
      </p:sp>
      <p:sp>
        <p:nvSpPr>
          <p:cNvPr id="31" name="TextBox 30"/>
          <p:cNvSpPr txBox="1"/>
          <p:nvPr/>
        </p:nvSpPr>
        <p:spPr>
          <a:xfrm>
            <a:off x="5806440" y="2505456"/>
            <a:ext cx="2697480" cy="228600"/>
          </a:xfrm>
          <a:prstGeom prst="rect">
            <a:avLst/>
          </a:prstGeom>
          <a:noFill/>
        </p:spPr>
        <p:txBody>
          <a:bodyPr wrap="square" lIns="0" rIns="0" tIns="0" bIns="0" anchor="t">
            <a:spAutoFit/>
          </a:bodyPr>
          <a:lstStyle/>
          <a:p>
            <a:pPr algn="l"/>
            <a:r>
              <a:rPr sz="1150" b="0">
                <a:solidFill>
                  <a:srgbClr val="2E1B5B"/>
                </a:solidFill>
                <a:latin typeface="Calibri"/>
              </a:rPr>
              <a:t>31 Pauli terms, tested on all 256</a:t>
            </a:r>
          </a:p>
        </p:txBody>
      </p:sp>
      <p:sp>
        <p:nvSpPr>
          <p:cNvPr id="32" name="TextBox 31"/>
          <p:cNvSpPr txBox="1"/>
          <p:nvPr/>
        </p:nvSpPr>
        <p:spPr>
          <a:xfrm>
            <a:off x="5806440" y="2761488"/>
            <a:ext cx="2697480" cy="182880"/>
          </a:xfrm>
          <a:prstGeom prst="rect">
            <a:avLst/>
          </a:prstGeom>
          <a:noFill/>
        </p:spPr>
        <p:txBody>
          <a:bodyPr wrap="square" lIns="0" rIns="0" tIns="0" bIns="0" anchor="t">
            <a:spAutoFit/>
          </a:bodyPr>
          <a:lstStyle/>
          <a:p>
            <a:pPr algn="l"/>
            <a:r>
              <a:rPr sz="850" b="1" spc="80">
                <a:solidFill>
                  <a:srgbClr val="5B3BA8"/>
                </a:solidFill>
                <a:latin typeface="Calibri"/>
              </a:rPr>
              <a:t>TRAINING</a:t>
            </a:r>
          </a:p>
        </p:txBody>
      </p:sp>
      <p:sp>
        <p:nvSpPr>
          <p:cNvPr id="33" name="TextBox 32"/>
          <p:cNvSpPr txBox="1"/>
          <p:nvPr/>
        </p:nvSpPr>
        <p:spPr>
          <a:xfrm>
            <a:off x="5806440" y="2935224"/>
            <a:ext cx="2697480" cy="228600"/>
          </a:xfrm>
          <a:prstGeom prst="rect">
            <a:avLst/>
          </a:prstGeom>
          <a:noFill/>
        </p:spPr>
        <p:txBody>
          <a:bodyPr wrap="square" lIns="0" rIns="0" tIns="0" bIns="0" anchor="t">
            <a:spAutoFit/>
          </a:bodyPr>
          <a:lstStyle/>
          <a:p>
            <a:pPr algn="l"/>
            <a:r>
              <a:rPr sz="1150" b="0">
                <a:solidFill>
                  <a:srgbClr val="2E1B5B"/>
                </a:solidFill>
                <a:latin typeface="Calibri"/>
              </a:rPr>
              <a:t>CVaR + COBYLA on a simulator</a:t>
            </a:r>
          </a:p>
        </p:txBody>
      </p:sp>
      <p:sp>
        <p:nvSpPr>
          <p:cNvPr id="34" name="TextBox 33"/>
          <p:cNvSpPr txBox="1"/>
          <p:nvPr/>
        </p:nvSpPr>
        <p:spPr>
          <a:xfrm>
            <a:off x="5806440" y="3191256"/>
            <a:ext cx="2697480" cy="182880"/>
          </a:xfrm>
          <a:prstGeom prst="rect">
            <a:avLst/>
          </a:prstGeom>
          <a:noFill/>
        </p:spPr>
        <p:txBody>
          <a:bodyPr wrap="square" lIns="0" rIns="0" tIns="0" bIns="0" anchor="t">
            <a:spAutoFit/>
          </a:bodyPr>
          <a:lstStyle/>
          <a:p>
            <a:pPr algn="l"/>
            <a:r>
              <a:rPr sz="850" b="1" spc="80">
                <a:solidFill>
                  <a:srgbClr val="5B3BA8"/>
                </a:solidFill>
                <a:latin typeface="Calibri"/>
              </a:rPr>
              <a:t>ANGLES (BALANCED)</a:t>
            </a:r>
          </a:p>
        </p:txBody>
      </p:sp>
      <p:sp>
        <p:nvSpPr>
          <p:cNvPr id="35" name="TextBox 34"/>
          <p:cNvSpPr txBox="1"/>
          <p:nvPr/>
        </p:nvSpPr>
        <p:spPr>
          <a:xfrm>
            <a:off x="5806440" y="3364992"/>
            <a:ext cx="2697480" cy="228600"/>
          </a:xfrm>
          <a:prstGeom prst="rect">
            <a:avLst/>
          </a:prstGeom>
          <a:noFill/>
        </p:spPr>
        <p:txBody>
          <a:bodyPr wrap="square" lIns="0" rIns="0" tIns="0" bIns="0" anchor="t">
            <a:spAutoFit/>
          </a:bodyPr>
          <a:lstStyle/>
          <a:p>
            <a:pPr algn="l"/>
            <a:r>
              <a:rPr sz="1150" b="0">
                <a:solidFill>
                  <a:srgbClr val="2E1B5B"/>
                </a:solidFill>
                <a:latin typeface="Calibri"/>
              </a:rPr>
              <a:t>γ = 0.321 · β = 2.877</a:t>
            </a:r>
          </a:p>
        </p:txBody>
      </p:sp>
      <p:sp>
        <p:nvSpPr>
          <p:cNvPr id="36" name="TextBox 35"/>
          <p:cNvSpPr txBox="1"/>
          <p:nvPr/>
        </p:nvSpPr>
        <p:spPr>
          <a:xfrm>
            <a:off x="5806440" y="3621024"/>
            <a:ext cx="2697480" cy="182880"/>
          </a:xfrm>
          <a:prstGeom prst="rect">
            <a:avLst/>
          </a:prstGeom>
          <a:noFill/>
        </p:spPr>
        <p:txBody>
          <a:bodyPr wrap="square" lIns="0" rIns="0" tIns="0" bIns="0" anchor="t">
            <a:spAutoFit/>
          </a:bodyPr>
          <a:lstStyle/>
          <a:p>
            <a:pPr algn="l"/>
            <a:r>
              <a:rPr sz="850" b="1" spc="80">
                <a:solidFill>
                  <a:srgbClr val="5B3BA8"/>
                </a:solidFill>
                <a:latin typeface="Calibri"/>
              </a:rPr>
              <a:t>ON IBM_MARRAKESH</a:t>
            </a:r>
          </a:p>
        </p:txBody>
      </p:sp>
      <p:sp>
        <p:nvSpPr>
          <p:cNvPr id="37" name="TextBox 36"/>
          <p:cNvSpPr txBox="1"/>
          <p:nvPr/>
        </p:nvSpPr>
        <p:spPr>
          <a:xfrm>
            <a:off x="5806440" y="3794760"/>
            <a:ext cx="2697480" cy="228600"/>
          </a:xfrm>
          <a:prstGeom prst="rect">
            <a:avLst/>
          </a:prstGeom>
          <a:noFill/>
        </p:spPr>
        <p:txBody>
          <a:bodyPr wrap="square" lIns="0" rIns="0" tIns="0" bIns="0" anchor="t">
            <a:spAutoFit/>
          </a:bodyPr>
          <a:lstStyle/>
          <a:p>
            <a:pPr algn="l"/>
            <a:r>
              <a:rPr sz="1150" b="0">
                <a:solidFill>
                  <a:srgbClr val="2E1B5B"/>
                </a:solidFill>
                <a:latin typeface="Calibri"/>
              </a:rPr>
              <a:t>114 two-qubit gates · depth 247</a:t>
            </a:r>
          </a:p>
        </p:txBody>
      </p:sp>
      <p:sp>
        <p:nvSpPr>
          <p:cNvPr id="38" name="TextBox 37"/>
          <p:cNvSpPr txBox="1"/>
          <p:nvPr/>
        </p:nvSpPr>
        <p:spPr>
          <a:xfrm>
            <a:off x="5806440" y="4050791"/>
            <a:ext cx="2697480" cy="182880"/>
          </a:xfrm>
          <a:prstGeom prst="rect">
            <a:avLst/>
          </a:prstGeom>
          <a:noFill/>
        </p:spPr>
        <p:txBody>
          <a:bodyPr wrap="square" lIns="0" rIns="0" tIns="0" bIns="0" anchor="t">
            <a:spAutoFit/>
          </a:bodyPr>
          <a:lstStyle/>
          <a:p>
            <a:pPr algn="l"/>
            <a:r>
              <a:rPr sz="850" b="1" spc="80">
                <a:solidFill>
                  <a:srgbClr val="5B3BA8"/>
                </a:solidFill>
                <a:latin typeface="Calibri"/>
              </a:rPr>
              <a:t>SHOTS</a:t>
            </a:r>
          </a:p>
        </p:txBody>
      </p:sp>
      <p:sp>
        <p:nvSpPr>
          <p:cNvPr id="39" name="TextBox 38"/>
          <p:cNvSpPr txBox="1"/>
          <p:nvPr/>
        </p:nvSpPr>
        <p:spPr>
          <a:xfrm>
            <a:off x="5806440" y="4224528"/>
            <a:ext cx="2697480" cy="228600"/>
          </a:xfrm>
          <a:prstGeom prst="rect">
            <a:avLst/>
          </a:prstGeom>
          <a:noFill/>
        </p:spPr>
        <p:txBody>
          <a:bodyPr wrap="square" lIns="0" rIns="0" tIns="0" bIns="0" anchor="t">
            <a:spAutoFit/>
          </a:bodyPr>
          <a:lstStyle/>
          <a:p>
            <a:pPr algn="l"/>
            <a:r>
              <a:rPr sz="1150" b="0">
                <a:solidFill>
                  <a:srgbClr val="2E1B5B"/>
                </a:solidFill>
                <a:latin typeface="Calibri"/>
              </a:rPr>
              <a:t>4,000 per run · 7 runs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Implementation &amp; Tech Stack</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6</a:t>
            </a:fld>
            <a:endParaRPr lang="en-US"/>
          </a:p>
        </p:txBody>
      </p:sp>
      <p:sp>
        <p:nvSpPr>
          <p:cNvPr id="26" name="TextBox 25"/>
          <p:cNvSpPr txBox="1"/>
          <p:nvPr/>
        </p:nvSpPr>
        <p:spPr>
          <a:xfrm>
            <a:off x="731520" y="1901952"/>
            <a:ext cx="2743200" cy="201168"/>
          </a:xfrm>
          <a:prstGeom prst="rect">
            <a:avLst/>
          </a:prstGeom>
          <a:noFill/>
        </p:spPr>
        <p:txBody>
          <a:bodyPr wrap="square" lIns="0" rIns="0" tIns="0" bIns="0" anchor="t">
            <a:spAutoFit/>
          </a:bodyPr>
          <a:lstStyle/>
          <a:p>
            <a:pPr algn="l"/>
            <a:r>
              <a:rPr sz="900" b="1" spc="100">
                <a:solidFill>
                  <a:srgbClr val="5B3BA8"/>
                </a:solidFill>
                <a:latin typeface="Calibri"/>
              </a:rPr>
              <a:t>HOW IT IS BUILT</a:t>
            </a:r>
          </a:p>
        </p:txBody>
      </p:sp>
      <p:sp>
        <p:nvSpPr>
          <p:cNvPr id="27" name="Layer Web app"/>
          <p:cNvSpPr/>
          <p:nvPr/>
        </p:nvSpPr>
        <p:spPr>
          <a:xfrm>
            <a:off x="731520" y="2194560"/>
            <a:ext cx="3429000" cy="603504"/>
          </a:xfrm>
          <a:prstGeom prst="roundRect">
            <a:avLst>
              <a:gd name="adj" fmla="val 8000"/>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con circle layers"/>
          <p:cNvSpPr/>
          <p:nvPr/>
        </p:nvSpPr>
        <p:spPr>
          <a:xfrm>
            <a:off x="868680" y="2322576"/>
            <a:ext cx="347472" cy="347472"/>
          </a:xfrm>
          <a:prstGeom prst="ellipse">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layers_w.png"/>
          <p:cNvPicPr>
            <a:picLocks noChangeAspect="1"/>
          </p:cNvPicPr>
          <p:nvPr/>
        </p:nvPicPr>
        <p:blipFill>
          <a:blip r:embed="rId3"/>
          <a:stretch>
            <a:fillRect/>
          </a:stretch>
        </p:blipFill>
        <p:spPr>
          <a:xfrm>
            <a:off x="952073" y="2405969"/>
            <a:ext cx="180685" cy="180685"/>
          </a:xfrm>
          <a:prstGeom prst="rect">
            <a:avLst/>
          </a:prstGeom>
        </p:spPr>
      </p:pic>
      <p:sp>
        <p:nvSpPr>
          <p:cNvPr id="30" name="TextBox 29"/>
          <p:cNvSpPr txBox="1"/>
          <p:nvPr/>
        </p:nvSpPr>
        <p:spPr>
          <a:xfrm>
            <a:off x="1325880" y="2276856"/>
            <a:ext cx="2743200" cy="228600"/>
          </a:xfrm>
          <a:prstGeom prst="rect">
            <a:avLst/>
          </a:prstGeom>
          <a:noFill/>
        </p:spPr>
        <p:txBody>
          <a:bodyPr wrap="square" lIns="0" rIns="0" tIns="0" bIns="0" anchor="t">
            <a:spAutoFit/>
          </a:bodyPr>
          <a:lstStyle/>
          <a:p>
            <a:pPr algn="l"/>
            <a:r>
              <a:rPr sz="1200" b="1">
                <a:solidFill>
                  <a:srgbClr val="FFFFFF"/>
                </a:solidFill>
                <a:latin typeface="Calibri"/>
              </a:rPr>
              <a:t>Web app</a:t>
            </a:r>
          </a:p>
        </p:txBody>
      </p:sp>
      <p:sp>
        <p:nvSpPr>
          <p:cNvPr id="31" name="TextBox 30"/>
          <p:cNvSpPr txBox="1"/>
          <p:nvPr/>
        </p:nvSpPr>
        <p:spPr>
          <a:xfrm>
            <a:off x="1325880" y="2514600"/>
            <a:ext cx="2743200" cy="228600"/>
          </a:xfrm>
          <a:prstGeom prst="rect">
            <a:avLst/>
          </a:prstGeom>
          <a:noFill/>
        </p:spPr>
        <p:txBody>
          <a:bodyPr wrap="square" lIns="0" rIns="0" tIns="0" bIns="0" anchor="t">
            <a:spAutoFit/>
          </a:bodyPr>
          <a:lstStyle/>
          <a:p>
            <a:pPr algn="l"/>
            <a:r>
              <a:rPr sz="1000" b="0">
                <a:solidFill>
                  <a:srgbClr val="CBD1F5"/>
                </a:solidFill>
                <a:latin typeface="Calibri"/>
              </a:rPr>
              <a:t>React + Vite · Motion · Dewy, the guide</a:t>
            </a:r>
          </a:p>
        </p:txBody>
      </p:sp>
      <p:sp>
        <p:nvSpPr>
          <p:cNvPr id="32" name="Layer API + AI layer"/>
          <p:cNvSpPr/>
          <p:nvPr/>
        </p:nvSpPr>
        <p:spPr>
          <a:xfrm>
            <a:off x="731520" y="2907791"/>
            <a:ext cx="3429000" cy="603504"/>
          </a:xfrm>
          <a:prstGeom prst="roundRect">
            <a:avLst>
              <a:gd name="adj" fmla="val 8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Icon circle chat"/>
          <p:cNvSpPr/>
          <p:nvPr/>
        </p:nvSpPr>
        <p:spPr>
          <a:xfrm>
            <a:off x="868680" y="3035808"/>
            <a:ext cx="347472" cy="347472"/>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chat_w.png"/>
          <p:cNvPicPr>
            <a:picLocks noChangeAspect="1"/>
          </p:cNvPicPr>
          <p:nvPr/>
        </p:nvPicPr>
        <p:blipFill>
          <a:blip r:embed="rId4"/>
          <a:stretch>
            <a:fillRect/>
          </a:stretch>
        </p:blipFill>
        <p:spPr>
          <a:xfrm>
            <a:off x="952073" y="3119201"/>
            <a:ext cx="180685" cy="180685"/>
          </a:xfrm>
          <a:prstGeom prst="rect">
            <a:avLst/>
          </a:prstGeom>
        </p:spPr>
      </p:pic>
      <p:sp>
        <p:nvSpPr>
          <p:cNvPr id="35" name="TextBox 34"/>
          <p:cNvSpPr txBox="1"/>
          <p:nvPr/>
        </p:nvSpPr>
        <p:spPr>
          <a:xfrm>
            <a:off x="1325880" y="2990087"/>
            <a:ext cx="2743200" cy="228600"/>
          </a:xfrm>
          <a:prstGeom prst="rect">
            <a:avLst/>
          </a:prstGeom>
          <a:noFill/>
        </p:spPr>
        <p:txBody>
          <a:bodyPr wrap="square" lIns="0" rIns="0" tIns="0" bIns="0" anchor="t">
            <a:spAutoFit/>
          </a:bodyPr>
          <a:lstStyle/>
          <a:p>
            <a:pPr algn="l"/>
            <a:r>
              <a:rPr sz="1200" b="1">
                <a:solidFill>
                  <a:srgbClr val="FFFFFF"/>
                </a:solidFill>
                <a:latin typeface="Calibri"/>
              </a:rPr>
              <a:t>API + AI layer</a:t>
            </a:r>
          </a:p>
        </p:txBody>
      </p:sp>
      <p:sp>
        <p:nvSpPr>
          <p:cNvPr id="36" name="TextBox 35"/>
          <p:cNvSpPr txBox="1"/>
          <p:nvPr/>
        </p:nvSpPr>
        <p:spPr>
          <a:xfrm>
            <a:off x="1325880" y="3227832"/>
            <a:ext cx="2743200" cy="228600"/>
          </a:xfrm>
          <a:prstGeom prst="rect">
            <a:avLst/>
          </a:prstGeom>
          <a:noFill/>
        </p:spPr>
        <p:txBody>
          <a:bodyPr wrap="square" lIns="0" rIns="0" tIns="0" bIns="0" anchor="t">
            <a:spAutoFit/>
          </a:bodyPr>
          <a:lstStyle/>
          <a:p>
            <a:pPr algn="l"/>
            <a:r>
              <a:rPr sz="1000" b="0">
                <a:solidFill>
                  <a:srgbClr val="CBD1F5"/>
                </a:solidFill>
                <a:latin typeface="Calibri"/>
              </a:rPr>
              <a:t>FastAPI · Groq LLM explains, never decides</a:t>
            </a:r>
          </a:p>
        </p:txBody>
      </p:sp>
      <p:sp>
        <p:nvSpPr>
          <p:cNvPr id="37" name="Layer Quantum core"/>
          <p:cNvSpPr/>
          <p:nvPr/>
        </p:nvSpPr>
        <p:spPr>
          <a:xfrm>
            <a:off x="731520" y="3621024"/>
            <a:ext cx="3429000" cy="603504"/>
          </a:xfrm>
          <a:prstGeom prst="roundRect">
            <a:avLst>
              <a:gd name="adj" fmla="val 8000"/>
            </a:avLst>
          </a:prstGeom>
          <a:solidFill>
            <a:srgbClr val="EE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Icon circle atom"/>
          <p:cNvSpPr/>
          <p:nvPr/>
        </p:nvSpPr>
        <p:spPr>
          <a:xfrm>
            <a:off x="868680" y="3749039"/>
            <a:ext cx="347472" cy="347472"/>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atom_w.png"/>
          <p:cNvPicPr>
            <a:picLocks noChangeAspect="1"/>
          </p:cNvPicPr>
          <p:nvPr/>
        </p:nvPicPr>
        <p:blipFill>
          <a:blip r:embed="rId5"/>
          <a:stretch>
            <a:fillRect/>
          </a:stretch>
        </p:blipFill>
        <p:spPr>
          <a:xfrm>
            <a:off x="952073" y="3832433"/>
            <a:ext cx="180685" cy="180685"/>
          </a:xfrm>
          <a:prstGeom prst="rect">
            <a:avLst/>
          </a:prstGeom>
        </p:spPr>
      </p:pic>
      <p:sp>
        <p:nvSpPr>
          <p:cNvPr id="40" name="TextBox 39"/>
          <p:cNvSpPr txBox="1"/>
          <p:nvPr/>
        </p:nvSpPr>
        <p:spPr>
          <a:xfrm>
            <a:off x="1325880" y="3703320"/>
            <a:ext cx="2743200" cy="228600"/>
          </a:xfrm>
          <a:prstGeom prst="rect">
            <a:avLst/>
          </a:prstGeom>
          <a:noFill/>
        </p:spPr>
        <p:txBody>
          <a:bodyPr wrap="square" lIns="0" rIns="0" tIns="0" bIns="0" anchor="t">
            <a:spAutoFit/>
          </a:bodyPr>
          <a:lstStyle/>
          <a:p>
            <a:pPr algn="l"/>
            <a:r>
              <a:rPr sz="1200" b="1">
                <a:solidFill>
                  <a:srgbClr val="2E1B5B"/>
                </a:solidFill>
                <a:latin typeface="Calibri"/>
              </a:rPr>
              <a:t>Quantum core</a:t>
            </a:r>
          </a:p>
        </p:txBody>
      </p:sp>
      <p:sp>
        <p:nvSpPr>
          <p:cNvPr id="41" name="TextBox 40"/>
          <p:cNvSpPr txBox="1"/>
          <p:nvPr/>
        </p:nvSpPr>
        <p:spPr>
          <a:xfrm>
            <a:off x="1325880" y="3941063"/>
            <a:ext cx="2743200" cy="228600"/>
          </a:xfrm>
          <a:prstGeom prst="rect">
            <a:avLst/>
          </a:prstGeom>
          <a:noFill/>
        </p:spPr>
        <p:txBody>
          <a:bodyPr wrap="square" lIns="0" rIns="0" tIns="0" bIns="0" anchor="t">
            <a:spAutoFit/>
          </a:bodyPr>
          <a:lstStyle/>
          <a:p>
            <a:pPr algn="l"/>
            <a:r>
              <a:rPr sz="1000" b="0">
                <a:solidFill>
                  <a:srgbClr val="6F7399"/>
                </a:solidFill>
                <a:latin typeface="Calibri"/>
              </a:rPr>
              <a:t>Qiskit 2.6 · QAOAAnsatz · Aer · Runtime</a:t>
            </a:r>
          </a:p>
        </p:txBody>
      </p:sp>
      <p:sp>
        <p:nvSpPr>
          <p:cNvPr id="42" name="Flow arrow"/>
          <p:cNvSpPr/>
          <p:nvPr/>
        </p:nvSpPr>
        <p:spPr>
          <a:xfrm>
            <a:off x="4206240" y="3730752"/>
            <a:ext cx="182880" cy="201168"/>
          </a:xfrm>
          <a:prstGeom prst="rightArrow">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IBM hardware box"/>
          <p:cNvSpPr/>
          <p:nvPr/>
        </p:nvSpPr>
        <p:spPr>
          <a:xfrm>
            <a:off x="4434840" y="3621024"/>
            <a:ext cx="777240" cy="603504"/>
          </a:xfrm>
          <a:prstGeom prst="roundRect">
            <a:avLst>
              <a:gd name="adj" fmla="val 8000"/>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434840" y="3621024"/>
            <a:ext cx="777240" cy="603504"/>
          </a:xfrm>
          <a:prstGeom prst="rect">
            <a:avLst/>
          </a:prstGeom>
          <a:noFill/>
        </p:spPr>
        <p:txBody>
          <a:bodyPr wrap="square" lIns="0" rIns="0" tIns="0" bIns="0" anchor="ctr">
            <a:spAutoFit/>
          </a:bodyPr>
          <a:lstStyle/>
          <a:p>
            <a:pPr algn="ctr"/>
            <a:r>
              <a:rPr sz="1100" b="1">
                <a:solidFill>
                  <a:srgbClr val="FFFFFF"/>
                </a:solidFill>
                <a:latin typeface="Calibri"/>
              </a:rPr>
              <a:t>IBM</a:t>
            </a:r>
          </a:p>
          <a:p>
            <a:pPr algn="ctr"/>
            <a:r>
              <a:rPr sz="900" b="0">
                <a:solidFill>
                  <a:srgbClr val="FFFFFF"/>
                </a:solidFill>
                <a:latin typeface="Calibri"/>
              </a:rPr>
              <a:t>marrakesh</a:t>
            </a:r>
          </a:p>
        </p:txBody>
      </p:sp>
      <p:sp>
        <p:nvSpPr>
          <p:cNvPr id="45" name="TextBox 44"/>
          <p:cNvSpPr txBox="1"/>
          <p:nvPr/>
        </p:nvSpPr>
        <p:spPr>
          <a:xfrm>
            <a:off x="731520" y="4334256"/>
            <a:ext cx="4480560" cy="228600"/>
          </a:xfrm>
          <a:prstGeom prst="rect">
            <a:avLst/>
          </a:prstGeom>
          <a:noFill/>
        </p:spPr>
        <p:txBody>
          <a:bodyPr wrap="square" lIns="0" rIns="0" tIns="0" bIns="0" anchor="t">
            <a:spAutoFit/>
          </a:bodyPr>
          <a:lstStyle/>
          <a:p>
            <a:pPr algn="l"/>
            <a:r>
              <a:rPr sz="1000" b="0">
                <a:solidFill>
                  <a:srgbClr val="6F7399"/>
                </a:solidFill>
                <a:latin typeface="Calibri"/>
              </a:rPr>
              <a:t>One command: python -m server · runs offline from saved results · pytest suite</a:t>
            </a:r>
          </a:p>
        </p:txBody>
      </p:sp>
      <p:pic>
        <p:nvPicPr>
          <p:cNvPr id="46" name="Picture 45" descr="app_schedule.png"/>
          <p:cNvPicPr>
            <a:picLocks noChangeAspect="1"/>
          </p:cNvPicPr>
          <p:nvPr/>
        </p:nvPicPr>
        <p:blipFill>
          <a:blip r:embed="rId6"/>
          <a:stretch>
            <a:fillRect/>
          </a:stretch>
        </p:blipFill>
        <p:spPr>
          <a:xfrm>
            <a:off x="5440680" y="1938528"/>
            <a:ext cx="3017520" cy="1967948"/>
          </a:xfrm>
          <a:prstGeom prst="rect">
            <a:avLst/>
          </a:prstGeom>
          <a:ln w="9525">
            <a:solidFill>
              <a:srgbClr val="B8BDEB"/>
            </a:solidFill>
          </a:ln>
        </p:spPr>
      </p:pic>
      <p:sp>
        <p:nvSpPr>
          <p:cNvPr id="47" name="TextBox 46"/>
          <p:cNvSpPr txBox="1"/>
          <p:nvPr/>
        </p:nvSpPr>
        <p:spPr>
          <a:xfrm>
            <a:off x="5440680" y="3950208"/>
            <a:ext cx="3017520" cy="411480"/>
          </a:xfrm>
          <a:prstGeom prst="rect">
            <a:avLst/>
          </a:prstGeom>
          <a:noFill/>
        </p:spPr>
        <p:txBody>
          <a:bodyPr wrap="square" lIns="0" rIns="0" tIns="0" bIns="0" anchor="t">
            <a:spAutoFit/>
          </a:bodyPr>
          <a:lstStyle/>
          <a:p>
            <a:pPr algn="l"/>
            <a:r>
              <a:rPr sz="1000" b="0">
                <a:solidFill>
                  <a:srgbClr val="6F7399"/>
                </a:solidFill>
                <a:latin typeface="Calibri"/>
              </a:rPr>
              <a:t>The demo app: six screens, real saved results, an AI guide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Results &amp; Analysis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Insert area"/>
          <p:cNvSpPr/>
          <p:nvPr/>
        </p:nvSpPr>
        <p:spPr>
          <a:xfrm>
            <a:off x="457200" y="1691640"/>
            <a:ext cx="4937760" cy="2926080"/>
          </a:xfrm>
          <a:prstGeom prst="roundRect">
            <a:avLst>
              <a:gd name="adj" fmla="val 2500"/>
            </a:avLst>
          </a:prstGeom>
          <a:solidFill>
            <a:srgbClr val="FFFFFF"/>
          </a:solidFill>
          <a:ln w="9525">
            <a:solidFill>
              <a:srgbClr val="B8BDEB"/>
            </a:solidFill>
            <a:prstDash val="solid"/>
          </a:ln>
        </p:spPr>
      </p:sp>
      <p:sp>
        <p:nvSpPr>
          <p:cNvPr id="8" name="Content card"/>
          <p:cNvSpPr/>
          <p:nvPr/>
        </p:nvSpPr>
        <p:spPr>
          <a:xfrm>
            <a:off x="5577840" y="1691640"/>
            <a:ext cx="3108960" cy="2926080"/>
          </a:xfrm>
          <a:prstGeom prst="roundRect">
            <a:avLst>
              <a:gd name="adj" fmla="val 2500"/>
            </a:avLst>
          </a:prstGeom>
          <a:solidFill>
            <a:srgbClr val="FFFFFF"/>
          </a:solidFill>
          <a:ln w="9525">
            <a:solidFill>
              <a:srgbClr val="B8BDEB"/>
            </a:solidFill>
            <a:prstDash val="solid"/>
          </a:ln>
        </p:spPr>
      </p:sp>
      <p:sp>
        <p:nvSpPr>
          <p:cNvPr id="9" name="Card accent"/>
          <p:cNvSpPr/>
          <p:nvPr/>
        </p:nvSpPr>
        <p:spPr>
          <a:xfrm>
            <a:off x="5806440" y="1691640"/>
            <a:ext cx="822960" cy="54864"/>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7</a:t>
            </a:fld>
            <a:endParaRPr lang="en-US"/>
          </a:p>
        </p:txBody>
      </p:sp>
      <p:graphicFrame>
        <p:nvGraphicFramePr>
          <p:cNvPr id="26" name="Chart shots in best 10%"/>
          <p:cNvGraphicFramePr>
            <a:graphicFrameLocks noGrp="1"/>
          </p:cNvGraphicFramePr>
          <p:nvPr/>
        </p:nvGraphicFramePr>
        <p:xfrm>
          <a:off x="594360" y="1783080"/>
          <a:ext cx="4663440" cy="2761488"/>
        </p:xfrm>
        <a:graphic>
          <a:graphicData uri="http://schemas.openxmlformats.org/drawingml/2006/chart">
            <c:chart xmlns:c="http://schemas.openxmlformats.org/drawingml/2006/chart" r:id="rId3"/>
          </a:graphicData>
        </a:graphic>
      </p:graphicFrame>
      <p:sp>
        <p:nvSpPr>
          <p:cNvPr id="27" name="TextBox 26"/>
          <p:cNvSpPr txBox="1"/>
          <p:nvPr/>
        </p:nvSpPr>
        <p:spPr>
          <a:xfrm>
            <a:off x="5806440" y="1883664"/>
            <a:ext cx="2743200" cy="201168"/>
          </a:xfrm>
          <a:prstGeom prst="rect">
            <a:avLst/>
          </a:prstGeom>
          <a:noFill/>
        </p:spPr>
        <p:txBody>
          <a:bodyPr wrap="square" lIns="0" rIns="0" tIns="0" bIns="0" anchor="t">
            <a:spAutoFit/>
          </a:bodyPr>
          <a:lstStyle/>
          <a:p>
            <a:pPr algn="l"/>
            <a:r>
              <a:rPr sz="900" b="1" spc="100">
                <a:solidFill>
                  <a:srgbClr val="5B3BA8"/>
                </a:solidFill>
                <a:latin typeface="Calibri"/>
              </a:rPr>
              <a:t>SAVED VS RUN-NOW (ILLUSTRATIVE)</a:t>
            </a:r>
          </a:p>
        </p:txBody>
      </p:sp>
      <p:sp>
        <p:nvSpPr>
          <p:cNvPr id="28" name="Icon circle leaf"/>
          <p:cNvSpPr/>
          <p:nvPr/>
        </p:nvSpPr>
        <p:spPr>
          <a:xfrm>
            <a:off x="5806440" y="2203703"/>
            <a:ext cx="365760" cy="365760"/>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leaf_w.png"/>
          <p:cNvPicPr>
            <a:picLocks noChangeAspect="1"/>
          </p:cNvPicPr>
          <p:nvPr/>
        </p:nvPicPr>
        <p:blipFill>
          <a:blip r:embed="rId4"/>
          <a:stretch>
            <a:fillRect/>
          </a:stretch>
        </p:blipFill>
        <p:spPr>
          <a:xfrm>
            <a:off x="5894222" y="2291486"/>
            <a:ext cx="190195" cy="190195"/>
          </a:xfrm>
          <a:prstGeom prst="rect">
            <a:avLst/>
          </a:prstGeom>
        </p:spPr>
      </p:pic>
      <p:sp>
        <p:nvSpPr>
          <p:cNvPr id="30" name="TextBox 29"/>
          <p:cNvSpPr txBox="1"/>
          <p:nvPr/>
        </p:nvSpPr>
        <p:spPr>
          <a:xfrm>
            <a:off x="6291072" y="2139696"/>
            <a:ext cx="2194560" cy="329184"/>
          </a:xfrm>
          <a:prstGeom prst="rect">
            <a:avLst/>
          </a:prstGeom>
          <a:noFill/>
        </p:spPr>
        <p:txBody>
          <a:bodyPr wrap="square" lIns="0" rIns="0" tIns="0" bIns="0" anchor="t">
            <a:spAutoFit/>
          </a:bodyPr>
          <a:lstStyle/>
          <a:p>
            <a:pPr algn="l"/>
            <a:r>
              <a:rPr sz="1800" b="1">
                <a:solidFill>
                  <a:srgbClr val="2E1B5B"/>
                </a:solidFill>
                <a:latin typeface="Georgia"/>
              </a:rPr>
              <a:t>−530 kg</a:t>
            </a:r>
          </a:p>
        </p:txBody>
      </p:sp>
      <p:sp>
        <p:nvSpPr>
          <p:cNvPr id="31" name="TextBox 30"/>
          <p:cNvSpPr txBox="1"/>
          <p:nvPr/>
        </p:nvSpPr>
        <p:spPr>
          <a:xfrm>
            <a:off x="6291072" y="2459736"/>
            <a:ext cx="2194560" cy="201168"/>
          </a:xfrm>
          <a:prstGeom prst="rect">
            <a:avLst/>
          </a:prstGeom>
          <a:noFill/>
        </p:spPr>
        <p:txBody>
          <a:bodyPr wrap="square" lIns="0" rIns="0" tIns="0" bIns="0" anchor="t">
            <a:spAutoFit/>
          </a:bodyPr>
          <a:lstStyle/>
          <a:p>
            <a:pPr algn="l"/>
            <a:r>
              <a:rPr sz="1000" b="0">
                <a:solidFill>
                  <a:srgbClr val="6F7399"/>
                </a:solidFill>
                <a:latin typeface="Calibri"/>
              </a:rPr>
              <a:t>CO₂ · −14%</a:t>
            </a:r>
          </a:p>
        </p:txBody>
      </p:sp>
      <p:sp>
        <p:nvSpPr>
          <p:cNvPr id="32" name="Icon circle drop"/>
          <p:cNvSpPr/>
          <p:nvPr/>
        </p:nvSpPr>
        <p:spPr>
          <a:xfrm>
            <a:off x="5806440" y="2807208"/>
            <a:ext cx="365760" cy="365760"/>
          </a:xfrm>
          <a:prstGeom prst="ellipse">
            <a:avLst/>
          </a:prstGeom>
          <a:solidFill>
            <a:srgbClr val="7C9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drop_w.png"/>
          <p:cNvPicPr>
            <a:picLocks noChangeAspect="1"/>
          </p:cNvPicPr>
          <p:nvPr/>
        </p:nvPicPr>
        <p:blipFill>
          <a:blip r:embed="rId5"/>
          <a:stretch>
            <a:fillRect/>
          </a:stretch>
        </p:blipFill>
        <p:spPr>
          <a:xfrm>
            <a:off x="5894222" y="2894990"/>
            <a:ext cx="190195" cy="190195"/>
          </a:xfrm>
          <a:prstGeom prst="rect">
            <a:avLst/>
          </a:prstGeom>
        </p:spPr>
      </p:pic>
      <p:sp>
        <p:nvSpPr>
          <p:cNvPr id="34" name="TextBox 33"/>
          <p:cNvSpPr txBox="1"/>
          <p:nvPr/>
        </p:nvSpPr>
        <p:spPr>
          <a:xfrm>
            <a:off x="6291072" y="2743200"/>
            <a:ext cx="2194560" cy="329184"/>
          </a:xfrm>
          <a:prstGeom prst="rect">
            <a:avLst/>
          </a:prstGeom>
          <a:noFill/>
        </p:spPr>
        <p:txBody>
          <a:bodyPr wrap="square" lIns="0" rIns="0" tIns="0" bIns="0" anchor="t">
            <a:spAutoFit/>
          </a:bodyPr>
          <a:lstStyle/>
          <a:p>
            <a:pPr algn="l"/>
            <a:r>
              <a:rPr sz="1800" b="1">
                <a:solidFill>
                  <a:srgbClr val="2E1B5B"/>
                </a:solidFill>
                <a:latin typeface="Georgia"/>
              </a:rPr>
              <a:t>−1,798 L</a:t>
            </a:r>
          </a:p>
        </p:txBody>
      </p:sp>
      <p:sp>
        <p:nvSpPr>
          <p:cNvPr id="35" name="TextBox 34"/>
          <p:cNvSpPr txBox="1"/>
          <p:nvPr/>
        </p:nvSpPr>
        <p:spPr>
          <a:xfrm>
            <a:off x="6291072" y="3063240"/>
            <a:ext cx="2194560" cy="201168"/>
          </a:xfrm>
          <a:prstGeom prst="rect">
            <a:avLst/>
          </a:prstGeom>
          <a:noFill/>
        </p:spPr>
        <p:txBody>
          <a:bodyPr wrap="square" lIns="0" rIns="0" tIns="0" bIns="0" anchor="t">
            <a:spAutoFit/>
          </a:bodyPr>
          <a:lstStyle/>
          <a:p>
            <a:pPr algn="l"/>
            <a:r>
              <a:rPr sz="1000" b="0">
                <a:solidFill>
                  <a:srgbClr val="6F7399"/>
                </a:solidFill>
                <a:latin typeface="Calibri"/>
              </a:rPr>
              <a:t>water · −14%</a:t>
            </a:r>
          </a:p>
        </p:txBody>
      </p:sp>
      <p:sp>
        <p:nvSpPr>
          <p:cNvPr id="36" name="Bullet dot"/>
          <p:cNvSpPr/>
          <p:nvPr/>
        </p:nvSpPr>
        <p:spPr>
          <a:xfrm>
            <a:off x="5824728" y="3520439"/>
            <a:ext cx="82296" cy="82296"/>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989320" y="3456432"/>
            <a:ext cx="2560320" cy="237744"/>
          </a:xfrm>
          <a:prstGeom prst="rect">
            <a:avLst/>
          </a:prstGeom>
          <a:noFill/>
        </p:spPr>
        <p:txBody>
          <a:bodyPr wrap="square" lIns="0" rIns="0" tIns="0" bIns="0" anchor="t">
            <a:spAutoFit/>
          </a:bodyPr>
          <a:lstStyle/>
          <a:p>
            <a:pPr algn="l"/>
            <a:r>
              <a:rPr sz="1050" b="0">
                <a:solidFill>
                  <a:srgbClr val="2E1B5B"/>
                </a:solidFill>
                <a:latin typeface="Calibri"/>
              </a:rPr>
              <a:t>7 runs on ibm_marrakesh · 21 s QPU</a:t>
            </a:r>
          </a:p>
        </p:txBody>
      </p:sp>
      <p:sp>
        <p:nvSpPr>
          <p:cNvPr id="38" name="Bullet dot"/>
          <p:cNvSpPr/>
          <p:nvPr/>
        </p:nvSpPr>
        <p:spPr>
          <a:xfrm>
            <a:off x="5824728" y="3785615"/>
            <a:ext cx="82296" cy="82296"/>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989320" y="3721607"/>
            <a:ext cx="2560320" cy="237744"/>
          </a:xfrm>
          <a:prstGeom prst="rect">
            <a:avLst/>
          </a:prstGeom>
          <a:noFill/>
        </p:spPr>
        <p:txBody>
          <a:bodyPr wrap="square" lIns="0" rIns="0" tIns="0" bIns="0" anchor="t">
            <a:spAutoFit/>
          </a:bodyPr>
          <a:lstStyle/>
          <a:p>
            <a:pPr algn="l"/>
            <a:r>
              <a:rPr sz="1050" b="0">
                <a:solidFill>
                  <a:srgbClr val="2E1B5B"/>
                </a:solidFill>
                <a:latin typeface="Calibri"/>
              </a:rPr>
              <a:t>Beats random by 14–19 std. errors</a:t>
            </a:r>
          </a:p>
        </p:txBody>
      </p:sp>
      <p:sp>
        <p:nvSpPr>
          <p:cNvPr id="40" name="Bullet dot"/>
          <p:cNvSpPr/>
          <p:nvPr/>
        </p:nvSpPr>
        <p:spPr>
          <a:xfrm>
            <a:off x="5824728" y="4050791"/>
            <a:ext cx="82296" cy="82296"/>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989320" y="3986783"/>
            <a:ext cx="2560320" cy="237744"/>
          </a:xfrm>
          <a:prstGeom prst="rect">
            <a:avLst/>
          </a:prstGeom>
          <a:noFill/>
        </p:spPr>
        <p:txBody>
          <a:bodyPr wrap="square" lIns="0" rIns="0" tIns="0" bIns="0" anchor="t">
            <a:spAutoFit/>
          </a:bodyPr>
          <a:lstStyle/>
          <a:p>
            <a:pPr algn="l"/>
            <a:r>
              <a:rPr sz="1050" b="0">
                <a:solidFill>
                  <a:srgbClr val="2E1B5B"/>
                </a:solidFill>
                <a:latin typeface="Calibri"/>
              </a:rPr>
              <a:t>Error mitigation: no consistent gain</a:t>
            </a:r>
          </a:p>
        </p:txBody>
      </p:sp>
      <p:sp>
        <p:nvSpPr>
          <p:cNvPr id="42" name="Bullet dot"/>
          <p:cNvSpPr/>
          <p:nvPr/>
        </p:nvSpPr>
        <p:spPr>
          <a:xfrm>
            <a:off x="5824728" y="4315968"/>
            <a:ext cx="82296" cy="82296"/>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989320" y="4251959"/>
            <a:ext cx="2560320" cy="237744"/>
          </a:xfrm>
          <a:prstGeom prst="rect">
            <a:avLst/>
          </a:prstGeom>
          <a:noFill/>
        </p:spPr>
        <p:txBody>
          <a:bodyPr wrap="square" lIns="0" rIns="0" tIns="0" bIns="0" anchor="t">
            <a:spAutoFit/>
          </a:bodyPr>
          <a:lstStyle/>
          <a:p>
            <a:pPr algn="l"/>
            <a:r>
              <a:rPr sz="1050" b="0">
                <a:solidFill>
                  <a:srgbClr val="2E1B5B"/>
                </a:solidFill>
                <a:latin typeface="Calibri"/>
              </a:rPr>
              <a:t>Greedy and annealing also find the best here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Impact &amp; Real-World Applications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8</a:t>
            </a:fld>
            <a:endParaRPr lang="en-US"/>
          </a:p>
        </p:txBody>
      </p:sp>
      <p:sp>
        <p:nvSpPr>
          <p:cNvPr id="26" name="TextBox 25"/>
          <p:cNvSpPr txBox="1"/>
          <p:nvPr/>
        </p:nvSpPr>
        <p:spPr>
          <a:xfrm>
            <a:off x="731520" y="1901952"/>
            <a:ext cx="2468880" cy="201168"/>
          </a:xfrm>
          <a:prstGeom prst="rect">
            <a:avLst/>
          </a:prstGeom>
          <a:noFill/>
        </p:spPr>
        <p:txBody>
          <a:bodyPr wrap="square" lIns="0" rIns="0" tIns="0" bIns="0" anchor="t">
            <a:spAutoFit/>
          </a:bodyPr>
          <a:lstStyle/>
          <a:p>
            <a:pPr algn="l"/>
            <a:r>
              <a:rPr sz="900" b="1" spc="100">
                <a:solidFill>
                  <a:srgbClr val="5B3BA8"/>
                </a:solidFill>
                <a:latin typeface="Calibri"/>
              </a:rPr>
              <a:t>WHO CAN USE IT</a:t>
            </a:r>
          </a:p>
        </p:txBody>
      </p:sp>
      <p:sp>
        <p:nvSpPr>
          <p:cNvPr id="27" name="Icon circle cloud"/>
          <p:cNvSpPr/>
          <p:nvPr/>
        </p:nvSpPr>
        <p:spPr>
          <a:xfrm>
            <a:off x="731520" y="2212848"/>
            <a:ext cx="384048" cy="384048"/>
          </a:xfrm>
          <a:prstGeom prst="ellipse">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loud_w.png"/>
          <p:cNvPicPr>
            <a:picLocks noChangeAspect="1"/>
          </p:cNvPicPr>
          <p:nvPr/>
        </p:nvPicPr>
        <p:blipFill>
          <a:blip r:embed="rId3"/>
          <a:stretch>
            <a:fillRect/>
          </a:stretch>
        </p:blipFill>
        <p:spPr>
          <a:xfrm>
            <a:off x="823691" y="2305019"/>
            <a:ext cx="199704" cy="199704"/>
          </a:xfrm>
          <a:prstGeom prst="rect">
            <a:avLst/>
          </a:prstGeom>
        </p:spPr>
      </p:pic>
      <p:sp>
        <p:nvSpPr>
          <p:cNvPr id="29" name="TextBox 28"/>
          <p:cNvSpPr txBox="1"/>
          <p:nvPr/>
        </p:nvSpPr>
        <p:spPr>
          <a:xfrm>
            <a:off x="1234440" y="2212848"/>
            <a:ext cx="1783080" cy="384048"/>
          </a:xfrm>
          <a:prstGeom prst="rect">
            <a:avLst/>
          </a:prstGeom>
          <a:noFill/>
        </p:spPr>
        <p:txBody>
          <a:bodyPr wrap="square" lIns="0" rIns="0" tIns="0" bIns="0" anchor="ctr">
            <a:spAutoFit/>
          </a:bodyPr>
          <a:lstStyle/>
          <a:p>
            <a:pPr algn="l"/>
            <a:r>
              <a:rPr sz="1100" b="1">
                <a:solidFill>
                  <a:srgbClr val="2E1B5B"/>
                </a:solidFill>
                <a:latin typeface="Calibri"/>
              </a:rPr>
              <a:t>Cloud and colocation providers</a:t>
            </a:r>
          </a:p>
        </p:txBody>
      </p:sp>
      <p:sp>
        <p:nvSpPr>
          <p:cNvPr id="30" name="Icon circle cpu"/>
          <p:cNvSpPr/>
          <p:nvPr/>
        </p:nvSpPr>
        <p:spPr>
          <a:xfrm>
            <a:off x="731520" y="2816352"/>
            <a:ext cx="384048" cy="384048"/>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pu_w.png"/>
          <p:cNvPicPr>
            <a:picLocks noChangeAspect="1"/>
          </p:cNvPicPr>
          <p:nvPr/>
        </p:nvPicPr>
        <p:blipFill>
          <a:blip r:embed="rId4"/>
          <a:stretch>
            <a:fillRect/>
          </a:stretch>
        </p:blipFill>
        <p:spPr>
          <a:xfrm>
            <a:off x="823691" y="2908523"/>
            <a:ext cx="199704" cy="199704"/>
          </a:xfrm>
          <a:prstGeom prst="rect">
            <a:avLst/>
          </a:prstGeom>
        </p:spPr>
      </p:pic>
      <p:sp>
        <p:nvSpPr>
          <p:cNvPr id="32" name="TextBox 31"/>
          <p:cNvSpPr txBox="1"/>
          <p:nvPr/>
        </p:nvSpPr>
        <p:spPr>
          <a:xfrm>
            <a:off x="1234440" y="2816352"/>
            <a:ext cx="1783080" cy="384048"/>
          </a:xfrm>
          <a:prstGeom prst="rect">
            <a:avLst/>
          </a:prstGeom>
          <a:noFill/>
        </p:spPr>
        <p:txBody>
          <a:bodyPr wrap="square" lIns="0" rIns="0" tIns="0" bIns="0" anchor="ctr">
            <a:spAutoFit/>
          </a:bodyPr>
          <a:lstStyle/>
          <a:p>
            <a:pPr algn="l"/>
            <a:r>
              <a:rPr sz="1100" b="1">
                <a:solidFill>
                  <a:srgbClr val="2E1B5B"/>
                </a:solidFill>
                <a:latin typeface="Calibri"/>
              </a:rPr>
              <a:t>AI and HPC labs with batch jobs</a:t>
            </a:r>
          </a:p>
        </p:txBody>
      </p:sp>
      <p:sp>
        <p:nvSpPr>
          <p:cNvPr id="33" name="Icon circle building"/>
          <p:cNvSpPr/>
          <p:nvPr/>
        </p:nvSpPr>
        <p:spPr>
          <a:xfrm>
            <a:off x="731520" y="3419856"/>
            <a:ext cx="384048" cy="384048"/>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building_w.png"/>
          <p:cNvPicPr>
            <a:picLocks noChangeAspect="1"/>
          </p:cNvPicPr>
          <p:nvPr/>
        </p:nvPicPr>
        <p:blipFill>
          <a:blip r:embed="rId5"/>
          <a:stretch>
            <a:fillRect/>
          </a:stretch>
        </p:blipFill>
        <p:spPr>
          <a:xfrm>
            <a:off x="823691" y="3512027"/>
            <a:ext cx="199704" cy="199704"/>
          </a:xfrm>
          <a:prstGeom prst="rect">
            <a:avLst/>
          </a:prstGeom>
        </p:spPr>
      </p:pic>
      <p:sp>
        <p:nvSpPr>
          <p:cNvPr id="35" name="TextBox 34"/>
          <p:cNvSpPr txBox="1"/>
          <p:nvPr/>
        </p:nvSpPr>
        <p:spPr>
          <a:xfrm>
            <a:off x="1234440" y="3419856"/>
            <a:ext cx="1783080" cy="384048"/>
          </a:xfrm>
          <a:prstGeom prst="rect">
            <a:avLst/>
          </a:prstGeom>
          <a:noFill/>
        </p:spPr>
        <p:txBody>
          <a:bodyPr wrap="square" lIns="0" rIns="0" tIns="0" bIns="0" anchor="ctr">
            <a:spAutoFit/>
          </a:bodyPr>
          <a:lstStyle/>
          <a:p>
            <a:pPr algn="l"/>
            <a:r>
              <a:rPr sz="1100" b="1">
                <a:solidFill>
                  <a:srgbClr val="2E1B5B"/>
                </a:solidFill>
                <a:latin typeface="Calibri"/>
              </a:rPr>
              <a:t>Enterprises with ESG targets</a:t>
            </a:r>
          </a:p>
        </p:txBody>
      </p:sp>
      <p:sp>
        <p:nvSpPr>
          <p:cNvPr id="36" name="TextBox 35"/>
          <p:cNvSpPr txBox="1"/>
          <p:nvPr/>
        </p:nvSpPr>
        <p:spPr>
          <a:xfrm>
            <a:off x="731520" y="4059936"/>
            <a:ext cx="2377440" cy="411480"/>
          </a:xfrm>
          <a:prstGeom prst="rect">
            <a:avLst/>
          </a:prstGeom>
          <a:noFill/>
        </p:spPr>
        <p:txBody>
          <a:bodyPr wrap="square" lIns="0" rIns="0" tIns="0" bIns="0" anchor="t">
            <a:spAutoFit/>
          </a:bodyPr>
          <a:lstStyle/>
          <a:p>
            <a:pPr algn="l"/>
            <a:r>
              <a:rPr sz="1000" b="0">
                <a:solidFill>
                  <a:srgbClr val="6F7399"/>
                </a:solidFill>
                <a:latin typeface="Calibri"/>
              </a:rPr>
              <a:t>Water counts more in stressed cities (WRI Aqueduct weighting).</a:t>
            </a:r>
          </a:p>
        </p:txBody>
      </p:sp>
      <p:sp>
        <p:nvSpPr>
          <p:cNvPr id="37" name="AI copilot panel"/>
          <p:cNvSpPr/>
          <p:nvPr/>
        </p:nvSpPr>
        <p:spPr>
          <a:xfrm>
            <a:off x="3291840" y="1847088"/>
            <a:ext cx="2606040" cy="2633472"/>
          </a:xfrm>
          <a:prstGeom prst="roundRect">
            <a:avLst>
              <a:gd name="adj" fmla="val 8000"/>
            </a:avLst>
          </a:prstGeom>
          <a:solidFill>
            <a:srgbClr val="EE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456432" y="1956816"/>
            <a:ext cx="2377440" cy="201168"/>
          </a:xfrm>
          <a:prstGeom prst="rect">
            <a:avLst/>
          </a:prstGeom>
          <a:noFill/>
        </p:spPr>
        <p:txBody>
          <a:bodyPr wrap="square" lIns="0" rIns="0" tIns="0" bIns="0" anchor="t">
            <a:spAutoFit/>
          </a:bodyPr>
          <a:lstStyle/>
          <a:p>
            <a:pPr algn="l"/>
            <a:r>
              <a:rPr sz="900" b="1" spc="100">
                <a:solidFill>
                  <a:srgbClr val="5B3BA8"/>
                </a:solidFill>
                <a:latin typeface="Calibri"/>
              </a:rPr>
              <a:t>AI COPILOT (GROQ LLM)</a:t>
            </a:r>
          </a:p>
        </p:txBody>
      </p:sp>
      <p:sp>
        <p:nvSpPr>
          <p:cNvPr id="39" name="Icon circle chat"/>
          <p:cNvSpPr/>
          <p:nvPr/>
        </p:nvSpPr>
        <p:spPr>
          <a:xfrm>
            <a:off x="3456432" y="2258568"/>
            <a:ext cx="347472" cy="347472"/>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chat_w.png"/>
          <p:cNvPicPr>
            <a:picLocks noChangeAspect="1"/>
          </p:cNvPicPr>
          <p:nvPr/>
        </p:nvPicPr>
        <p:blipFill>
          <a:blip r:embed="rId6"/>
          <a:stretch>
            <a:fillRect/>
          </a:stretch>
        </p:blipFill>
        <p:spPr>
          <a:xfrm>
            <a:off x="3539825" y="2341961"/>
            <a:ext cx="180685" cy="180685"/>
          </a:xfrm>
          <a:prstGeom prst="rect">
            <a:avLst/>
          </a:prstGeom>
        </p:spPr>
      </p:pic>
      <p:sp>
        <p:nvSpPr>
          <p:cNvPr id="41" name="TextBox 40"/>
          <p:cNvSpPr txBox="1"/>
          <p:nvPr/>
        </p:nvSpPr>
        <p:spPr>
          <a:xfrm>
            <a:off x="3913632" y="2240280"/>
            <a:ext cx="1874519" cy="219456"/>
          </a:xfrm>
          <a:prstGeom prst="rect">
            <a:avLst/>
          </a:prstGeom>
          <a:noFill/>
        </p:spPr>
        <p:txBody>
          <a:bodyPr wrap="square" lIns="0" rIns="0" tIns="0" bIns="0" anchor="t">
            <a:spAutoFit/>
          </a:bodyPr>
          <a:lstStyle/>
          <a:p>
            <a:pPr algn="l"/>
            <a:r>
              <a:rPr sz="1150" b="1">
                <a:solidFill>
                  <a:srgbClr val="2E1B5B"/>
                </a:solidFill>
                <a:latin typeface="Calibri"/>
              </a:rPr>
              <a:t>Ask GreenQ</a:t>
            </a:r>
          </a:p>
        </p:txBody>
      </p:sp>
      <p:sp>
        <p:nvSpPr>
          <p:cNvPr id="42" name="TextBox 41"/>
          <p:cNvSpPr txBox="1"/>
          <p:nvPr/>
        </p:nvSpPr>
        <p:spPr>
          <a:xfrm>
            <a:off x="3913632" y="2459736"/>
            <a:ext cx="1874519" cy="411480"/>
          </a:xfrm>
          <a:prstGeom prst="rect">
            <a:avLst/>
          </a:prstGeom>
          <a:noFill/>
        </p:spPr>
        <p:txBody>
          <a:bodyPr wrap="square" lIns="0" rIns="0" tIns="0" bIns="0" anchor="t">
            <a:spAutoFit/>
          </a:bodyPr>
          <a:lstStyle/>
          <a:p>
            <a:pPr algn="l"/>
            <a:r>
              <a:rPr sz="1000" b="0">
                <a:solidFill>
                  <a:srgbClr val="6F7399"/>
                </a:solidFill>
                <a:latin typeface="Calibri"/>
              </a:rPr>
              <a:t>Explains any plan in plain words</a:t>
            </a:r>
          </a:p>
        </p:txBody>
      </p:sp>
      <p:sp>
        <p:nvSpPr>
          <p:cNvPr id="43" name="Icon circle keyboard"/>
          <p:cNvSpPr/>
          <p:nvPr/>
        </p:nvSpPr>
        <p:spPr>
          <a:xfrm>
            <a:off x="3456432" y="2971800"/>
            <a:ext cx="347472" cy="347472"/>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keyboard_w.png"/>
          <p:cNvPicPr>
            <a:picLocks noChangeAspect="1"/>
          </p:cNvPicPr>
          <p:nvPr/>
        </p:nvPicPr>
        <p:blipFill>
          <a:blip r:embed="rId7"/>
          <a:stretch>
            <a:fillRect/>
          </a:stretch>
        </p:blipFill>
        <p:spPr>
          <a:xfrm>
            <a:off x="3539825" y="3055193"/>
            <a:ext cx="180685" cy="180685"/>
          </a:xfrm>
          <a:prstGeom prst="rect">
            <a:avLst/>
          </a:prstGeom>
        </p:spPr>
      </p:pic>
      <p:sp>
        <p:nvSpPr>
          <p:cNvPr id="45" name="TextBox 44"/>
          <p:cNvSpPr txBox="1"/>
          <p:nvPr/>
        </p:nvSpPr>
        <p:spPr>
          <a:xfrm>
            <a:off x="3913632" y="2953512"/>
            <a:ext cx="1874519" cy="219456"/>
          </a:xfrm>
          <a:prstGeom prst="rect">
            <a:avLst/>
          </a:prstGeom>
          <a:noFill/>
        </p:spPr>
        <p:txBody>
          <a:bodyPr wrap="square" lIns="0" rIns="0" tIns="0" bIns="0" anchor="t">
            <a:spAutoFit/>
          </a:bodyPr>
          <a:lstStyle/>
          <a:p>
            <a:pPr algn="l"/>
            <a:r>
              <a:rPr sz="1150" b="1">
                <a:solidFill>
                  <a:srgbClr val="2E1B5B"/>
                </a:solidFill>
                <a:latin typeface="Calibri"/>
              </a:rPr>
              <a:t>Jobs in plain English</a:t>
            </a:r>
          </a:p>
        </p:txBody>
      </p:sp>
      <p:sp>
        <p:nvSpPr>
          <p:cNvPr id="46" name="TextBox 45"/>
          <p:cNvSpPr txBox="1"/>
          <p:nvPr/>
        </p:nvSpPr>
        <p:spPr>
          <a:xfrm>
            <a:off x="3913632" y="3172968"/>
            <a:ext cx="1874519" cy="411480"/>
          </a:xfrm>
          <a:prstGeom prst="rect">
            <a:avLst/>
          </a:prstGeom>
          <a:noFill/>
        </p:spPr>
        <p:txBody>
          <a:bodyPr wrap="square" lIns="0" rIns="0" tIns="0" bIns="0" anchor="t">
            <a:spAutoFit/>
          </a:bodyPr>
          <a:lstStyle/>
          <a:p>
            <a:pPr algn="l"/>
            <a:r>
              <a:rPr sz="1000" b="0">
                <a:solidFill>
                  <a:srgbClr val="6F7399"/>
                </a:solidFill>
                <a:latin typeface="Calibri"/>
              </a:rPr>
              <a:t>Typed text becomes a plan</a:t>
            </a:r>
          </a:p>
        </p:txBody>
      </p:sp>
      <p:sp>
        <p:nvSpPr>
          <p:cNvPr id="47" name="Icon circle shield"/>
          <p:cNvSpPr/>
          <p:nvPr/>
        </p:nvSpPr>
        <p:spPr>
          <a:xfrm>
            <a:off x="3456432" y="3685032"/>
            <a:ext cx="347472" cy="347472"/>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 name="Picture 47" descr="shield_w.png"/>
          <p:cNvPicPr>
            <a:picLocks noChangeAspect="1"/>
          </p:cNvPicPr>
          <p:nvPr/>
        </p:nvPicPr>
        <p:blipFill>
          <a:blip r:embed="rId8"/>
          <a:stretch>
            <a:fillRect/>
          </a:stretch>
        </p:blipFill>
        <p:spPr>
          <a:xfrm>
            <a:off x="3539825" y="3768425"/>
            <a:ext cx="180685" cy="180685"/>
          </a:xfrm>
          <a:prstGeom prst="rect">
            <a:avLst/>
          </a:prstGeom>
        </p:spPr>
      </p:pic>
      <p:sp>
        <p:nvSpPr>
          <p:cNvPr id="49" name="TextBox 48"/>
          <p:cNvSpPr txBox="1"/>
          <p:nvPr/>
        </p:nvSpPr>
        <p:spPr>
          <a:xfrm>
            <a:off x="3913632" y="3666744"/>
            <a:ext cx="1874519" cy="219456"/>
          </a:xfrm>
          <a:prstGeom prst="rect">
            <a:avLst/>
          </a:prstGeom>
          <a:noFill/>
        </p:spPr>
        <p:txBody>
          <a:bodyPr wrap="square" lIns="0" rIns="0" tIns="0" bIns="0" anchor="t">
            <a:spAutoFit/>
          </a:bodyPr>
          <a:lstStyle/>
          <a:p>
            <a:pPr algn="l"/>
            <a:r>
              <a:rPr sz="1150" b="1">
                <a:solidFill>
                  <a:srgbClr val="2E1B5B"/>
                </a:solidFill>
                <a:latin typeface="Calibri"/>
              </a:rPr>
              <a:t>Guard-railed</a:t>
            </a:r>
          </a:p>
        </p:txBody>
      </p:sp>
      <p:sp>
        <p:nvSpPr>
          <p:cNvPr id="50" name="TextBox 49"/>
          <p:cNvSpPr txBox="1"/>
          <p:nvPr/>
        </p:nvSpPr>
        <p:spPr>
          <a:xfrm>
            <a:off x="3913632" y="3886200"/>
            <a:ext cx="1874519" cy="411480"/>
          </a:xfrm>
          <a:prstGeom prst="rect">
            <a:avLst/>
          </a:prstGeom>
          <a:noFill/>
        </p:spPr>
        <p:txBody>
          <a:bodyPr wrap="square" lIns="0" rIns="0" tIns="0" bIns="0" anchor="t">
            <a:spAutoFit/>
          </a:bodyPr>
          <a:lstStyle/>
          <a:p>
            <a:pPr algn="l"/>
            <a:r>
              <a:rPr sz="1000" b="0">
                <a:solidFill>
                  <a:srgbClr val="6F7399"/>
                </a:solidFill>
                <a:latin typeface="Calibri"/>
              </a:rPr>
              <a:t>AI never decides · every number checked · offline fallback</a:t>
            </a:r>
          </a:p>
        </p:txBody>
      </p:sp>
      <p:sp>
        <p:nvSpPr>
          <p:cNvPr id="51" name="TextBox 50"/>
          <p:cNvSpPr txBox="1"/>
          <p:nvPr/>
        </p:nvSpPr>
        <p:spPr>
          <a:xfrm>
            <a:off x="6126480" y="1901952"/>
            <a:ext cx="2377440" cy="201168"/>
          </a:xfrm>
          <a:prstGeom prst="rect">
            <a:avLst/>
          </a:prstGeom>
          <a:noFill/>
        </p:spPr>
        <p:txBody>
          <a:bodyPr wrap="square" lIns="0" rIns="0" tIns="0" bIns="0" anchor="t">
            <a:spAutoFit/>
          </a:bodyPr>
          <a:lstStyle/>
          <a:p>
            <a:pPr algn="l"/>
            <a:r>
              <a:rPr sz="900" b="1" spc="100">
                <a:solidFill>
                  <a:srgbClr val="5B3BA8"/>
                </a:solidFill>
                <a:latin typeface="Calibri"/>
              </a:rPr>
              <a:t>WHAT IT COULD BE WORTH</a:t>
            </a:r>
          </a:p>
        </p:txBody>
      </p:sp>
      <p:sp>
        <p:nvSpPr>
          <p:cNvPr id="52" name="TextBox 51"/>
          <p:cNvSpPr txBox="1"/>
          <p:nvPr/>
        </p:nvSpPr>
        <p:spPr>
          <a:xfrm>
            <a:off x="6126480" y="2194560"/>
            <a:ext cx="2377440" cy="384048"/>
          </a:xfrm>
          <a:prstGeom prst="rect">
            <a:avLst/>
          </a:prstGeom>
          <a:noFill/>
        </p:spPr>
        <p:txBody>
          <a:bodyPr wrap="square" lIns="0" rIns="0" tIns="0" bIns="0" anchor="t">
            <a:spAutoFit/>
          </a:bodyPr>
          <a:lstStyle/>
          <a:p>
            <a:pPr algn="l"/>
            <a:r>
              <a:rPr sz="2400" b="1">
                <a:solidFill>
                  <a:srgbClr val="2E1B5B"/>
                </a:solidFill>
                <a:latin typeface="Georgia"/>
              </a:rPr>
              <a:t>≈3,420 t</a:t>
            </a:r>
          </a:p>
        </p:txBody>
      </p:sp>
      <p:sp>
        <p:nvSpPr>
          <p:cNvPr id="53" name="TextBox 52"/>
          <p:cNvSpPr txBox="1"/>
          <p:nvPr/>
        </p:nvSpPr>
        <p:spPr>
          <a:xfrm>
            <a:off x="6126480" y="2596896"/>
            <a:ext cx="2377440" cy="201168"/>
          </a:xfrm>
          <a:prstGeom prst="rect">
            <a:avLst/>
          </a:prstGeom>
          <a:noFill/>
        </p:spPr>
        <p:txBody>
          <a:bodyPr wrap="square" lIns="0" rIns="0" tIns="0" bIns="0" anchor="t">
            <a:spAutoFit/>
          </a:bodyPr>
          <a:lstStyle/>
          <a:p>
            <a:pPr algn="l"/>
            <a:r>
              <a:rPr sz="1050" b="0">
                <a:solidFill>
                  <a:srgbClr val="6F7399"/>
                </a:solidFill>
                <a:latin typeface="Calibri"/>
              </a:rPr>
              <a:t>CO₂ saved per year</a:t>
            </a:r>
          </a:p>
        </p:txBody>
      </p:sp>
      <p:sp>
        <p:nvSpPr>
          <p:cNvPr id="54" name="TextBox 53"/>
          <p:cNvSpPr txBox="1"/>
          <p:nvPr/>
        </p:nvSpPr>
        <p:spPr>
          <a:xfrm>
            <a:off x="6126480" y="2926080"/>
            <a:ext cx="2377440" cy="384048"/>
          </a:xfrm>
          <a:prstGeom prst="rect">
            <a:avLst/>
          </a:prstGeom>
          <a:noFill/>
        </p:spPr>
        <p:txBody>
          <a:bodyPr wrap="square" lIns="0" rIns="0" tIns="0" bIns="0" anchor="t">
            <a:spAutoFit/>
          </a:bodyPr>
          <a:lstStyle/>
          <a:p>
            <a:pPr algn="l"/>
            <a:r>
              <a:rPr sz="2400" b="1">
                <a:solidFill>
                  <a:srgbClr val="2E1B5B"/>
                </a:solidFill>
                <a:latin typeface="Georgia"/>
              </a:rPr>
              <a:t>≈11.6 ML</a:t>
            </a:r>
          </a:p>
        </p:txBody>
      </p:sp>
      <p:sp>
        <p:nvSpPr>
          <p:cNvPr id="55" name="TextBox 54"/>
          <p:cNvSpPr txBox="1"/>
          <p:nvPr/>
        </p:nvSpPr>
        <p:spPr>
          <a:xfrm>
            <a:off x="6126480" y="3328416"/>
            <a:ext cx="2377440" cy="201168"/>
          </a:xfrm>
          <a:prstGeom prst="rect">
            <a:avLst/>
          </a:prstGeom>
          <a:noFill/>
        </p:spPr>
        <p:txBody>
          <a:bodyPr wrap="square" lIns="0" rIns="0" tIns="0" bIns="0" anchor="t">
            <a:spAutoFit/>
          </a:bodyPr>
          <a:lstStyle/>
          <a:p>
            <a:pPr algn="l"/>
            <a:r>
              <a:rPr sz="1050" b="0">
                <a:solidFill>
                  <a:srgbClr val="6F7399"/>
                </a:solidFill>
                <a:latin typeface="Calibri"/>
              </a:rPr>
              <a:t>megalitres of water saved per year</a:t>
            </a:r>
          </a:p>
        </p:txBody>
      </p:sp>
      <p:sp>
        <p:nvSpPr>
          <p:cNvPr id="56" name="TextBox 55"/>
          <p:cNvSpPr txBox="1"/>
          <p:nvPr/>
        </p:nvSpPr>
        <p:spPr>
          <a:xfrm>
            <a:off x="6126480" y="3767328"/>
            <a:ext cx="2377440" cy="685800"/>
          </a:xfrm>
          <a:prstGeom prst="rect">
            <a:avLst/>
          </a:prstGeom>
          <a:noFill/>
        </p:spPr>
        <p:txBody>
          <a:bodyPr wrap="square" lIns="0" rIns="0" tIns="0" bIns="0" anchor="t">
            <a:spAutoFit/>
          </a:bodyPr>
          <a:lstStyle/>
          <a:p>
            <a:pPr algn="l"/>
            <a:r>
              <a:rPr sz="950" b="0">
                <a:solidFill>
                  <a:srgbClr val="6F7399"/>
                </a:solidFill>
                <a:latin typeface="Calibri"/>
              </a:rPr>
              <a:t>Assumed: 100 GWh/yr fleet, 20% flexible load, our measured 14% saving. An estimate, not a deployment.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Challenges &amp; Future Scope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9</a:t>
            </a:fld>
            <a:endParaRPr lang="en-US"/>
          </a:p>
        </p:txBody>
      </p:sp>
      <p:graphicFrame>
        <p:nvGraphicFramePr>
          <p:cNvPr id="26" name="Chart gates vs qubits"/>
          <p:cNvGraphicFramePr>
            <a:graphicFrameLocks noGrp="1"/>
          </p:cNvGraphicFramePr>
          <p:nvPr/>
        </p:nvGraphicFramePr>
        <p:xfrm>
          <a:off x="640080" y="1828800"/>
          <a:ext cx="3977639" cy="2468880"/>
        </p:xfrm>
        <a:graphic>
          <a:graphicData uri="http://schemas.openxmlformats.org/drawingml/2006/chart">
            <c:chart xmlns:c="http://schemas.openxmlformats.org/drawingml/2006/chart" r:id="rId3"/>
          </a:graphicData>
        </a:graphic>
      </p:graphicFrame>
      <p:sp>
        <p:nvSpPr>
          <p:cNvPr id="27" name="TextBox 26"/>
          <p:cNvSpPr txBox="1"/>
          <p:nvPr/>
        </p:nvSpPr>
        <p:spPr>
          <a:xfrm>
            <a:off x="777240" y="4334256"/>
            <a:ext cx="3749039" cy="201168"/>
          </a:xfrm>
          <a:prstGeom prst="rect">
            <a:avLst/>
          </a:prstGeom>
          <a:noFill/>
        </p:spPr>
        <p:txBody>
          <a:bodyPr wrap="square" lIns="0" rIns="0" tIns="0" bIns="0" anchor="t">
            <a:spAutoFit/>
          </a:bodyPr>
          <a:lstStyle/>
          <a:p>
            <a:pPr algn="l"/>
            <a:r>
              <a:rPr sz="950" b="0">
                <a:solidFill>
                  <a:srgbClr val="6F7399"/>
                </a:solidFill>
                <a:latin typeface="Calibri"/>
              </a:rPr>
              <a:t>Qubits on the x-axis (2 per job). Pink: 8 qubits, run on real IBM hardware.</a:t>
            </a:r>
          </a:p>
        </p:txBody>
      </p:sp>
      <p:sp>
        <p:nvSpPr>
          <p:cNvPr id="28" name="TextBox 27"/>
          <p:cNvSpPr txBox="1"/>
          <p:nvPr/>
        </p:nvSpPr>
        <p:spPr>
          <a:xfrm>
            <a:off x="4892040" y="1901952"/>
            <a:ext cx="3566160" cy="201168"/>
          </a:xfrm>
          <a:prstGeom prst="rect">
            <a:avLst/>
          </a:prstGeom>
          <a:noFill/>
        </p:spPr>
        <p:txBody>
          <a:bodyPr wrap="square" lIns="0" rIns="0" tIns="0" bIns="0" anchor="t">
            <a:spAutoFit/>
          </a:bodyPr>
          <a:lstStyle/>
          <a:p>
            <a:pPr algn="l"/>
            <a:r>
              <a:rPr sz="900" b="1" spc="100">
                <a:solidFill>
                  <a:srgbClr val="E8639F"/>
                </a:solidFill>
                <a:latin typeface="Calibri"/>
              </a:rPr>
              <a:t>CHALLENGES</a:t>
            </a:r>
          </a:p>
        </p:txBody>
      </p:sp>
      <p:sp>
        <p:nvSpPr>
          <p:cNvPr id="29" name="Bullet dot"/>
          <p:cNvSpPr/>
          <p:nvPr/>
        </p:nvSpPr>
        <p:spPr>
          <a:xfrm>
            <a:off x="4910327" y="2231136"/>
            <a:ext cx="82296" cy="82296"/>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074920" y="2157984"/>
            <a:ext cx="3429000" cy="246888"/>
          </a:xfrm>
          <a:prstGeom prst="rect">
            <a:avLst/>
          </a:prstGeom>
          <a:noFill/>
        </p:spPr>
        <p:txBody>
          <a:bodyPr wrap="square" lIns="0" rIns="0" tIns="0" bIns="0" anchor="t">
            <a:spAutoFit/>
          </a:bodyPr>
          <a:lstStyle/>
          <a:p>
            <a:pPr algn="l"/>
            <a:r>
              <a:rPr sz="1050" b="0">
                <a:solidFill>
                  <a:srgbClr val="2E1B5B"/>
                </a:solidFill>
                <a:latin typeface="Calibri"/>
              </a:rPr>
              <a:t>Noise: the real chip keeps 48–67% of the ideal gain</a:t>
            </a:r>
          </a:p>
        </p:txBody>
      </p:sp>
      <p:sp>
        <p:nvSpPr>
          <p:cNvPr id="31" name="Bullet dot"/>
          <p:cNvSpPr/>
          <p:nvPr/>
        </p:nvSpPr>
        <p:spPr>
          <a:xfrm>
            <a:off x="4910327" y="2478024"/>
            <a:ext cx="82296" cy="82296"/>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074920" y="2404872"/>
            <a:ext cx="3429000" cy="246888"/>
          </a:xfrm>
          <a:prstGeom prst="rect">
            <a:avLst/>
          </a:prstGeom>
          <a:noFill/>
        </p:spPr>
        <p:txBody>
          <a:bodyPr wrap="square" lIns="0" rIns="0" tIns="0" bIns="0" anchor="t">
            <a:spAutoFit/>
          </a:bodyPr>
          <a:lstStyle/>
          <a:p>
            <a:pPr algn="l"/>
            <a:r>
              <a:rPr sz="1050" b="0">
                <a:solidFill>
                  <a:srgbClr val="2E1B5B"/>
                </a:solidFill>
                <a:latin typeface="Calibri"/>
              </a:rPr>
              <a:t>22 qubits already need 1,010 two-qubit gates</a:t>
            </a:r>
          </a:p>
        </p:txBody>
      </p:sp>
      <p:sp>
        <p:nvSpPr>
          <p:cNvPr id="33" name="Bullet dot"/>
          <p:cNvSpPr/>
          <p:nvPr/>
        </p:nvSpPr>
        <p:spPr>
          <a:xfrm>
            <a:off x="4910327" y="2724912"/>
            <a:ext cx="82296" cy="82296"/>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074920" y="2651760"/>
            <a:ext cx="3429000" cy="246888"/>
          </a:xfrm>
          <a:prstGeom prst="rect">
            <a:avLst/>
          </a:prstGeom>
          <a:noFill/>
        </p:spPr>
        <p:txBody>
          <a:bodyPr wrap="square" lIns="0" rIns="0" tIns="0" bIns="0" anchor="t">
            <a:spAutoFit/>
          </a:bodyPr>
          <a:lstStyle/>
          <a:p>
            <a:pPr algn="l"/>
            <a:r>
              <a:rPr sz="1050" b="0">
                <a:solidFill>
                  <a:srgbClr val="2E1B5B"/>
                </a:solidFill>
                <a:latin typeface="Calibri"/>
              </a:rPr>
              <a:t>About 10 min of free quantum time a month</a:t>
            </a:r>
          </a:p>
        </p:txBody>
      </p:sp>
      <p:sp>
        <p:nvSpPr>
          <p:cNvPr id="35" name="Bullet dot"/>
          <p:cNvSpPr/>
          <p:nvPr/>
        </p:nvSpPr>
        <p:spPr>
          <a:xfrm>
            <a:off x="4910327" y="2971800"/>
            <a:ext cx="82296" cy="82296"/>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074920" y="2898648"/>
            <a:ext cx="3429000" cy="246888"/>
          </a:xfrm>
          <a:prstGeom prst="rect">
            <a:avLst/>
          </a:prstGeom>
          <a:noFill/>
        </p:spPr>
        <p:txBody>
          <a:bodyPr wrap="square" lIns="0" rIns="0" tIns="0" bIns="0" anchor="t">
            <a:spAutoFit/>
          </a:bodyPr>
          <a:lstStyle/>
          <a:p>
            <a:pPr algn="l"/>
            <a:r>
              <a:rPr sz="1050" b="0">
                <a:solidFill>
                  <a:srgbClr val="2E1B5B"/>
                </a:solidFill>
                <a:latin typeface="Calibri"/>
              </a:rPr>
              <a:t>Site and job data are illustrative</a:t>
            </a:r>
          </a:p>
        </p:txBody>
      </p:sp>
      <p:sp>
        <p:nvSpPr>
          <p:cNvPr id="37" name="TextBox 36"/>
          <p:cNvSpPr txBox="1"/>
          <p:nvPr/>
        </p:nvSpPr>
        <p:spPr>
          <a:xfrm>
            <a:off x="4892040" y="3255264"/>
            <a:ext cx="3566160" cy="201168"/>
          </a:xfrm>
          <a:prstGeom prst="rect">
            <a:avLst/>
          </a:prstGeom>
          <a:noFill/>
        </p:spPr>
        <p:txBody>
          <a:bodyPr wrap="square" lIns="0" rIns="0" tIns="0" bIns="0" anchor="t">
            <a:spAutoFit/>
          </a:bodyPr>
          <a:lstStyle/>
          <a:p>
            <a:pPr algn="l"/>
            <a:r>
              <a:rPr sz="900" b="1" spc="100">
                <a:solidFill>
                  <a:srgbClr val="5B3BA8"/>
                </a:solidFill>
                <a:latin typeface="Calibri"/>
              </a:rPr>
              <a:t>FUTURE SCOPE</a:t>
            </a:r>
          </a:p>
        </p:txBody>
      </p:sp>
      <p:sp>
        <p:nvSpPr>
          <p:cNvPr id="38" name="Bullet dot"/>
          <p:cNvSpPr/>
          <p:nvPr/>
        </p:nvSpPr>
        <p:spPr>
          <a:xfrm>
            <a:off x="4910327" y="3584448"/>
            <a:ext cx="82296" cy="82296"/>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074920" y="3511296"/>
            <a:ext cx="3429000" cy="246888"/>
          </a:xfrm>
          <a:prstGeom prst="rect">
            <a:avLst/>
          </a:prstGeom>
          <a:noFill/>
        </p:spPr>
        <p:txBody>
          <a:bodyPr wrap="square" lIns="0" rIns="0" tIns="0" bIns="0" anchor="t">
            <a:spAutoFit/>
          </a:bodyPr>
          <a:lstStyle/>
          <a:p>
            <a:pPr algn="l"/>
            <a:r>
              <a:rPr sz="1050" b="0">
                <a:solidFill>
                  <a:srgbClr val="2E1B5B"/>
                </a:solidFill>
                <a:latin typeface="Calibri"/>
              </a:rPr>
              <a:t>Split big fleets into small sub-problems</a:t>
            </a:r>
          </a:p>
        </p:txBody>
      </p:sp>
      <p:sp>
        <p:nvSpPr>
          <p:cNvPr id="40" name="Bullet dot"/>
          <p:cNvSpPr/>
          <p:nvPr/>
        </p:nvSpPr>
        <p:spPr>
          <a:xfrm>
            <a:off x="4910327" y="3831335"/>
            <a:ext cx="82296" cy="82296"/>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074920" y="3758183"/>
            <a:ext cx="3429000" cy="246888"/>
          </a:xfrm>
          <a:prstGeom prst="rect">
            <a:avLst/>
          </a:prstGeom>
          <a:noFill/>
        </p:spPr>
        <p:txBody>
          <a:bodyPr wrap="square" lIns="0" rIns="0" tIns="0" bIns="0" anchor="t">
            <a:spAutoFit/>
          </a:bodyPr>
          <a:lstStyle/>
          <a:p>
            <a:pPr algn="l"/>
            <a:r>
              <a:rPr sz="1050" b="0">
                <a:solidFill>
                  <a:srgbClr val="2E1B5B"/>
                </a:solidFill>
                <a:latin typeface="Calibri"/>
              </a:rPr>
              <a:t>Live regional carbon and water data</a:t>
            </a:r>
          </a:p>
        </p:txBody>
      </p:sp>
      <p:sp>
        <p:nvSpPr>
          <p:cNvPr id="42" name="Bullet dot"/>
          <p:cNvSpPr/>
          <p:nvPr/>
        </p:nvSpPr>
        <p:spPr>
          <a:xfrm>
            <a:off x="4910327" y="4078224"/>
            <a:ext cx="82296" cy="82296"/>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074920" y="4005072"/>
            <a:ext cx="3429000" cy="246888"/>
          </a:xfrm>
          <a:prstGeom prst="rect">
            <a:avLst/>
          </a:prstGeom>
          <a:noFill/>
        </p:spPr>
        <p:txBody>
          <a:bodyPr wrap="square" lIns="0" rIns="0" tIns="0" bIns="0" anchor="t">
            <a:spAutoFit/>
          </a:bodyPr>
          <a:lstStyle/>
          <a:p>
            <a:pPr algn="l"/>
            <a:r>
              <a:rPr sz="1050" b="0">
                <a:solidFill>
                  <a:srgbClr val="2E1B5B"/>
                </a:solidFill>
                <a:latin typeface="Calibri"/>
              </a:rPr>
              <a:t>Plug into schedulers like Kubernetes and Slurm</a:t>
            </a:r>
          </a:p>
        </p:txBody>
      </p:sp>
      <p:sp>
        <p:nvSpPr>
          <p:cNvPr id="44" name="Bullet dot"/>
          <p:cNvSpPr/>
          <p:nvPr/>
        </p:nvSpPr>
        <p:spPr>
          <a:xfrm>
            <a:off x="4910327" y="4325112"/>
            <a:ext cx="82296" cy="82296"/>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074920" y="4251960"/>
            <a:ext cx="3429000" cy="246888"/>
          </a:xfrm>
          <a:prstGeom prst="rect">
            <a:avLst/>
          </a:prstGeom>
          <a:noFill/>
        </p:spPr>
        <p:txBody>
          <a:bodyPr wrap="square" lIns="0" rIns="0" tIns="0" bIns="0" anchor="t">
            <a:spAutoFit/>
          </a:bodyPr>
          <a:lstStyle/>
          <a:p>
            <a:pPr algn="l"/>
            <a:r>
              <a:rPr sz="1050" b="0">
                <a:solidFill>
                  <a:srgbClr val="2E1B5B"/>
                </a:solidFill>
                <a:latin typeface="Calibri"/>
              </a:rPr>
              <a:t>Deeper circuits as hardware improves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914400"/>
            <a:ext cx="274320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CLOSING</a:t>
            </a:r>
            <a:endParaRPr lang="en-US" sz="1000" dirty="0"/>
          </a:p>
        </p:txBody>
      </p:sp>
      <p:sp>
        <p:nvSpPr>
          <p:cNvPr id="3" name="Text 1"/>
          <p:cNvSpPr txBox="1"/>
          <p:nvPr/>
        </p:nvSpPr>
        <p:spPr>
          <a:xfrm>
            <a:off x="457200" y="1188720"/>
            <a:ext cx="4754880" cy="1554480"/>
          </a:xfrm>
          <a:prstGeom prst="rect">
            <a:avLst/>
          </a:prstGeom>
          <a:noFill/>
          <a:ln/>
        </p:spPr>
        <p:txBody>
          <a:bodyPr wrap="square" lIns="0" tIns="0" rIns="0" bIns="0" rtlCol="0" anchor="t"/>
          <a:lstStyle/>
          <a:p>
            <a:pPr marL="0" indent="0">
              <a:buNone/>
            </a:pPr>
            <a:r>
              <a:rPr lang="en-US" sz="4200" b="1" dirty="0">
                <a:solidFill>
                  <a:srgbClr val="2E1B5B"/>
                </a:solidFill>
                <a:latin typeface="Georgia" pitchFamily="34" charset="0"/>
                <a:ea typeface="Georgia" pitchFamily="34" charset="-122"/>
                <a:cs typeface="Georgia" pitchFamily="34" charset="-120"/>
              </a:rPr>
              <a:t>Thank You</a:t>
            </a:r>
            <a:endParaRPr lang="en-US" sz="4200" dirty="0"/>
          </a:p>
          <a:p>
            <a:pPr marL="0" indent="0">
              <a:buNone/>
            </a:pPr>
            <a:r>
              <a:rPr lang="en-US" sz="4200" b="1" dirty="0">
                <a:solidFill>
                  <a:srgbClr val="E8639F"/>
                </a:solidFill>
                <a:latin typeface="Georgia" pitchFamily="34" charset="0"/>
                <a:ea typeface="Georgia" pitchFamily="34" charset="-122"/>
                <a:cs typeface="Georgia" pitchFamily="34" charset="-120"/>
              </a:rPr>
              <a:t>Questions?</a:t>
            </a:r>
            <a:endParaRPr lang="en-US" sz="4200" dirty="0"/>
          </a:p>
        </p:txBody>
      </p:sp>
      <p:sp>
        <p:nvSpPr>
          <p:cNvPr id="4" name="Text 2"/>
          <p:cNvSpPr txBox="1"/>
          <p:nvPr/>
        </p:nvSpPr>
        <p:spPr>
          <a:xfrm>
            <a:off x="457200" y="2788920"/>
            <a:ext cx="4754880" cy="274320"/>
          </a:xfrm>
          <a:prstGeom prst="rect">
            <a:avLst/>
          </a:prstGeom>
          <a:noFill/>
          <a:ln/>
        </p:spPr>
        <p:txBody>
          <a:bodyPr wrap="square" lIns="0" tIns="0" rIns="0" bIns="0" rtlCol="0" anchor="t"/>
          <a:lstStyle/>
          <a:p>
            <a:pPr marL="0" indent="0">
              <a:buNone/>
            </a:pPr>
            <a:r>
              <a:rPr lang="en-US" sz="1300" i="1" dirty="0">
                <a:solidFill>
                  <a:srgbClr val="6F7399"/>
                </a:solidFill>
                <a:latin typeface="Calibri" pitchFamily="34" charset="0"/>
                <a:ea typeface="Calibri" pitchFamily="34" charset="-122"/>
                <a:cs typeface="Calibri" pitchFamily="34" charset="-120"/>
              </a:rPr>
              <a:t>Inspiring Minds. Shaping Tomorrow.</a:t>
            </a:r>
            <a:endParaRPr lang="en-US" sz="1300" dirty="0"/>
          </a:p>
        </p:txBody>
      </p:sp>
      <p:sp>
        <p:nvSpPr>
          <p:cNvPr id="5" name="Field: GITHUB REPOSITORY"/>
          <p:cNvSpPr/>
          <p:nvPr/>
        </p:nvSpPr>
        <p:spPr>
          <a:xfrm>
            <a:off x="457200" y="3291840"/>
            <a:ext cx="2286000" cy="71323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GITHUB REPOSITORY</a:t>
            </a:r>
            <a:endParaRPr lang="en-US" sz="900" dirty="0"/>
          </a:p>
        </p:txBody>
      </p:sp>
      <p:sp>
        <p:nvSpPr>
          <p:cNvPr id="40" name="Field: LIVE APP"/>
          <p:cNvSpPr/>
          <p:nvPr/>
        </p:nvSpPr>
        <p:spPr>
          <a:xfrm>
            <a:off x="457200" y="4114800"/>
            <a:ext cx="466344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LIVE APP</a:t>
            </a:r>
            <a:endParaRPr lang="en-US" sz="900" dirty="0"/>
          </a:p>
        </p:txBody>
      </p:sp>
      <p:sp>
        <p:nvSpPr>
          <p:cNvPr id="6" name="Field: DEMO VIDEO LINK"/>
          <p:cNvSpPr/>
          <p:nvPr/>
        </p:nvSpPr>
        <p:spPr>
          <a:xfrm>
            <a:off x="2834640" y="3291840"/>
            <a:ext cx="2286000" cy="71323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DEMO VIDEO LINK</a:t>
            </a:r>
            <a:endParaRPr lang="en-US" sz="900" dirty="0"/>
          </a:p>
        </p:txBody>
      </p:sp>
      <p:pic>
        <p:nvPicPr>
          <p:cNvPr id="7" name="Bloch sphere ring" descr="sphere.png"/>
          <p:cNvPicPr>
            <a:picLocks noChangeAspect="1"/>
          </p:cNvPicPr>
          <p:nvPr/>
        </p:nvPicPr>
        <p:blipFill>
          <a:blip r:embed="rId3"/>
          <a:stretch>
            <a:fillRect/>
          </a:stretch>
        </p:blipFill>
        <p:spPr>
          <a:xfrm>
            <a:off x="5486400" y="1097280"/>
            <a:ext cx="3200400" cy="3200400"/>
          </a:xfrm>
          <a:prstGeom prst="rect">
            <a:avLst/>
          </a:prstGeom>
        </p:spPr>
      </p:pic>
      <p:pic>
        <p:nvPicPr>
          <p:cNvPr id="8" name="Image 1" descr="bird1.png"/>
          <p:cNvPicPr>
            <a:picLocks noChangeAspect="1"/>
          </p:cNvPicPr>
          <p:nvPr/>
        </p:nvPicPr>
        <p:blipFill>
          <a:blip r:embed="rId4"/>
          <a:stretch>
            <a:fillRect/>
          </a:stretch>
        </p:blipFill>
        <p:spPr>
          <a:xfrm>
            <a:off x="5029200" y="914400"/>
            <a:ext cx="822960" cy="493776"/>
          </a:xfrm>
          <a:prstGeom prst="rect">
            <a:avLst/>
          </a:prstGeom>
        </p:spPr>
      </p:pic>
      <p:pic>
        <p:nvPicPr>
          <p:cNvPr id="9" name="Image 2" descr="bird2.png"/>
          <p:cNvPicPr>
            <a:picLocks noChangeAspect="1"/>
          </p:cNvPicPr>
          <p:nvPr/>
        </p:nvPicPr>
        <p:blipFill>
          <a:blip r:embed="rId5"/>
          <a:stretch>
            <a:fillRect/>
          </a:stretch>
        </p:blipFill>
        <p:spPr>
          <a:xfrm>
            <a:off x="4754880" y="3840480"/>
            <a:ext cx="548640" cy="329184"/>
          </a:xfrm>
          <a:prstGeom prst="rect">
            <a:avLst/>
          </a:prstGeom>
        </p:spPr>
      </p:pic>
      <p:pic>
        <p:nvPicPr>
          <p:cNvPr id="10" name="Image 3" descr="bird3.png"/>
          <p:cNvPicPr>
            <a:picLocks noChangeAspect="1"/>
          </p:cNvPicPr>
          <p:nvPr/>
        </p:nvPicPr>
        <p:blipFill>
          <a:blip r:embed="rId6"/>
          <a:stretch>
            <a:fillRect/>
          </a:stretch>
        </p:blipFill>
        <p:spPr>
          <a:xfrm>
            <a:off x="8229600" y="4023360"/>
            <a:ext cx="457200" cy="274320"/>
          </a:xfrm>
          <a:prstGeom prst="rect">
            <a:avLst/>
          </a:prstGeom>
        </p:spPr>
      </p:pic>
      <p:sp>
        <p:nvSpPr>
          <p:cNvPr id="11" name="Value: DEMO VIDEO LINK"/>
          <p:cNvSpPr txBox="1"/>
          <p:nvPr/>
        </p:nvSpPr>
        <p:spPr>
          <a:xfrm>
            <a:off x="2926080" y="3552443"/>
            <a:ext cx="2103120" cy="438912"/>
          </a:xfrm>
          <a:prstGeom prst="rect">
            <a:avLst/>
          </a:prstGeom>
          <a:noFill/>
        </p:spPr>
        <p:txBody>
          <a:bodyPr wrap="square" lIns="0" rIns="0" tIns="0" bIns="0">
            <a:spAutoFit/>
          </a:bodyPr>
          <a:lstStyle/>
          <a:p>
            <a:r>
              <a:rPr sz="1050" i="1">
                <a:solidFill>
                  <a:srgbClr val="6F7399"/>
                </a:solidFill>
                <a:latin typeface="Calibri"/>
              </a:rPr>
              <a:t>Paste your YouTube link here</a:t>
            </a:r>
          </a:p>
        </p:txBody>
      </p:sp>
      <p:sp>
        <p:nvSpPr>
          <p:cNvPr id="41" name="Value: LIVE APP"/>
          <p:cNvSpPr txBox="1"/>
          <p:nvPr/>
        </p:nvSpPr>
        <p:spPr>
          <a:xfrm>
            <a:off x="548640" y="4375403"/>
            <a:ext cx="4480560" cy="256032"/>
          </a:xfrm>
          <a:prstGeom prst="rect">
            <a:avLst/>
          </a:prstGeom>
          <a:noFill/>
        </p:spPr>
        <p:txBody>
          <a:bodyPr wrap="square" lIns="0" rIns="0" tIns="0" bIns="0">
            <a:spAutoFit/>
          </a:bodyPr>
          <a:lstStyle/>
          <a:p>
            <a:r>
              <a:rPr sz="1100" i="0">
                <a:solidFill>
                  <a:srgbClr val="5B3BA8"/>
                </a:solidFill>
                <a:latin typeface="Calibri"/>
                <a:hlinkClick r:id="rId7"/>
              </a:rPr>
              <a:t>greenq-xi.vercel.app</a:t>
            </a:r>
          </a:p>
        </p:txBody>
      </p:sp>
      <p:sp>
        <p:nvSpPr>
          <p:cNvPr id="42" name="Value: GITHUB REPOSITORY"/>
          <p:cNvSpPr txBox="1"/>
          <p:nvPr/>
        </p:nvSpPr>
        <p:spPr>
          <a:xfrm>
            <a:off x="548640" y="3552443"/>
            <a:ext cx="2103120" cy="438912"/>
          </a:xfrm>
          <a:prstGeom prst="rect">
            <a:avLst/>
          </a:prstGeom>
          <a:noFill/>
        </p:spPr>
        <p:txBody>
          <a:bodyPr wrap="square" lIns="0" rIns="0" tIns="0" bIns="0">
            <a:spAutoFit/>
          </a:bodyPr>
          <a:lstStyle/>
          <a:p>
            <a:r>
              <a:rPr sz="1050" i="0">
                <a:solidFill>
                  <a:srgbClr val="5B3BA8"/>
                </a:solidFill>
                <a:latin typeface="Calibri"/>
                <a:hlinkClick r:id="rId8"/>
              </a:rPr>
              <a:t>github.com/vtu-qiskit-fall-fest-2026/</a:t>
            </a:r>
            <a:br>
              <a:rPr sz="1050" i="0">
                <a:solidFill>
                  <a:srgbClr val="5B3BA8"/>
                </a:solidFill>
                <a:latin typeface="Calibri"/>
              </a:rPr>
            </a:br>
            <a:r>
              <a:rPr sz="1050" i="0">
                <a:solidFill>
                  <a:srgbClr val="5B3BA8"/>
                </a:solidFill>
                <a:latin typeface="Calibri"/>
                <a:hlinkClick r:id="rId8"/>
              </a:rPr>
              <a:t>vtu-hc-response200</a:t>
            </a:r>
          </a:p>
        </p:txBody>
      </p:sp>
    </p:spTree>
  </p:cSld>
  <p:clrMapOvr>
    <a:masterClrMapping/>
  </p:clrMapOvr>
</p:sld>
</file>

<file path=ppt/theme/theme1.xml><?xml version="1.0" encoding="utf-8"?>
<a:theme xmlns:a="http://schemas.openxmlformats.org/drawingml/2006/main" name="Qiskit Fall Fest">
  <a:themeElements>
    <a:clrScheme name="Qiskit Fall Fest">
      <a:dk1>
        <a:srgbClr val="2E1B5B"/>
      </a:dk1>
      <a:lt1>
        <a:srgbClr val="FFFFFF"/>
      </a:lt1>
      <a:dk2>
        <a:srgbClr val="4B2BA8"/>
      </a:dk2>
      <a:lt2>
        <a:srgbClr val="DDE2FC"/>
      </a:lt2>
      <a:accent1>
        <a:srgbClr val="E0558F"/>
      </a:accent1>
      <a:accent2>
        <a:srgbClr val="6B3FD4"/>
      </a:accent2>
      <a:accent3>
        <a:srgbClr val="F5C33B"/>
      </a:accent3>
      <a:accent4>
        <a:srgbClr val="3B82F6"/>
      </a:accent4>
      <a:accent5>
        <a:srgbClr val="7B58B8"/>
      </a:accent5>
      <a:accent6>
        <a:srgbClr val="2BB5A0"/>
      </a:accent6>
      <a:hlink>
        <a:srgbClr val="6B3FD4"/>
      </a:hlink>
      <a:folHlink>
        <a:srgbClr val="4B2BA8"/>
      </a:folHlink>
    </a:clrScheme>
    <a:fontScheme name="Qiskit Fall Fes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