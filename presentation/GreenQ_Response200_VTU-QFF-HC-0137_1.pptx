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1" r:id="rId1"/>
  </p:sldMasterIdLst>
  <p:notesMasterIdLst>
    <p:notesMasterId r:id="rId2"/>
  </p:notesMasterIdLst>
  <p:sldIdLst>
    <p:sldId id="256" r:id="rId4"/>
    <p:sldId id="257" r:id="rId5"/>
    <p:sldId id="258" r:id="rId6"/>
    <p:sldId id="259" r:id="rId7"/>
    <p:sldId id="260" r:id="rId8"/>
    <p:sldId id="261" r:id="rId9"/>
    <p:sldId id="262" r:id="rId10"/>
    <p:sldId id="263" r:id="rId11"/>
    <p:sldId id="264" r:id="rId12"/>
    <p:sldId id="265" r:id="rId13"/>
  </p:sldIdLst>
  <p:sldSz cx="9144000" cy="51435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6666" autoAdjust="0"/>
    <p:restoredTop sz="100000" autoAdjust="0"/>
  </p:normalViewPr>
  <p:slideViewPr>
    <p:cSldViewPr snapToGrid="0" snapToObjects="1">
      <p:cViewPr varScale="1">
        <p:scale>
          <a:sx n="112" d="100"/>
          <a:sy n="112"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24037;&#20316;&#31807;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24037;&#20316;&#31807;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1" i="0" u="none" strike="noStrike" baseline="0">
                <a:solidFill>
                  <a:srgbClr val="2E1B5B"/>
                </a:solidFill>
                <a:latin typeface="Calibri"/>
                <a:ea typeface="Droid Sans"/>
                <a:cs typeface="Lucida Sans"/>
              </a:defRPr>
            </a:pPr>
            <a:r>
              <a:rPr lang="zh-CN"/>
              <a:t>Share of 4,000 shots in the best 10% of plans</a:t>
            </a:r>
          </a:p>
        </c:rich>
      </c:tx>
      <c:layout/>
      <c:overlay val="0"/>
      <c:spPr>
        <a:ln>
          <a:noFill/>
        </a:ln>
      </c:spPr>
    </c:title>
    <c:autoTitleDeleted val="1"/>
    <c:plotArea>
      <c:layout/>
      <c:barChart>
        <c:barDir val="col"/>
        <c:grouping val="clustered"/>
        <c:varyColors val="0"/>
        <c:ser>
          <c:idx val="0"/>
          <c:order val="0"/>
          <c:tx>
            <c:strRef>
              <c:f>Sheet1!$B$1</c:f>
              <c:strCache>
                <c:ptCount val="1"/>
                <c:pt idx="0">
                  <c:v>Random guessing</c:v>
                </c:pt>
              </c:strCache>
            </c:strRef>
          </c:tx>
          <c:spPr>
            <a:solidFill>
              <a:srgbClr val="CBD1F5"/>
            </a:solidFill>
            <a:ln w="12700">
              <a:solidFill>
                <a:srgbClr val="000000"/>
              </a:solidFill>
              <a:prstDash val="solid"/>
            </a:ln>
          </c:spPr>
          <c:invertIfNegative val="0"/>
          <c:dLbls>
            <c:txPr>
              <a:bodyPr/>
              <a:lstStyle/>
              <a:p>
                <a:pPr>
                  <a:defRPr sz="1000" b="0" i="0" u="none" strike="noStrike" baseline="0">
                    <a:solidFill>
                      <a:srgbClr val="6F7399"/>
                    </a:solidFill>
                    <a:latin typeface="Calibri"/>
                    <a:ea typeface="Droid Sans"/>
                    <a:cs typeface="Lucida Sans"/>
                  </a:defRPr>
                </a:pPr>
                <a:endParaRPr lang="zh-CN"/>
              </a:p>
            </c:txPr>
            <c:numFmt formatCode="General" sourceLinked="1"/>
            <c:showLegendKey val="0"/>
            <c:showVal val="1"/>
            <c:showCatName val="0"/>
            <c:showSerName val="0"/>
            <c:showPercent val="0"/>
            <c:showBubbleSize val="0"/>
            <c:showLeaderLines val="1"/>
          </c:dLbls>
          <c:cat>
            <c:strRef>
              <c:f>'Sheet1'!$A$2:$A$4</c:f>
              <c:strCache>
                <c:ptCount val="3"/>
                <c:pt idx="0">
                  <c:v>Water only</c:v>
                </c:pt>
                <c:pt idx="1">
                  <c:v>Balanced</c:v>
                </c:pt>
                <c:pt idx="2">
                  <c:v>Carbon only</c:v>
                </c:pt>
              </c:strCache>
            </c:strRef>
          </c:cat>
          <c:val>
            <c:numRef>
              <c:f>'Sheet1'!$B$2:$B$4</c:f>
              <c:numCache>
                <c:formatCode>General</c:formatCode>
                <c:ptCount val="3"/>
                <c:pt idx="0">
                  <c:v>10.0</c:v>
                </c:pt>
                <c:pt idx="1">
                  <c:v>10.0</c:v>
                </c:pt>
                <c:pt idx="2">
                  <c:v>10.0</c:v>
                </c:pt>
              </c:numCache>
            </c:numRef>
          </c:val>
        </c:ser>
        <c:ser>
          <c:idx val="1"/>
          <c:order val="1"/>
          <c:tx>
            <c:strRef>
              <c:f>Sheet1!$C$1</c:f>
              <c:strCache>
                <c:ptCount val="1"/>
                <c:pt idx="0">
                  <c:v>IBM hardware</c:v>
                </c:pt>
              </c:strCache>
            </c:strRef>
          </c:tx>
          <c:spPr>
            <a:solidFill>
              <a:srgbClr val="5B3BA8"/>
            </a:solidFill>
            <a:ln w="12700">
              <a:solidFill>
                <a:srgbClr val="000000"/>
              </a:solidFill>
              <a:prstDash val="solid"/>
            </a:ln>
          </c:spPr>
          <c:invertIfNegative val="0"/>
          <c:dLbls>
            <c:txPr>
              <a:bodyPr/>
              <a:lstStyle/>
              <a:p>
                <a:pPr>
                  <a:defRPr sz="1000" b="0" i="0" u="none" strike="noStrike" baseline="0">
                    <a:solidFill>
                      <a:srgbClr val="6F7399"/>
                    </a:solidFill>
                    <a:latin typeface="Calibri"/>
                    <a:ea typeface="Droid Sans"/>
                    <a:cs typeface="Lucida Sans"/>
                  </a:defRPr>
                </a:pPr>
                <a:endParaRPr lang="zh-CN"/>
              </a:p>
            </c:txPr>
            <c:numFmt formatCode="General" sourceLinked="1"/>
            <c:showLegendKey val="0"/>
            <c:showVal val="1"/>
            <c:showCatName val="0"/>
            <c:showSerName val="0"/>
            <c:showPercent val="0"/>
            <c:showBubbleSize val="0"/>
            <c:showLeaderLines val="1"/>
          </c:dLbls>
          <c:cat>
            <c:strRef>
              <c:f>'Sheet1'!$A$2:$A$4</c:f>
              <c:strCache>
                <c:ptCount val="3"/>
                <c:pt idx="0">
                  <c:v>Water only</c:v>
                </c:pt>
                <c:pt idx="1">
                  <c:v>Balanced</c:v>
                </c:pt>
                <c:pt idx="2">
                  <c:v>Carbon only</c:v>
                </c:pt>
              </c:strCache>
            </c:strRef>
          </c:cat>
          <c:val>
            <c:numRef>
              <c:f>'Sheet1'!$C$2:$C$4</c:f>
              <c:numCache>
                <c:formatCode>General</c:formatCode>
                <c:ptCount val="3"/>
                <c:pt idx="0">
                  <c:v>18.2</c:v>
                </c:pt>
                <c:pt idx="1">
                  <c:v>18.9</c:v>
                </c:pt>
                <c:pt idx="2">
                  <c:v>22.6</c:v>
                </c:pt>
              </c:numCache>
            </c:numRef>
          </c:val>
        </c:ser>
        <c:ser>
          <c:idx val="2"/>
          <c:order val="2"/>
          <c:tx>
            <c:strRef>
              <c:f>Sheet1!$D$1</c:f>
              <c:strCache>
                <c:ptCount val="1"/>
                <c:pt idx="0">
                  <c:v>IBM + error mitigation</c:v>
                </c:pt>
              </c:strCache>
            </c:strRef>
          </c:tx>
          <c:spPr>
            <a:solidFill>
              <a:srgbClr val="E8639F"/>
            </a:solidFill>
            <a:ln w="12700">
              <a:solidFill>
                <a:srgbClr val="000000"/>
              </a:solidFill>
              <a:prstDash val="solid"/>
            </a:ln>
          </c:spPr>
          <c:invertIfNegative val="0"/>
          <c:dLbls>
            <c:txPr>
              <a:bodyPr/>
              <a:lstStyle/>
              <a:p>
                <a:pPr>
                  <a:defRPr sz="1000" b="0" i="0" u="none" strike="noStrike" baseline="0">
                    <a:solidFill>
                      <a:srgbClr val="6F7399"/>
                    </a:solidFill>
                    <a:latin typeface="Calibri"/>
                    <a:ea typeface="Droid Sans"/>
                    <a:cs typeface="Lucida Sans"/>
                  </a:defRPr>
                </a:pPr>
                <a:endParaRPr lang="zh-CN"/>
              </a:p>
            </c:txPr>
            <c:numFmt formatCode="General" sourceLinked="1"/>
            <c:showLegendKey val="0"/>
            <c:showVal val="1"/>
            <c:showCatName val="0"/>
            <c:showSerName val="0"/>
            <c:showPercent val="0"/>
            <c:showBubbleSize val="0"/>
            <c:showLeaderLines val="1"/>
          </c:dLbls>
          <c:cat>
            <c:strRef>
              <c:f>'Sheet1'!$A$2:$A$4</c:f>
              <c:strCache>
                <c:ptCount val="3"/>
                <c:pt idx="0">
                  <c:v>Water only</c:v>
                </c:pt>
                <c:pt idx="1">
                  <c:v>Balanced</c:v>
                </c:pt>
                <c:pt idx="2">
                  <c:v>Carbon only</c:v>
                </c:pt>
              </c:strCache>
            </c:strRef>
          </c:cat>
          <c:val>
            <c:numRef>
              <c:f>'Sheet1'!$D$2:$D$4</c:f>
              <c:numCache>
                <c:formatCode>General</c:formatCode>
                <c:ptCount val="3"/>
                <c:pt idx="0">
                  <c:v>18.3</c:v>
                </c:pt>
                <c:pt idx="1">
                  <c:v>21.1</c:v>
                </c:pt>
                <c:pt idx="2">
                  <c:v>19.1</c:v>
                </c:pt>
              </c:numCache>
            </c:numRef>
          </c:val>
        </c:ser>
        <c:ser>
          <c:idx val="3"/>
          <c:order val="3"/>
          <c:tx>
            <c:strRef>
              <c:f>Sheet1!$E$1</c:f>
              <c:strCache>
                <c:ptCount val="1"/>
                <c:pt idx="0">
                  <c:v>Perfect simulator</c:v>
                </c:pt>
              </c:strCache>
            </c:strRef>
          </c:tx>
          <c:spPr>
            <a:solidFill>
              <a:srgbClr val="7C93F0"/>
            </a:solidFill>
            <a:ln w="12700">
              <a:solidFill>
                <a:srgbClr val="000000"/>
              </a:solidFill>
              <a:prstDash val="solid"/>
            </a:ln>
          </c:spPr>
          <c:invertIfNegative val="0"/>
          <c:dLbls>
            <c:txPr>
              <a:bodyPr/>
              <a:lstStyle/>
              <a:p>
                <a:pPr>
                  <a:defRPr sz="1000" b="0" i="0" u="none" strike="noStrike" baseline="0">
                    <a:solidFill>
                      <a:srgbClr val="6F7399"/>
                    </a:solidFill>
                    <a:latin typeface="Calibri"/>
                    <a:ea typeface="Droid Sans"/>
                    <a:cs typeface="Lucida Sans"/>
                  </a:defRPr>
                </a:pPr>
                <a:endParaRPr lang="zh-CN"/>
              </a:p>
            </c:txPr>
            <c:numFmt formatCode="General" sourceLinked="1"/>
            <c:showLegendKey val="0"/>
            <c:showVal val="1"/>
            <c:showCatName val="0"/>
            <c:showSerName val="0"/>
            <c:showPercent val="0"/>
            <c:showBubbleSize val="0"/>
            <c:showLeaderLines val="1"/>
          </c:dLbls>
          <c:cat>
            <c:strRef>
              <c:f>'Sheet1'!$A$2:$A$4</c:f>
              <c:strCache>
                <c:ptCount val="3"/>
                <c:pt idx="0">
                  <c:v>Water only</c:v>
                </c:pt>
                <c:pt idx="1">
                  <c:v>Balanced</c:v>
                </c:pt>
                <c:pt idx="2">
                  <c:v>Carbon only</c:v>
                </c:pt>
              </c:strCache>
            </c:strRef>
          </c:cat>
          <c:val>
            <c:numRef>
              <c:f>'Sheet1'!$E$2:$E$4</c:f>
              <c:numCache>
                <c:formatCode>General</c:formatCode>
                <c:ptCount val="3"/>
                <c:pt idx="0">
                  <c:v>28.1</c:v>
                </c:pt>
                <c:pt idx="1">
                  <c:v>33.5</c:v>
                </c:pt>
                <c:pt idx="2">
                  <c:v>30.6</c:v>
                </c:pt>
              </c:numCache>
            </c:numRef>
          </c:val>
        </c:ser>
        <c:overlap val="-5"/>
        <c:gapWidth val="60"/>
        <c:axId val="0"/>
        <c:axId val="1"/>
      </c:barChart>
      <c:catAx>
        <c:axId val="0"/>
        <c:scaling>
          <c:orientation val="minMax"/>
        </c:scaling>
        <c:delete val="0"/>
        <c:axPos val="b"/>
        <c:majorTickMark val="out"/>
        <c:minorTickMark val="none"/>
        <c:tickLblPos val="nextTo"/>
        <c:spPr>
          <a:ln w="3175">
            <a:solidFill>
              <a:srgbClr val="B8BDEB"/>
            </a:solidFill>
            <a:prstDash val="solid"/>
          </a:ln>
        </c:spPr>
        <c:txPr>
          <a:bodyPr/>
          <a:lstStyle/>
          <a:p>
            <a:pPr>
              <a:defRPr sz="1000" b="0" i="0" u="none" strike="noStrike" baseline="0">
                <a:solidFill>
                  <a:srgbClr val="2E1B5B"/>
                </a:solidFill>
                <a:latin typeface="Calibri"/>
                <a:ea typeface="Droid Sans"/>
                <a:cs typeface="Lucida Sans"/>
              </a:defRPr>
            </a:pPr>
            <a:endParaRPr lang="zh-CN"/>
          </a:p>
        </c:txPr>
        <c:crosses val="autoZero"/>
        <c:auto val="1"/>
        <c:lblOffset val="100"/>
        <c:lblAlgn val="ctr"/>
        <c:noMultiLvlLbl val="0"/>
        <c:crossAx val="1"/>
      </c:catAx>
      <c:valAx>
        <c:axId val="1"/>
        <c:scaling>
          <c:orientation val="minMax"/>
          <c:min val="0.0"/>
          <c:max val="40.0"/>
        </c:scaling>
        <c:delete val="0"/>
        <c:axPos val="l"/>
        <c:majorGridlines>
          <c:spPr>
            <a:ln w="3175">
              <a:solidFill>
                <a:srgbClr val="EEF0FE"/>
              </a:solidFill>
              <a:prstDash val="solid"/>
            </a:ln>
          </c:spPr>
        </c:majorGridlines>
        <c:numFmt formatCode="0&quot;%&quot;" sourceLinked="0"/>
        <c:majorTickMark val="out"/>
        <c:minorTickMark val="none"/>
        <c:tickLblPos val="nextTo"/>
        <c:spPr>
          <a:ln>
            <a:noFill/>
          </a:ln>
        </c:spPr>
        <c:txPr>
          <a:bodyPr/>
          <a:lstStyle/>
          <a:p>
            <a:pPr>
              <a:defRPr sz="900" b="0" i="0" u="none" strike="noStrike" baseline="0">
                <a:solidFill>
                  <a:srgbClr val="6F7399"/>
                </a:solidFill>
                <a:latin typeface="Calibri"/>
                <a:ea typeface="Droid Sans"/>
                <a:cs typeface="Lucida Sans"/>
              </a:defRPr>
            </a:pPr>
            <a:endParaRPr lang="zh-CN"/>
          </a:p>
        </c:txPr>
        <c:crosses val="autoZero"/>
        <c:crossBetween val="between"/>
        <c:majorUnit val="10.0"/>
        <c:crossAx val="0"/>
      </c:valAx>
      <c:spPr>
        <a:noFill/>
      </c:spPr>
    </c:plotArea>
    <c:legend>
      <c:legendPos val="b"/>
      <c:layout/>
      <c:overlay val="0"/>
      <c:spPr>
        <a:noFill/>
        <a:ln>
          <a:noFill/>
        </a:ln>
      </c:spPr>
      <c:txPr>
        <a:bodyPr/>
        <a:lstStyle/>
        <a:p>
          <a:pPr>
            <a:defRPr sz="900" b="0" i="0" u="none" strike="noStrike" baseline="0">
              <a:solidFill>
                <a:srgbClr val="6F7399"/>
              </a:solidFill>
              <a:latin typeface="Calibri"/>
              <a:ea typeface="Droid Sans"/>
              <a:cs typeface="Lucida Sans"/>
            </a:defRPr>
          </a:pPr>
          <a:endParaRPr lang="zh-CN"/>
        </a:p>
      </c:txPr>
    </c:legend>
    <c:plotVisOnly val="0"/>
    <c:dispBlanksAs val="gap"/>
    <c:showDLblsOverMax val="0"/>
  </c:chart>
  <c:spPr>
    <a:noFill/>
    <a:ln>
      <a:noFill/>
    </a:ln>
  </c:spPr>
  <c:txPr>
    <a:bodyPr/>
    <a:lstStyle/>
    <a:p>
      <a:pPr>
        <a:defRPr sz="1000" b="0" i="0" u="none" strike="noStrike" baseline="0">
          <a:solidFill>
            <a:srgbClr val="6F7399"/>
          </a:solidFill>
          <a:latin typeface="Calibri"/>
          <a:ea typeface="Droid Sans"/>
          <a:cs typeface="Lucida Sans"/>
        </a:defRPr>
      </a:pPr>
      <a:endParaRPr lang="zh-CN"/>
    </a:p>
  </c:txPr>
  <c:printSettings>
    <c:headerFooter/>
    <c:pageMargins b="0.75" l="0.7" r="0.7" t="0.75" header="0.3" footer="0.3"/>
    <c:pageSetup/>
  </c:printSettings>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1" i="0" u="none" strike="noStrike" baseline="0">
                <a:solidFill>
                  <a:srgbClr val="2E1B5B"/>
                </a:solidFill>
                <a:latin typeface="Calibri"/>
                <a:ea typeface="Droid Sans"/>
                <a:cs typeface="Lucida Sans"/>
              </a:defRPr>
            </a:pPr>
            <a:r>
              <a:rPr lang="zh-CN"/>
              <a:t>Two-qubit gates grow with problem size</a:t>
            </a:r>
          </a:p>
        </c:rich>
      </c:tx>
      <c:layout/>
      <c:overlay val="0"/>
      <c:spPr>
        <a:ln>
          <a:noFill/>
        </a:ln>
      </c:spPr>
    </c:title>
    <c:autoTitleDeleted val="1"/>
    <c:plotArea>
      <c:layout/>
      <c:lineChart>
        <c:grouping val="standard"/>
        <c:varyColors val="0"/>
        <c:ser>
          <c:idx val="0"/>
          <c:order val="0"/>
          <c:tx>
            <c:strRef>
              <c:f>Sheet1(2)!$B$1</c:f>
              <c:strCache>
                <c:ptCount val="1"/>
                <c:pt idx="0">
                  <c:v>Two-qubit gates</c:v>
                </c:pt>
              </c:strCache>
            </c:strRef>
          </c:tx>
          <c:spPr>
            <a:ln w="25400">
              <a:solidFill>
                <a:srgbClr val="5B3BA8"/>
              </a:solidFill>
              <a:prstDash val="solid"/>
            </a:ln>
          </c:spPr>
          <c:marker>
            <c:symbol val="circle"/>
            <c:size val="7"/>
            <c:spPr>
              <a:solidFill>
                <a:srgbClr val="5b3ba8"/>
              </a:solidFill>
              <a:ln>
                <a:solidFill>
                  <a:srgbClr val="ffffff"/>
                </a:solidFill>
                <a:prstDash val="solid"/>
              </a:ln>
            </c:spPr>
          </c:marker>
          <c:dPt>
            <c:idx val="0"/>
            <c:marker>
              <c:symbol val="diamond"/>
              <c:size val="5"/>
              <c:spPr>
                <a:solidFill>
                  <a:srgbClr val="e8639f"/>
                </a:solidFill>
                <a:ln>
                  <a:solidFill>
                    <a:srgbClr val="4F81BD"/>
                  </a:solidFill>
                  <a:prstDash val="solid"/>
                </a:ln>
              </c:spPr>
            </c:marker>
            <c:invertIfNegative val="0"/>
            <c:bubble3D val="0"/>
          </c:dPt>
          <c:dLbls>
            <c:dLbl>
              <c:idx val="0"/>
              <c:txPr>
                <a:bodyPr/>
                <a:lstStyle/>
                <a:p>
                  <a:pPr>
                    <a:defRPr sz="1000" b="1" i="0" u="none" strike="noStrike" baseline="0">
                      <a:solidFill>
                        <a:srgbClr val="E8639F"/>
                      </a:solidFill>
                      <a:latin typeface="Calibri"/>
                      <a:ea typeface="Droid Sans"/>
                      <a:cs typeface="Lucida Sans"/>
                    </a:defRPr>
                  </a:pPr>
                  <a:endParaRPr lang="zh-CN"/>
                </a:p>
              </c:txPr>
              <c:showLegendKey val="0"/>
              <c:showVal val="1"/>
              <c:showCatName val="0"/>
              <c:showSerName val="0"/>
              <c:showPercent val="0"/>
              <c:showBubbleSize val="0"/>
            </c:dLbl>
            <c:dLbl>
              <c:idx val="7"/>
              <c:txPr>
                <a:bodyPr/>
                <a:lstStyle/>
                <a:p>
                  <a:pPr>
                    <a:defRPr sz="1000" b="1" i="0" u="none" strike="noStrike" baseline="0">
                      <a:solidFill>
                        <a:srgbClr val="2E1B5B"/>
                      </a:solidFill>
                      <a:latin typeface="Calibri"/>
                      <a:ea typeface="Droid Sans"/>
                      <a:cs typeface="Lucida Sans"/>
                    </a:defRPr>
                  </a:pPr>
                  <a:endParaRPr lang="zh-CN"/>
                </a:p>
              </c:txPr>
              <c:showLegendKey val="0"/>
              <c:showVal val="1"/>
              <c:showCatName val="0"/>
              <c:showSerName val="0"/>
              <c:showPercent val="0"/>
              <c:showBubbleSize val="0"/>
            </c:dLbl>
            <c:showLegendKey val="0"/>
            <c:showVal val="0"/>
            <c:showCatName val="0"/>
            <c:showSerName val="0"/>
            <c:showPercent val="0"/>
            <c:showBubbleSize val="0"/>
            <c:showLeaderLines val="1"/>
          </c:dLbls>
          <c:cat>
            <c:numRef>
              <c:f>'Sheet1(2)'!$A$2:$A$9</c:f>
              <c:numCache>
                <c:ptCount val="8"/>
                <c:pt idx="0">
                  <c:v>8</c:v>
                </c:pt>
                <c:pt idx="1">
                  <c:v>10</c:v>
                </c:pt>
                <c:pt idx="2">
                  <c:v>12</c:v>
                </c:pt>
                <c:pt idx="3">
                  <c:v>14</c:v>
                </c:pt>
                <c:pt idx="4">
                  <c:v>16</c:v>
                </c:pt>
                <c:pt idx="5">
                  <c:v>18</c:v>
                </c:pt>
                <c:pt idx="6">
                  <c:v>20</c:v>
                </c:pt>
                <c:pt idx="7">
                  <c:v>22</c:v>
                </c:pt>
              </c:numCache>
            </c:numRef>
          </c:cat>
          <c:val>
            <c:numRef>
              <c:f>'Sheet1(2)'!$B$2:$B$9</c:f>
              <c:numCache>
                <c:formatCode>General</c:formatCode>
                <c:ptCount val="8"/>
                <c:pt idx="0">
                  <c:v>114.0</c:v>
                </c:pt>
                <c:pt idx="1">
                  <c:v>188.0</c:v>
                </c:pt>
                <c:pt idx="2">
                  <c:v>280.0</c:v>
                </c:pt>
                <c:pt idx="3">
                  <c:v>411.0</c:v>
                </c:pt>
                <c:pt idx="4">
                  <c:v>518.0</c:v>
                </c:pt>
                <c:pt idx="5">
                  <c:v>664.0</c:v>
                </c:pt>
                <c:pt idx="6">
                  <c:v>828.0</c:v>
                </c:pt>
                <c:pt idx="7">
                  <c:v>1010.0</c:v>
                </c:pt>
              </c:numCache>
            </c:numRef>
          </c:val>
          <c:smooth val="0"/>
        </c:ser>
        <c:marker val="1"/>
        <c:smooth val="0"/>
        <c:axId val="0"/>
        <c:axId val="1"/>
      </c:lineChart>
      <c:catAx>
        <c:axId val="0"/>
        <c:scaling>
          <c:orientation val="minMax"/>
        </c:scaling>
        <c:delete val="0"/>
        <c:axPos val="b"/>
        <c:majorTickMark val="out"/>
        <c:minorTickMark val="none"/>
        <c:tickLblPos val="nextTo"/>
        <c:spPr>
          <a:ln w="3175">
            <a:solidFill>
              <a:srgbClr val="B8BDEB"/>
            </a:solidFill>
            <a:prstDash val="solid"/>
          </a:ln>
        </c:spPr>
        <c:txPr>
          <a:bodyPr/>
          <a:lstStyle/>
          <a:p>
            <a:pPr>
              <a:defRPr sz="900" b="0" i="0" u="none" strike="noStrike" baseline="0">
                <a:solidFill>
                  <a:srgbClr val="6F7399"/>
                </a:solidFill>
                <a:latin typeface="Calibri"/>
                <a:ea typeface="Droid Sans"/>
                <a:cs typeface="Lucida Sans"/>
              </a:defRPr>
            </a:pPr>
            <a:endParaRPr lang="zh-CN"/>
          </a:p>
        </c:txPr>
        <c:crosses val="autoZero"/>
        <c:auto val="1"/>
        <c:lblOffset val="100"/>
        <c:lblAlgn val="ctr"/>
        <c:noMultiLvlLbl val="0"/>
        <c:crossAx val="1"/>
      </c:catAx>
      <c:valAx>
        <c:axId val="1"/>
        <c:scaling>
          <c:orientation val="minMax"/>
          <c:min val="0.0"/>
          <c:max val="1200.0"/>
        </c:scaling>
        <c:delete val="0"/>
        <c:axPos val="l"/>
        <c:majorGridlines>
          <c:spPr>
            <a:ln w="3175">
              <a:solidFill>
                <a:srgbClr val="EEF0FE"/>
              </a:solidFill>
              <a:prstDash val="solid"/>
            </a:ln>
          </c:spPr>
        </c:majorGridlines>
        <c:numFmt formatCode="General" sourceLinked="1"/>
        <c:majorTickMark val="out"/>
        <c:minorTickMark val="none"/>
        <c:tickLblPos val="nextTo"/>
        <c:spPr>
          <a:ln>
            <a:noFill/>
          </a:ln>
        </c:spPr>
        <c:txPr>
          <a:bodyPr/>
          <a:lstStyle/>
          <a:p>
            <a:pPr>
              <a:defRPr sz="900" b="0" i="0" u="none" strike="noStrike" baseline="0">
                <a:solidFill>
                  <a:srgbClr val="6F7399"/>
                </a:solidFill>
                <a:latin typeface="Calibri"/>
                <a:ea typeface="Droid Sans"/>
                <a:cs typeface="Lucida Sans"/>
              </a:defRPr>
            </a:pPr>
            <a:endParaRPr lang="zh-CN"/>
          </a:p>
        </c:txPr>
        <c:crosses val="autoZero"/>
        <c:crossBetween val="between"/>
        <c:majorUnit val="300.0"/>
        <c:crossAx val="0"/>
      </c:valAx>
      <c:spPr>
        <a:noFill/>
      </c:spPr>
    </c:plotArea>
    <c:plotVisOnly val="1"/>
    <c:dispBlanksAs val="gap"/>
    <c:showDLblsOverMax val="0"/>
  </c:chart>
  <c:spPr>
    <a:noFill/>
    <a:ln>
      <a:noFill/>
    </a:ln>
  </c:spPr>
  <c:txPr>
    <a:bodyPr/>
    <a:lstStyle/>
    <a:p>
      <a:pPr>
        <a:defRPr sz="1000" b="0" i="0" u="none" strike="noStrike" baseline="0">
          <a:solidFill>
            <a:srgbClr val="6F7399"/>
          </a:solidFill>
          <a:latin typeface="Calibri"/>
          <a:ea typeface="Droid Sans"/>
          <a:cs typeface="Lucida Sans"/>
        </a:defRPr>
      </a:pPr>
      <a:endParaRPr lang="zh-CN"/>
    </a:p>
  </c:txPr>
  <c:printSettings>
    <c:headerFooter/>
    <c:pageMargins b="0.75" l="0.7" r="0.7" t="0.75" header="0.3" footer="0.3"/>
    <c:pageSetup/>
  </c:printSettings>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2913063" y="8685213"/>
            <a:ext cx="222885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&lt;#&gt;</a:t>
            </a:fld>
            <a:endParaRPr lang="zh-CN" altLang="en-US" sz="1200">
              <a:latin typeface="Aptos" pitchFamily="0" charset="0"/>
              <a:ea typeface="等线" pitchFamily="0" charset="0"/>
              <a:cs typeface="Aptos" pitchFamily="0" charset="0"/>
            </a:endParaRPr>
          </a:p>
        </p:txBody>
      </p:sp>
      <p:sp>
        <p:nvSpPr>
          <p:cNvPr id="3" name="文本框"/>
          <p:cNvSpPr>
            <a:spLocks noGrp="1"/>
          </p:cNvSpPr>
          <p:nvPr>
            <p:ph type="hdr"/>
          </p:nvPr>
        </p:nvSpPr>
        <p:spPr>
          <a:xfrm rot="0">
            <a:off x="0" y="0"/>
            <a:ext cx="2228850" cy="458787"/>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Aptos" pitchFamily="0" charset="0"/>
              <a:ea typeface="等线" pitchFamily="0" charset="0"/>
              <a:cs typeface="Aptos" pitchFamily="0" charset="0"/>
            </a:endParaRPr>
          </a:p>
        </p:txBody>
      </p:sp>
      <p:sp>
        <p:nvSpPr>
          <p:cNvPr id="4" name="文本框"/>
          <p:cNvSpPr>
            <a:spLocks noGrp="1"/>
          </p:cNvSpPr>
          <p:nvPr>
            <p:ph type="dt" idx="1"/>
          </p:nvPr>
        </p:nvSpPr>
        <p:spPr>
          <a:xfrm rot="0">
            <a:off x="2913063" y="0"/>
            <a:ext cx="2228850" cy="458787"/>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Aptos" pitchFamily="0" charset="0"/>
                <a:ea typeface="等线" pitchFamily="0" charset="0"/>
                <a:cs typeface="Aptos" pitchFamily="0" charset="0"/>
              </a:rPr>
              <a:t>10/23/2026</a:t>
            </a:fld>
            <a:endParaRPr lang="zh-CN" altLang="en-US" sz="1200">
              <a:latin typeface="Aptos" pitchFamily="0" charset="0"/>
              <a:ea typeface="等线" pitchFamily="0" charset="0"/>
              <a:cs typeface="Aptos" pitchFamily="0" charset="0"/>
            </a:endParaRPr>
          </a:p>
        </p:txBody>
      </p:sp>
      <p:sp>
        <p:nvSpPr>
          <p:cNvPr id="5" name="对象"/>
          <p:cNvSpPr>
            <a:spLocks noGrp="1" noChangeAspect="1"/>
          </p:cNvSpPr>
          <p:nvPr>
            <p:ph type="sldImg" idx="2"/>
          </p:nvPr>
        </p:nvSpPr>
        <p:spPr>
          <a:xfrm rot="0">
            <a:off x="-171450" y="1143000"/>
            <a:ext cx="5486400" cy="3086100"/>
          </a:xfrm>
          <a:prstGeom prst="rect"/>
          <a:noFill/>
          <a:ln w="12700" cmpd="sng" cap="flat">
            <a:solidFill>
              <a:srgbClr val="000000"/>
            </a:solidFill>
            <a:prstDash val="solid"/>
            <a:round/>
          </a:ln>
        </p:spPr>
      </p:sp>
      <p:sp>
        <p:nvSpPr>
          <p:cNvPr id="6" name="文本框"/>
          <p:cNvSpPr>
            <a:spLocks noGrp="1"/>
          </p:cNvSpPr>
          <p:nvPr>
            <p:ph type="body" idx="3"/>
          </p:nvPr>
        </p:nvSpPr>
        <p:spPr>
          <a:xfrm rot="0">
            <a:off x="514350" y="4400550"/>
            <a:ext cx="41148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文本框"/>
          <p:cNvSpPr>
            <a:spLocks noGrp="1"/>
          </p:cNvSpPr>
          <p:nvPr>
            <p:ph type="ftr" idx="4"/>
          </p:nvPr>
        </p:nvSpPr>
        <p:spPr>
          <a:xfrm rot="0">
            <a:off x="0" y="8685213"/>
            <a:ext cx="2228850" cy="4587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328861905"/>
      </p:ext>
    </p:extLst>
  </p:cSld>
  <p:clrMap bg1="lt1" tx1="dk1" bg2="lt2" tx2="dk2" accent1="accent1" accent2="accent2" accent3="accent3" accent4="accent4" accent5="accent5" accent6="accent6" hlink="hlink" folHlink="folHlink"/>
  <p:hf sldNum="1"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2913063" y="8685213"/>
            <a:ext cx="222885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1</a:t>
            </a:fld>
            <a:endParaRPr lang="zh-CN" altLang="en-US" sz="1200">
              <a:latin typeface="Aptos" pitchFamily="0" charset="0"/>
              <a:ea typeface="等线" pitchFamily="0" charset="0"/>
              <a:cs typeface="Aptos" pitchFamily="0" charset="0"/>
            </a:endParaRPr>
          </a:p>
        </p:txBody>
      </p:sp>
      <p:sp>
        <p:nvSpPr>
          <p:cNvPr id="50" name="对象"/>
          <p:cNvSpPr>
            <a:spLocks noGrp="1" noChangeAspect="1"/>
          </p:cNvSpPr>
          <p:nvPr>
            <p:ph type="sldImg"/>
          </p:nvPr>
        </p:nvSpPr>
        <p:spPr>
          <a:xfrm rot="0">
            <a:off x="-171450" y="1143000"/>
            <a:ext cx="5486400" cy="3086100"/>
          </a:xfrm>
          <a:prstGeom prst="rect"/>
          <a:noFill/>
          <a:ln w="12700" cmpd="sng" cap="flat">
            <a:noFill/>
            <a:prstDash val="solid"/>
            <a:miter/>
          </a:ln>
        </p:spPr>
      </p:sp>
      <p:sp>
        <p:nvSpPr>
          <p:cNvPr id="51" name="文本框"/>
          <p:cNvSpPr>
            <a:spLocks noGrp="1"/>
          </p:cNvSpPr>
          <p:nvPr>
            <p:ph type="body" idx="1"/>
          </p:nvPr>
        </p:nvSpPr>
        <p:spPr>
          <a:xfrm rot="0">
            <a:off x="514350" y="4400550"/>
            <a:ext cx="41148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We are Team Response200. Our project is GreenQ: it decides where and when to run flexible data-centre jobs so they use less carbon and less water. The optimiser is QAOA written in Qiskit, and we ran it on a real IBM quantum computer.</a:t>
            </a:r>
            <a:endParaRPr lang="zh-CN" altLang="en-US"/>
          </a:p>
        </p:txBody>
      </p:sp>
    </p:spTree>
    <p:extLst>
      <p:ext uri="{BB962C8B-B14F-4D97-AF65-F5344CB8AC3E}">
        <p14:creationId xmlns:p14="http://schemas.microsoft.com/office/powerpoint/2010/main" val="1718631698"/>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2913063" y="8685213"/>
            <a:ext cx="222885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2</a:t>
            </a:fld>
            <a:endParaRPr lang="zh-CN" altLang="en-US" sz="1200">
              <a:latin typeface="Aptos" pitchFamily="0" charset="0"/>
              <a:ea typeface="等线" pitchFamily="0" charset="0"/>
              <a:cs typeface="Aptos" pitchFamily="0" charset="0"/>
            </a:endParaRPr>
          </a:p>
        </p:txBody>
      </p:sp>
      <p:sp>
        <p:nvSpPr>
          <p:cNvPr id="113" name="对象"/>
          <p:cNvSpPr>
            <a:spLocks noGrp="1" noChangeAspect="1"/>
          </p:cNvSpPr>
          <p:nvPr>
            <p:ph type="sldImg"/>
          </p:nvPr>
        </p:nvSpPr>
        <p:spPr>
          <a:xfrm rot="0">
            <a:off x="-171450" y="1143000"/>
            <a:ext cx="5486400" cy="3086100"/>
          </a:xfrm>
          <a:prstGeom prst="rect"/>
          <a:noFill/>
          <a:ln w="12700" cmpd="sng" cap="flat">
            <a:noFill/>
            <a:prstDash val="solid"/>
            <a:miter/>
          </a:ln>
        </p:spPr>
      </p:sp>
      <p:sp>
        <p:nvSpPr>
          <p:cNvPr id="114" name="文本框"/>
          <p:cNvSpPr>
            <a:spLocks noGrp="1"/>
          </p:cNvSpPr>
          <p:nvPr>
            <p:ph type="body" idx="1"/>
          </p:nvPr>
        </p:nvSpPr>
        <p:spPr>
          <a:xfrm rot="0">
            <a:off x="514350" y="4400550"/>
            <a:ext cx="41148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Data centres burn electricity, which means carbon, and they use water for cooling. Many jobs, like model training or analytics, are flexible: they can run at another site or at another time. The catch is that the two goals conflict. Evaporative cooling saves electricity but evaporates water; air cooling saves water but uses more electricity. So there is no single best site, and even four jobs give 256 possible plans. The grid and power-plant water figures are cited; site and job figures are illustrative.</a:t>
            </a:r>
            <a:endParaRPr lang="zh-CN" altLang="en-US"/>
          </a:p>
        </p:txBody>
      </p:sp>
    </p:spTree>
    <p:extLst>
      <p:ext uri="{BB962C8B-B14F-4D97-AF65-F5344CB8AC3E}">
        <p14:creationId xmlns:p14="http://schemas.microsoft.com/office/powerpoint/2010/main" val="520310972"/>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2913063" y="8685213"/>
            <a:ext cx="222885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3</a:t>
            </a:fld>
            <a:endParaRPr lang="zh-CN" altLang="en-US" sz="1200">
              <a:latin typeface="Aptos" pitchFamily="0" charset="0"/>
              <a:ea typeface="等线" pitchFamily="0" charset="0"/>
              <a:cs typeface="Aptos" pitchFamily="0" charset="0"/>
            </a:endParaRPr>
          </a:p>
        </p:txBody>
      </p:sp>
      <p:sp>
        <p:nvSpPr>
          <p:cNvPr id="138" name="对象"/>
          <p:cNvSpPr>
            <a:spLocks noGrp="1" noChangeAspect="1"/>
          </p:cNvSpPr>
          <p:nvPr>
            <p:ph type="sldImg"/>
          </p:nvPr>
        </p:nvSpPr>
        <p:spPr>
          <a:xfrm rot="0">
            <a:off x="-171450" y="1143000"/>
            <a:ext cx="5486400" cy="3086100"/>
          </a:xfrm>
          <a:prstGeom prst="rect"/>
          <a:noFill/>
          <a:ln w="12700" cmpd="sng" cap="flat">
            <a:noFill/>
            <a:prstDash val="solid"/>
            <a:miter/>
          </a:ln>
        </p:spPr>
      </p:sp>
      <p:sp>
        <p:nvSpPr>
          <p:cNvPr id="139" name="文本框"/>
          <p:cNvSpPr>
            <a:spLocks noGrp="1"/>
          </p:cNvSpPr>
          <p:nvPr>
            <p:ph type="body" idx="1"/>
          </p:nvPr>
        </p:nvSpPr>
        <p:spPr>
          <a:xfrm rot="0">
            <a:off x="514350" y="4400550"/>
            <a:ext cx="41148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Three objectives: cut carbon and water together with one priority slider; decide where and when with QAOA in Qiskit on real IBM hardware; and prove every answer against the true best. Our main design decision is the encoding. The textbook one-hot form needs 16 qubits and only 0.39 percent of its outputs are valid schedules. We give each job one 'where' qubit and one 'when' qubit: 8 qubits, every output valid, no penalty tuning, and half the two-qubit gates on the real chip.</a:t>
            </a:r>
            <a:endParaRPr lang="zh-CN" altLang="en-US"/>
          </a:p>
        </p:txBody>
      </p:sp>
    </p:spTree>
    <p:extLst>
      <p:ext uri="{BB962C8B-B14F-4D97-AF65-F5344CB8AC3E}">
        <p14:creationId xmlns:p14="http://schemas.microsoft.com/office/powerpoint/2010/main" val="1062834078"/>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2913063" y="8685213"/>
            <a:ext cx="222885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4</a:t>
            </a:fld>
            <a:endParaRPr lang="zh-CN" altLang="en-US" sz="1200">
              <a:latin typeface="Aptos" pitchFamily="0" charset="0"/>
              <a:ea typeface="等线" pitchFamily="0" charset="0"/>
              <a:cs typeface="Aptos" pitchFamily="0" charset="0"/>
            </a:endParaRPr>
          </a:p>
        </p:txBody>
      </p:sp>
      <p:sp>
        <p:nvSpPr>
          <p:cNvPr id="184" name="对象"/>
          <p:cNvSpPr>
            <a:spLocks noGrp="1" noChangeAspect="1"/>
          </p:cNvSpPr>
          <p:nvPr>
            <p:ph type="sldImg"/>
          </p:nvPr>
        </p:nvSpPr>
        <p:spPr>
          <a:xfrm rot="0">
            <a:off x="-171450" y="1143000"/>
            <a:ext cx="5486400" cy="3086100"/>
          </a:xfrm>
          <a:prstGeom prst="rect"/>
          <a:noFill/>
          <a:ln w="12700" cmpd="sng" cap="flat">
            <a:noFill/>
            <a:prstDash val="solid"/>
            <a:miter/>
          </a:ln>
        </p:spPr>
      </p:sp>
      <p:sp>
        <p:nvSpPr>
          <p:cNvPr id="185" name="文本框"/>
          <p:cNvSpPr>
            <a:spLocks noGrp="1"/>
          </p:cNvSpPr>
          <p:nvPr>
            <p:ph type="body" idx="1"/>
          </p:nvPr>
        </p:nvSpPr>
        <p:spPr>
          <a:xfrm rot="0">
            <a:off x="514350" y="4400550"/>
            <a:ext cx="41148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The pipeline: we model the carbon and water of every plan, turn that cost into an 8-qubit Hamiltonian with 31 terms, train QAOA's two angles on a simulator, run the trained circuit on IBM hardware, and check the result against brute force over all 256 plans. On quantum advantage we are explicit: we do not claim it. At this size a laptop solves the problem instantly, and we use it as the referee. What the real quantum computer does show is a clear shift toward cheap plans: about twice as many shots land in the best 10 percent as with random guessing. Because each job needs only two qubits, the formulation scales linearly; what limits us today is hardware noise.</a:t>
            </a:r>
            <a:endParaRPr lang="zh-CN" altLang="en-US"/>
          </a:p>
        </p:txBody>
      </p:sp>
    </p:spTree>
    <p:extLst>
      <p:ext uri="{BB962C8B-B14F-4D97-AF65-F5344CB8AC3E}">
        <p14:creationId xmlns:p14="http://schemas.microsoft.com/office/powerpoint/2010/main" val="20576187"/>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2913063" y="8685213"/>
            <a:ext cx="222885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5</a:t>
            </a:fld>
            <a:endParaRPr lang="zh-CN" altLang="en-US" sz="1200">
              <a:latin typeface="Aptos" pitchFamily="0" charset="0"/>
              <a:ea typeface="等线" pitchFamily="0" charset="0"/>
              <a:cs typeface="Aptos" pitchFamily="0" charset="0"/>
            </a:endParaRPr>
          </a:p>
        </p:txBody>
      </p:sp>
      <p:sp>
        <p:nvSpPr>
          <p:cNvPr id="208" name="对象"/>
          <p:cNvSpPr>
            <a:spLocks noGrp="1" noChangeAspect="1"/>
          </p:cNvSpPr>
          <p:nvPr>
            <p:ph type="sldImg"/>
          </p:nvPr>
        </p:nvSpPr>
        <p:spPr>
          <a:xfrm rot="0">
            <a:off x="-171450" y="1143000"/>
            <a:ext cx="5486400" cy="3086100"/>
          </a:xfrm>
          <a:prstGeom prst="rect"/>
          <a:noFill/>
          <a:ln w="12700" cmpd="sng" cap="flat">
            <a:noFill/>
            <a:prstDash val="solid"/>
            <a:miter/>
          </a:ln>
        </p:spPr>
      </p:sp>
      <p:sp>
        <p:nvSpPr>
          <p:cNvPr id="209" name="文本框"/>
          <p:cNvSpPr>
            <a:spLocks noGrp="1"/>
          </p:cNvSpPr>
          <p:nvPr>
            <p:ph type="body" idx="1"/>
          </p:nvPr>
        </p:nvSpPr>
        <p:spPr>
          <a:xfrm rot="0">
            <a:off x="514350" y="4400550"/>
            <a:ext cx="41148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This is the real circuit we ran. Each job has two qubits, a 'when' and a 'where' qubit. Hadamards create an equal superposition of all 256 plans. The cost layer adds a phase proportional to each plan's carbon-and-water cost, using Z, ZZ and ZZZZ terms; a test checks that this Hamiltonian equals the classical cost on all 256 plans. The mixer then makes cheap plans interfere constructively. We train the two angles with CVaR and COBYLA on a simulator, because the free IBM plan gives about 10 minutes of quantum time a month, and send only the trained circuit to hardware. After transpiling for ibm_marrakesh it has 114 two-qubit gates.</a:t>
            </a:r>
            <a:endParaRPr lang="zh-CN" altLang="en-US"/>
          </a:p>
        </p:txBody>
      </p:sp>
    </p:spTree>
    <p:extLst>
      <p:ext uri="{BB962C8B-B14F-4D97-AF65-F5344CB8AC3E}">
        <p14:creationId xmlns:p14="http://schemas.microsoft.com/office/powerpoint/2010/main" val="1904289464"/>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2913063" y="8685213"/>
            <a:ext cx="222885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6</a:t>
            </a:fld>
            <a:endParaRPr lang="zh-CN" altLang="en-US" sz="1200">
              <a:latin typeface="Aptos" pitchFamily="0" charset="0"/>
              <a:ea typeface="等线" pitchFamily="0" charset="0"/>
              <a:cs typeface="Aptos" pitchFamily="0" charset="0"/>
            </a:endParaRPr>
          </a:p>
        </p:txBody>
      </p:sp>
      <p:sp>
        <p:nvSpPr>
          <p:cNvPr id="239" name="对象"/>
          <p:cNvSpPr>
            <a:spLocks noGrp="1" noChangeAspect="1"/>
          </p:cNvSpPr>
          <p:nvPr>
            <p:ph type="sldImg"/>
          </p:nvPr>
        </p:nvSpPr>
        <p:spPr>
          <a:xfrm rot="0">
            <a:off x="-171450" y="1143000"/>
            <a:ext cx="5486400" cy="3086100"/>
          </a:xfrm>
          <a:prstGeom prst="rect"/>
          <a:noFill/>
          <a:ln w="12700" cmpd="sng" cap="flat">
            <a:noFill/>
            <a:prstDash val="solid"/>
            <a:miter/>
          </a:ln>
        </p:spPr>
      </p:sp>
      <p:sp>
        <p:nvSpPr>
          <p:cNvPr id="240" name="文本框"/>
          <p:cNvSpPr>
            <a:spLocks noGrp="1"/>
          </p:cNvSpPr>
          <p:nvPr>
            <p:ph type="body" idx="1"/>
          </p:nvPr>
        </p:nvSpPr>
        <p:spPr>
          <a:xfrm rot="0">
            <a:off x="514350" y="4400550"/>
            <a:ext cx="41148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Three layers. The quantum core is plain Python with Qiskit 2.6: the cost model, the encoding, QAOA, and the IBM Runtime SamplerV2 runs on ibm_marrakesh. Every hardware result is saved with its job ID, so the demo never depends on the queue. A FastAPI server serves the saved results and an AI layer on Groq that only explains results; it never chooses a schedule. The web app is React with a mascot, Dewy, that guides the viewer. One command starts everything, and an automated test suite checks the model, the Hamiltonian and the AI guard-rails.</a:t>
            </a:r>
            <a:endParaRPr lang="zh-CN" altLang="en-US"/>
          </a:p>
        </p:txBody>
      </p:sp>
    </p:spTree>
    <p:extLst>
      <p:ext uri="{BB962C8B-B14F-4D97-AF65-F5344CB8AC3E}">
        <p14:creationId xmlns:p14="http://schemas.microsoft.com/office/powerpoint/2010/main" val="1976809696"/>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2913063" y="8685213"/>
            <a:ext cx="222885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7</a:t>
            </a:fld>
            <a:endParaRPr lang="zh-CN" altLang="en-US" sz="1200">
              <a:latin typeface="Aptos" pitchFamily="0" charset="0"/>
              <a:ea typeface="等线" pitchFamily="0" charset="0"/>
              <a:cs typeface="Aptos" pitchFamily="0" charset="0"/>
            </a:endParaRPr>
          </a:p>
        </p:txBody>
      </p:sp>
      <p:sp>
        <p:nvSpPr>
          <p:cNvPr id="267" name="对象"/>
          <p:cNvSpPr>
            <a:spLocks noGrp="1" noChangeAspect="1"/>
          </p:cNvSpPr>
          <p:nvPr>
            <p:ph type="sldImg"/>
          </p:nvPr>
        </p:nvSpPr>
        <p:spPr>
          <a:xfrm rot="0">
            <a:off x="-171450" y="1143000"/>
            <a:ext cx="5486400" cy="3086100"/>
          </a:xfrm>
          <a:prstGeom prst="rect"/>
          <a:noFill/>
          <a:ln w="12700" cmpd="sng" cap="flat">
            <a:noFill/>
            <a:prstDash val="solid"/>
            <a:miter/>
          </a:ln>
        </p:spPr>
      </p:sp>
      <p:sp>
        <p:nvSpPr>
          <p:cNvPr id="268" name="文本框"/>
          <p:cNvSpPr>
            <a:spLocks noGrp="1"/>
          </p:cNvSpPr>
          <p:nvPr>
            <p:ph type="body" idx="1"/>
          </p:nvPr>
        </p:nvSpPr>
        <p:spPr>
          <a:xfrm rot="0">
            <a:off x="514350" y="4400550"/>
            <a:ext cx="41148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Left: where the 4,000 shots landed. Random guessing puts 10 percent of its shots in the best tenth of plans. The real IBM computer put 18 to 23 percent there, about twice as many, and a perfect simulator about a third. All hardware runs beat random by 14 to 19 standard errors. Error mitigation, dynamical decoupling plus twirling, helped in one setting and hurt in another, so we report no consistent gain. Right: in the balanced setting the best plan saves 530 kg of CO2 and 1,798 litres of water against running every job at home immediately, about 14 percent each. The site and job data are illustrative. And honestly: greedy and simulated annealing also find the best plan at this size, faster. Our claim is a validated formulation, not a speed-up.</a:t>
            </a:r>
            <a:endParaRPr lang="zh-CN" altLang="en-US"/>
          </a:p>
        </p:txBody>
      </p:sp>
    </p:spTree>
    <p:extLst>
      <p:ext uri="{BB962C8B-B14F-4D97-AF65-F5344CB8AC3E}">
        <p14:creationId xmlns:p14="http://schemas.microsoft.com/office/powerpoint/2010/main" val="1100503762"/>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2913063" y="8685213"/>
            <a:ext cx="222885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8</a:t>
            </a:fld>
            <a:endParaRPr lang="zh-CN" altLang="en-US" sz="1200">
              <a:latin typeface="Aptos" pitchFamily="0" charset="0"/>
              <a:ea typeface="等线" pitchFamily="0" charset="0"/>
              <a:cs typeface="Aptos" pitchFamily="0" charset="0"/>
            </a:endParaRPr>
          </a:p>
        </p:txBody>
      </p:sp>
      <p:sp>
        <p:nvSpPr>
          <p:cNvPr id="307" name="对象"/>
          <p:cNvSpPr>
            <a:spLocks noGrp="1" noChangeAspect="1"/>
          </p:cNvSpPr>
          <p:nvPr>
            <p:ph type="sldImg"/>
          </p:nvPr>
        </p:nvSpPr>
        <p:spPr>
          <a:xfrm rot="0">
            <a:off x="-171450" y="1143000"/>
            <a:ext cx="5486400" cy="3086100"/>
          </a:xfrm>
          <a:prstGeom prst="rect"/>
          <a:noFill/>
          <a:ln w="12700" cmpd="sng" cap="flat">
            <a:noFill/>
            <a:prstDash val="solid"/>
            <a:miter/>
          </a:ln>
        </p:spPr>
      </p:sp>
      <p:sp>
        <p:nvSpPr>
          <p:cNvPr id="308" name="文本框"/>
          <p:cNvSpPr>
            <a:spLocks noGrp="1"/>
          </p:cNvSpPr>
          <p:nvPr>
            <p:ph type="body" idx="1"/>
          </p:nvPr>
        </p:nvSpPr>
        <p:spPr>
          <a:xfrm rot="0">
            <a:off x="514350" y="4400550"/>
            <a:ext cx="41148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Who would use this: cloud and colocation providers, AI and HPC labs that queue large batch jobs, and enterprises with carbon and water targets. Location matters too: a litre in a water-stressed state counts for more, which we model with WRI Aqueduct scores. The AI copilot runs on Groq. Operators can ask why a plan was chosen and get a short plain-language answer, or type their jobs in plain English and get a plan. It is guard-railed: the AI never chooses the schedule, every number it writes is checked against our data, and the demo falls back to saved answers when offline. What could it be worth? For an assumed fleet of 100 GWh a year with 20 percent flexible load, our measured 14 percent saving would be about 3,420 tonnes of CO2 and 11.6 million litres of water a year. Those inputs are assumptions, shown as such.</a:t>
            </a:r>
            <a:endParaRPr lang="zh-CN" altLang="en-US"/>
          </a:p>
        </p:txBody>
      </p:sp>
    </p:spTree>
    <p:extLst>
      <p:ext uri="{BB962C8B-B14F-4D97-AF65-F5344CB8AC3E}">
        <p14:creationId xmlns:p14="http://schemas.microsoft.com/office/powerpoint/2010/main" val="1621690457"/>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2913063" y="8685213"/>
            <a:ext cx="222885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9</a:t>
            </a:fld>
            <a:endParaRPr lang="zh-CN" altLang="en-US" sz="1200">
              <a:latin typeface="Aptos" pitchFamily="0" charset="0"/>
              <a:ea typeface="等线" pitchFamily="0" charset="0"/>
              <a:cs typeface="Aptos" pitchFamily="0" charset="0"/>
            </a:endParaRPr>
          </a:p>
        </p:txBody>
      </p:sp>
      <p:sp>
        <p:nvSpPr>
          <p:cNvPr id="336" name="对象"/>
          <p:cNvSpPr>
            <a:spLocks noGrp="1" noChangeAspect="1"/>
          </p:cNvSpPr>
          <p:nvPr>
            <p:ph type="sldImg"/>
          </p:nvPr>
        </p:nvSpPr>
        <p:spPr>
          <a:xfrm rot="0">
            <a:off x="-171450" y="1143000"/>
            <a:ext cx="5486400" cy="3086100"/>
          </a:xfrm>
          <a:prstGeom prst="rect"/>
          <a:noFill/>
          <a:ln w="12700" cmpd="sng" cap="flat">
            <a:noFill/>
            <a:prstDash val="solid"/>
            <a:miter/>
          </a:ln>
        </p:spPr>
      </p:sp>
      <p:sp>
        <p:nvSpPr>
          <p:cNvPr id="337" name="文本框"/>
          <p:cNvSpPr>
            <a:spLocks noGrp="1"/>
          </p:cNvSpPr>
          <p:nvPr>
            <p:ph type="body" idx="1"/>
          </p:nvPr>
        </p:nvSpPr>
        <p:spPr>
          <a:xfrm rot="0">
            <a:off x="514350" y="4400550"/>
            <a:ext cx="41148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We measured how the problem grows. From 4 to 11 jobs the qubits grow linearly, 2 per job, but the two-qubit gates grow from 114 to 1,010, because every pair of jobs that can share a slot adds gates. Today's hardware handles our 8-qubit case; the real chip kept roughly half to two thirds of the ideal simulator's gain. Our limits are clear: noise, circuit depth, about 10 minutes of free quantum time a month, and illustrative site data. Next: split large fleets into small sub-problems that fit the hardware, plug in live regional carbon and water data, connect to real job schedulers like Kubernetes or Slurm, and use deeper circuits as hardware improves.</a:t>
            </a:r>
            <a:endParaRPr lang="zh-CN" altLang="en-US"/>
          </a:p>
        </p:txBody>
      </p:sp>
    </p:spTree>
    <p:extLst>
      <p:ext uri="{BB962C8B-B14F-4D97-AF65-F5344CB8AC3E}">
        <p14:creationId xmlns:p14="http://schemas.microsoft.com/office/powerpoint/2010/main" val="666191056"/>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2913063" y="8685213"/>
            <a:ext cx="222885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10</a:t>
            </a:fld>
            <a:endParaRPr lang="zh-CN" altLang="en-US" sz="1200">
              <a:latin typeface="Aptos" pitchFamily="0" charset="0"/>
              <a:ea typeface="等线" pitchFamily="0" charset="0"/>
              <a:cs typeface="Aptos" pitchFamily="0" charset="0"/>
            </a:endParaRPr>
          </a:p>
        </p:txBody>
      </p:sp>
      <p:sp>
        <p:nvSpPr>
          <p:cNvPr id="351" name="对象"/>
          <p:cNvSpPr>
            <a:spLocks noGrp="1" noChangeAspect="1"/>
          </p:cNvSpPr>
          <p:nvPr>
            <p:ph type="sldImg"/>
          </p:nvPr>
        </p:nvSpPr>
        <p:spPr>
          <a:xfrm rot="0">
            <a:off x="-171450" y="1143000"/>
            <a:ext cx="5486400" cy="3086100"/>
          </a:xfrm>
          <a:prstGeom prst="rect"/>
          <a:noFill/>
          <a:ln w="12700" cmpd="sng" cap="flat">
            <a:noFill/>
            <a:prstDash val="solid"/>
            <a:miter/>
          </a:ln>
        </p:spPr>
      </p:sp>
      <p:sp>
        <p:nvSpPr>
          <p:cNvPr id="352" name="文本框"/>
          <p:cNvSpPr>
            <a:spLocks noGrp="1"/>
          </p:cNvSpPr>
          <p:nvPr>
            <p:ph type="body" idx="1"/>
          </p:nvPr>
        </p:nvSpPr>
        <p:spPr>
          <a:xfrm rot="0">
            <a:off x="514350" y="4400550"/>
            <a:ext cx="41148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Everything is in the repository: the code, the tests, the saved IBM hardware results with job IDs, and a plain-language explainer. Thank you; we are happy to take questions.</a:t>
            </a:r>
            <a:endParaRPr lang="zh-CN" altLang="en-US"/>
          </a:p>
        </p:txBody>
      </p:sp>
    </p:spTree>
    <p:extLst>
      <p:ext uri="{BB962C8B-B14F-4D97-AF65-F5344CB8AC3E}">
        <p14:creationId xmlns:p14="http://schemas.microsoft.com/office/powerpoint/2010/main" val="931773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1.png"/><Relationship Id="rId3" Type="http://schemas.openxmlformats.org/officeDocument/2006/relationships/image" Target="../media/2.png"/><Relationship Id="rId4" Type="http://schemas.openxmlformats.org/officeDocument/2006/relationships/image" Target="../media/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1.png"/><Relationship Id="rId3" Type="http://schemas.openxmlformats.org/officeDocument/2006/relationships/image" Target="../media/2.png"/><Relationship Id="rId4" Type="http://schemas.openxmlformats.org/officeDocument/2006/relationships/image" Target="../media/3.png"/><Relationship Id="rId5" Type="http://schemas.openxmlformats.org/officeDocument/2006/relationships/image" Target="../media/4.png"/><Relationship Id="rId6" Type="http://schemas.openxmlformats.org/officeDocument/2006/relationships/image" Target="../media/5.png"/><Relationship Id="rId7" Type="http://schemas.openxmlformats.org/officeDocument/2006/relationships/image" Target="../media/6.png"/></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685800" y="1597818"/>
            <a:ext cx="7772400" cy="1102518"/>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1371600" y="2914649"/>
            <a:ext cx="6400800" cy="131444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602390936"/>
      </p:ext>
    </p:extLst>
  </p:cSld>
  <p:clrMapOvr>
    <a:masterClrMapping/>
  </p:clrMapOvr>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300646063"/>
      </p:ext>
    </p:extLst>
  </p:cSld>
  <p:clrMapOvr>
    <a:masterClrMapping xmlns:a="http://schemas.openxmlformats.org/drawingml/2006/main"/>
  </p:clrMapOvr>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defRPr sz="4000" b="1" cap="all"/>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997526703"/>
      </p:ext>
    </p:extLst>
  </p:cSld>
  <p:clrMapOvr>
    <a:masterClrMapping xmlns:a="http://schemas.openxmlformats.org/drawingml/2006/main"/>
  </p:clrMapOvr>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sz="half"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sz="half"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658527141"/>
      </p:ext>
    </p:extLst>
  </p:cSld>
  <p:clrMapOvr>
    <a:masterClrMapping xmlns:a="http://schemas.openxmlformats.org/drawingml/2006/main"/>
  </p:clrMapOvr>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lvl1pPr>
              <a:defRPr/>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sz="half"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body" sz="quarter"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sz="quarter"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9"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567269828"/>
      </p:ext>
    </p:extLst>
  </p:cSld>
  <p:clrMapOvr>
    <a:masterClrMapping xmlns:a="http://schemas.openxmlformats.org/drawingml/2006/main"/>
  </p:clrMapOvr>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5"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50579860"/>
      </p:ext>
    </p:extLst>
  </p:cSld>
  <p:clrMapOvr>
    <a:masterClrMapping xmlns:a="http://schemas.openxmlformats.org/drawingml/2006/main"/>
  </p:clrMapOvr>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a:off x="0" y="0"/>
          <a:ext cx="0" cy="0"/>
          <a:chOff x="0" y="0"/>
          <a:chExt cx="0" cy="0"/>
        </a:xfrm>
      </p:grpSpPr>
      <p:sp>
        <p:nvSpPr>
          <p:cNvPr id="4"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907477576"/>
      </p:ext>
    </p:extLst>
  </p:cSld>
  <p:clrMapOvr>
    <a:masterClrMapping xmlns:a="http://schemas.openxmlformats.org/drawingml/2006/main"/>
  </p:clrMapOvr>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888994282"/>
      </p:ext>
    </p:extLst>
  </p:cSld>
  <p:clrMapOvr>
    <a:masterClrMapping xmlns:a="http://schemas.openxmlformats.org/drawingml/2006/main"/>
  </p:clrMapOvr>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787037370"/>
      </p:ext>
    </p:extLst>
  </p:cSld>
  <p:clrMapOvr>
    <a:masterClrMapping xmlns:a="http://schemas.openxmlformats.org/drawingml/2006/main"/>
  </p:clrMapOvr>
</p:sldLayout>
</file>

<file path=ppt/slideLayouts/slideLayout10.xml><?xml version="1.0" encoding="utf-8"?>
<p:sldLayout xmlns:p="http://schemas.openxmlformats.org/presentationml/2006/main" type="vertTx" preserve="1">
  <p:cSld name="标题和竖排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859756773"/>
      </p:ext>
    </p:extLst>
  </p:cSld>
  <p:clrMapOvr>
    <a:masterClrMapping xmlns:a="http://schemas.openxmlformats.org/drawingml/2006/main"/>
  </p:clrMapOvr>
</p:sldLayout>
</file>

<file path=ppt/slideLayouts/slideLayout11.xml><?xml version="1.0" encoding="utf-8"?>
<p:sldLayout xmlns:p="http://schemas.openxmlformats.org/presentationml/2006/main" type="vertTitleAndTx" preserve="1">
  <p:cSld name="垂直排列标题与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orient="vert"/>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760152866"/>
      </p:ext>
    </p:extLst>
  </p:cSld>
  <p:clrMapOvr>
    <a:masterClrMapping xmlns:a="http://schemas.openxmlformats.org/drawingml/2006/main"/>
  </p:clrMapOvr>
</p:sldLayout>
</file>

<file path=ppt/slideLayouts/slideLayout12.xml><?xml version="1.0" encoding="utf-8"?>
<p:sldLayout xmlns:p="http://schemas.openxmlformats.org/presentationml/2006/main" showMasterSp="0" preserve="1">
  <p:cSld name="自定义版式">
    <p:bg>
      <p:bgPr>
        <a:solidFill xmlns:a="http://schemas.openxmlformats.org/drawingml/2006/main">
          <a:srgbClr val="DDE2FC"/>
        </a:solidFill>
      </p:bgPr>
    </p:bg>
    <p:spTree>
      <p:nvGrpSpPr>
        <p:cNvPr id="1" name=""/>
        <p:cNvGrpSpPr/>
        <p:nvPr/>
      </p:nvGrpSpPr>
      <p:grpSpPr>
        <a:xfrm xmlns:a="http://schemas.openxmlformats.org/drawingml/2006/main">
          <a:off x="0" y="0"/>
          <a:ext cx="0" cy="0"/>
          <a:chOff x="0" y="0"/>
          <a:chExt cx="0" cy="0"/>
        </a:xfrm>
      </p:grpSpPr>
      <p:sp>
        <p:nvSpPr>
          <p:cNvPr id="9" name="矩形"/>
          <p:cNvSpPr>
            <a:spLocks xmlns:a="http://schemas.openxmlformats.org/drawingml/2006/main"/>
          </p:cNvSpPr>
          <p:nvPr/>
        </p:nvSpPr>
        <p:spPr>
          <a:xfrm xmlns:a="http://schemas.openxmlformats.org/drawingml/2006/main" rot="0">
            <a:off x="0" y="0"/>
            <a:ext cx="9144000" cy="658368"/>
          </a:xfrm>
          <a:prstGeom xmlns:a="http://schemas.openxmlformats.org/drawingml/2006/main" prst="rect"/>
          <a:solidFill xmlns:a="http://schemas.openxmlformats.org/drawingml/2006/main">
            <a:srgbClr val="CBD1F5"/>
          </a:solidFill>
          <a:ln xmlns:a="http://schemas.openxmlformats.org/drawingml/2006/main" w="12700" cmpd="sng" cap="flat">
            <a:solidFill>
              <a:srgbClr val="CBD1F5"/>
            </a:solidFill>
            <a:prstDash val="solid"/>
            <a:round/>
          </a:ln>
        </p:spPr>
      </p:sp>
      <p:sp>
        <p:nvSpPr>
          <p:cNvPr id="10" name="矩形"/>
          <p:cNvSpPr>
            <a:spLocks xmlns:a="http://schemas.openxmlformats.org/drawingml/2006/main"/>
          </p:cNvSpPr>
          <p:nvPr/>
        </p:nvSpPr>
        <p:spPr>
          <a:xfrm xmlns:a="http://schemas.openxmlformats.org/drawingml/2006/main" rot="0">
            <a:off x="0" y="658368"/>
            <a:ext cx="3054095" cy="45719"/>
          </a:xfrm>
          <a:prstGeom xmlns:a="http://schemas.openxmlformats.org/drawingml/2006/main" prst="rect"/>
          <a:solidFill xmlns:a="http://schemas.openxmlformats.org/drawingml/2006/main">
            <a:srgbClr val="7C93F0"/>
          </a:solidFill>
          <a:ln xmlns:a="http://schemas.openxmlformats.org/drawingml/2006/main" w="12700" cmpd="sng" cap="flat">
            <a:solidFill>
              <a:srgbClr val="7C93F0"/>
            </a:solidFill>
            <a:prstDash val="solid"/>
            <a:round/>
          </a:ln>
        </p:spPr>
      </p:sp>
      <p:sp>
        <p:nvSpPr>
          <p:cNvPr id="11" name="矩形"/>
          <p:cNvSpPr>
            <a:spLocks xmlns:a="http://schemas.openxmlformats.org/drawingml/2006/main"/>
          </p:cNvSpPr>
          <p:nvPr/>
        </p:nvSpPr>
        <p:spPr>
          <a:xfrm xmlns:a="http://schemas.openxmlformats.org/drawingml/2006/main" rot="0">
            <a:off x="3054095" y="658368"/>
            <a:ext cx="3054095" cy="45719"/>
          </a:xfrm>
          <a:prstGeom xmlns:a="http://schemas.openxmlformats.org/drawingml/2006/main" prst="rect"/>
          <a:solidFill xmlns:a="http://schemas.openxmlformats.org/drawingml/2006/main">
            <a:srgbClr val="E8639F"/>
          </a:solidFill>
          <a:ln xmlns:a="http://schemas.openxmlformats.org/drawingml/2006/main" w="12700" cmpd="sng" cap="flat">
            <a:solidFill>
              <a:srgbClr val="E8639F"/>
            </a:solidFill>
            <a:prstDash val="solid"/>
            <a:round/>
          </a:ln>
        </p:spPr>
      </p:sp>
      <p:sp>
        <p:nvSpPr>
          <p:cNvPr id="12" name="矩形"/>
          <p:cNvSpPr>
            <a:spLocks xmlns:a="http://schemas.openxmlformats.org/drawingml/2006/main"/>
          </p:cNvSpPr>
          <p:nvPr/>
        </p:nvSpPr>
        <p:spPr>
          <a:xfrm xmlns:a="http://schemas.openxmlformats.org/drawingml/2006/main" rot="0">
            <a:off x="6099048" y="658368"/>
            <a:ext cx="3054095" cy="45719"/>
          </a:xfrm>
          <a:prstGeom xmlns:a="http://schemas.openxmlformats.org/drawingml/2006/main" prst="rect"/>
          <a:solidFill xmlns:a="http://schemas.openxmlformats.org/drawingml/2006/main">
            <a:srgbClr val="5B3BA8"/>
          </a:solidFill>
          <a:ln xmlns:a="http://schemas.openxmlformats.org/drawingml/2006/main" w="12700" cmpd="sng" cap="flat">
            <a:solidFill>
              <a:srgbClr val="5B3BA8"/>
            </a:solidFill>
            <a:prstDash val="solid"/>
            <a:round/>
          </a:ln>
        </p:spPr>
      </p:sp>
      <p:pic>
        <p:nvPicPr>
          <p:cNvPr id="13" name="图片" descr="vtu_c.png"/>
          <p:cNvPicPr>
            <a:picLocks xmlns:a="http://schemas.openxmlformats.org/drawingml/2006/main" noChangeAspect="1"/>
          </p:cNvPicPr>
          <p:nvPr/>
        </p:nvPicPr>
        <p:blipFill>
          <a:blip xmlns:a="http://schemas.openxmlformats.org/drawingml/2006/main" xmlns:r="http://schemas.openxmlformats.org/officeDocument/2006/relationships" r:embed="rId2" cstate="print"/>
          <a:stretch xmlns:a="http://schemas.openxmlformats.org/drawingml/2006/main">
            <a:fillRect/>
          </a:stretch>
        </p:blipFill>
        <p:spPr>
          <a:xfrm xmlns:a="http://schemas.openxmlformats.org/drawingml/2006/main" rot="0">
            <a:off x="365760" y="91440"/>
            <a:ext cx="475487" cy="475487"/>
          </a:xfrm>
          <a:prstGeom xmlns:a="http://schemas.openxmlformats.org/drawingml/2006/main" prst="rect"/>
          <a:noFill xmlns:a="http://schemas.openxmlformats.org/drawingml/2006/main"/>
          <a:ln xmlns:a="http://schemas.openxmlformats.org/drawingml/2006/main" w="12700" cmpd="sng" cap="flat">
            <a:noFill/>
            <a:prstDash val="solid"/>
            <a:miter/>
          </a:ln>
        </p:spPr>
      </p:pic>
      <p:sp>
        <p:nvSpPr>
          <p:cNvPr id="14" name="矩形"/>
          <p:cNvSpPr>
            <a:spLocks xmlns:a="http://schemas.openxmlformats.org/drawingml/2006/main"/>
          </p:cNvSpPr>
          <p:nvPr/>
        </p:nvSpPr>
        <p:spPr>
          <a:xfrm xmlns:a="http://schemas.openxmlformats.org/drawingml/2006/main" rot="0">
            <a:off x="932688" y="91440"/>
            <a:ext cx="3108960" cy="237743"/>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b" anchorCtr="0">
            <a:prstTxWarp prst="textNoShape"/>
          </a:bodyPr>
          <a:lstStyle xmlns:a="http://schemas.openxmlformats.org/drawingml/2006/main"/>
          <a:p xmlns:a="http://schemas.openxmlformats.org/drawingml/2006/main">
            <a:pPr marL="0" indent="0" algn="l">
              <a:lnSpc>
                <a:spcPct val="100000"/>
              </a:lnSpc>
              <a:spcBef>
                <a:spcPts val="0"/>
              </a:spcBef>
              <a:spcAft>
                <a:spcPts val="0"/>
              </a:spcAft>
              <a:buNone/>
            </a:pPr>
            <a:r>
              <a:rPr lang="en-US" altLang="zh-CN" sz="950" b="1" i="0" u="none" strike="noStrike" kern="1200" cap="none" spc="0" baseline="0">
                <a:solidFill>
                  <a:srgbClr val="2E1B5B"/>
                </a:solidFill>
                <a:latin typeface="Nirmala UI" pitchFamily="34" charset="0"/>
                <a:ea typeface="Nirmala UI" pitchFamily="34" charset="0"/>
                <a:cs typeface="Nirmala UI" pitchFamily="34" charset="0"/>
              </a:rPr>
              <a:t>ವಿಶ್ವೇಶ್ವರಯ್ಯ ತಾಂತ್ರಿಕ ವಿಶ್ವವಿದ್ಯಾಲಯ, ಬೆಳಗಾವಿ</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15" name="矩形"/>
          <p:cNvSpPr>
            <a:spLocks xmlns:a="http://schemas.openxmlformats.org/drawingml/2006/main"/>
          </p:cNvSpPr>
          <p:nvPr/>
        </p:nvSpPr>
        <p:spPr>
          <a:xfrm xmlns:a="http://schemas.openxmlformats.org/drawingml/2006/main" rot="0">
            <a:off x="932688" y="338328"/>
            <a:ext cx="3108960" cy="237743"/>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t" anchorCtr="0">
            <a:prstTxWarp prst="textNoShape"/>
          </a:bodyPr>
          <a:lstStyle xmlns:a="http://schemas.openxmlformats.org/drawingml/2006/main"/>
          <a:p xmlns:a="http://schemas.openxmlformats.org/drawingml/2006/main">
            <a:pPr marL="0" indent="0" algn="l">
              <a:lnSpc>
                <a:spcPct val="100000"/>
              </a:lnSpc>
              <a:spcBef>
                <a:spcPts val="0"/>
              </a:spcBef>
              <a:spcAft>
                <a:spcPts val="0"/>
              </a:spcAft>
              <a:buNone/>
            </a:pPr>
            <a:r>
              <a:rPr lang="en-US" altLang="zh-CN" sz="950" b="1" i="0" u="none" strike="noStrike" kern="1200" cap="none" spc="0" baseline="0">
                <a:solidFill>
                  <a:srgbClr val="2E1B5B"/>
                </a:solidFill>
                <a:latin typeface="Calibri" pitchFamily="0" charset="0"/>
                <a:ea typeface="Calibri" pitchFamily="0" charset="0"/>
                <a:cs typeface="Calibri" pitchFamily="0" charset="0"/>
              </a:rPr>
              <a:t>Visvesvaraya Technological University, Belagavi</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6" name="图片" descr="quc_d.png"/>
          <p:cNvPicPr>
            <a:picLocks xmlns:a="http://schemas.openxmlformats.org/drawingml/2006/main" noChangeAspect="1"/>
          </p:cNvPicPr>
          <p:nvPr/>
        </p:nvPicPr>
        <p:blipFill>
          <a:blip xmlns:a="http://schemas.openxmlformats.org/drawingml/2006/main" xmlns:r="http://schemas.openxmlformats.org/officeDocument/2006/relationships" r:embed="rId3" cstate="print"/>
          <a:stretch xmlns:a="http://schemas.openxmlformats.org/drawingml/2006/main">
            <a:fillRect/>
          </a:stretch>
        </p:blipFill>
        <p:spPr>
          <a:xfrm xmlns:a="http://schemas.openxmlformats.org/drawingml/2006/main" rot="0">
            <a:off x="4261104" y="91440"/>
            <a:ext cx="612648" cy="475487"/>
          </a:xfrm>
          <a:prstGeom xmlns:a="http://schemas.openxmlformats.org/drawingml/2006/main" prst="rect"/>
          <a:noFill xmlns:a="http://schemas.openxmlformats.org/drawingml/2006/main"/>
          <a:ln xmlns:a="http://schemas.openxmlformats.org/drawingml/2006/main" w="12700" cmpd="sng" cap="flat">
            <a:noFill/>
            <a:prstDash val="solid"/>
            <a:miter/>
          </a:ln>
        </p:spPr>
      </p:pic>
      <p:sp>
        <p:nvSpPr>
          <p:cNvPr id="17" name="矩形"/>
          <p:cNvSpPr>
            <a:spLocks xmlns:a="http://schemas.openxmlformats.org/drawingml/2006/main"/>
          </p:cNvSpPr>
          <p:nvPr/>
        </p:nvSpPr>
        <p:spPr>
          <a:xfrm xmlns:a="http://schemas.openxmlformats.org/drawingml/2006/main" rot="0">
            <a:off x="5394960" y="109728"/>
            <a:ext cx="2788920" cy="256031"/>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ctr" anchorCtr="0">
            <a:prstTxWarp prst="textNoShape"/>
          </a:bodyPr>
          <a:lstStyle xmlns:a="http://schemas.openxmlformats.org/drawingml/2006/main"/>
          <a:p xmlns:a="http://schemas.openxmlformats.org/drawingml/2006/main">
            <a:pPr marL="0" indent="0" algn="r">
              <a:lnSpc>
                <a:spcPct val="100000"/>
              </a:lnSpc>
              <a:spcBef>
                <a:spcPts val="0"/>
              </a:spcBef>
              <a:spcAft>
                <a:spcPts val="0"/>
              </a:spcAft>
              <a:buNone/>
            </a:pPr>
            <a:r>
              <a:rPr lang="en-US" altLang="zh-CN" sz="1100" b="1" i="0" u="none" strike="noStrike" kern="0" cap="none" spc="200" baseline="0">
                <a:solidFill>
                  <a:srgbClr val="2E1B5B"/>
                </a:solidFill>
                <a:latin typeface="Calibri" pitchFamily="0" charset="0"/>
                <a:ea typeface="等线" pitchFamily="0" charset="0"/>
                <a:cs typeface="Calibri" pitchFamily="0" charset="0"/>
              </a:rPr>
              <a:t>QISKIT FALL FEST 2026</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18" name="矩形"/>
          <p:cNvSpPr>
            <a:spLocks xmlns:a="http://schemas.openxmlformats.org/drawingml/2006/main"/>
          </p:cNvSpPr>
          <p:nvPr/>
        </p:nvSpPr>
        <p:spPr>
          <a:xfrm xmlns:a="http://schemas.openxmlformats.org/drawingml/2006/main" rot="0">
            <a:off x="5394960" y="365760"/>
            <a:ext cx="2788920" cy="201168"/>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ctr" anchorCtr="0">
            <a:prstTxWarp prst="textNoShape"/>
          </a:bodyPr>
          <a:lstStyle xmlns:a="http://schemas.openxmlformats.org/drawingml/2006/main"/>
          <a:p xmlns:a="http://schemas.openxmlformats.org/drawingml/2006/main">
            <a:pPr marL="0" indent="0" algn="r">
              <a:lnSpc>
                <a:spcPct val="100000"/>
              </a:lnSpc>
              <a:spcBef>
                <a:spcPts val="0"/>
              </a:spcBef>
              <a:spcAft>
                <a:spcPts val="0"/>
              </a:spcAft>
              <a:buNone/>
            </a:pPr>
            <a:r>
              <a:rPr lang="en-US" altLang="zh-CN" sz="950" b="1" i="0" u="none" strike="noStrike" kern="0" cap="none" spc="100" baseline="0">
                <a:solidFill>
                  <a:srgbClr val="5B3BA8"/>
                </a:solidFill>
                <a:latin typeface="Calibri" pitchFamily="0" charset="0"/>
                <a:ea typeface="等线" pitchFamily="0" charset="0"/>
                <a:cs typeface="Calibri" pitchFamily="0" charset="0"/>
              </a:rPr>
              <a:t>IBM Quantum</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9" name="图片" descr="badge_c.png"/>
          <p:cNvPicPr>
            <a:picLocks xmlns:a="http://schemas.openxmlformats.org/drawingml/2006/main" noChangeAspect="1"/>
          </p:cNvPicPr>
          <p:nvPr/>
        </p:nvPicPr>
        <p:blipFill>
          <a:blip xmlns:a="http://schemas.openxmlformats.org/drawingml/2006/main" xmlns:r="http://schemas.openxmlformats.org/officeDocument/2006/relationships" r:embed="rId4" cstate="print"/>
          <a:stretch xmlns:a="http://schemas.openxmlformats.org/drawingml/2006/main">
            <a:fillRect/>
          </a:stretch>
        </p:blipFill>
        <p:spPr>
          <a:xfrm xmlns:a="http://schemas.openxmlformats.org/drawingml/2006/main" rot="0">
            <a:off x="8302752" y="91440"/>
            <a:ext cx="475488" cy="475487"/>
          </a:xfrm>
          <a:prstGeom xmlns:a="http://schemas.openxmlformats.org/drawingml/2006/main" prst="rect"/>
          <a:noFill xmlns:a="http://schemas.openxmlformats.org/drawingml/2006/main"/>
          <a:ln xmlns:a="http://schemas.openxmlformats.org/drawingml/2006/main" w="12700" cmpd="sng" cap="flat">
            <a:noFill/>
            <a:prstDash val="solid"/>
            <a:miter/>
          </a:ln>
        </p:spPr>
      </p:pic>
      <p:sp>
        <p:nvSpPr>
          <p:cNvPr id="20" name="矩形"/>
          <p:cNvSpPr>
            <a:spLocks xmlns:a="http://schemas.openxmlformats.org/drawingml/2006/main"/>
          </p:cNvSpPr>
          <p:nvPr/>
        </p:nvSpPr>
        <p:spPr>
          <a:xfrm xmlns:a="http://schemas.openxmlformats.org/drawingml/2006/main" rot="0">
            <a:off x="0" y="4828032"/>
            <a:ext cx="9144000" cy="315468"/>
          </a:xfrm>
          <a:prstGeom xmlns:a="http://schemas.openxmlformats.org/drawingml/2006/main" prst="rect"/>
          <a:solidFill xmlns:a="http://schemas.openxmlformats.org/drawingml/2006/main">
            <a:srgbClr val="CBD1F5"/>
          </a:solidFill>
          <a:ln xmlns:a="http://schemas.openxmlformats.org/drawingml/2006/main" w="12700" cmpd="sng" cap="flat">
            <a:solidFill>
              <a:srgbClr val="CBD1F5"/>
            </a:solidFill>
            <a:prstDash val="solid"/>
            <a:round/>
          </a:ln>
        </p:spPr>
      </p:sp>
      <p:sp>
        <p:nvSpPr>
          <p:cNvPr id="21" name="矩形"/>
          <p:cNvSpPr>
            <a:spLocks xmlns:a="http://schemas.openxmlformats.org/drawingml/2006/main"/>
          </p:cNvSpPr>
          <p:nvPr/>
        </p:nvSpPr>
        <p:spPr>
          <a:xfrm xmlns:a="http://schemas.openxmlformats.org/drawingml/2006/main" rot="0">
            <a:off x="0" y="4828032"/>
            <a:ext cx="3054095" cy="36575"/>
          </a:xfrm>
          <a:prstGeom xmlns:a="http://schemas.openxmlformats.org/drawingml/2006/main" prst="rect"/>
          <a:solidFill xmlns:a="http://schemas.openxmlformats.org/drawingml/2006/main">
            <a:srgbClr val="7C93F0"/>
          </a:solidFill>
          <a:ln xmlns:a="http://schemas.openxmlformats.org/drawingml/2006/main" w="12700" cmpd="sng" cap="flat">
            <a:solidFill>
              <a:srgbClr val="7C93F0"/>
            </a:solidFill>
            <a:prstDash val="solid"/>
            <a:round/>
          </a:ln>
        </p:spPr>
      </p:sp>
      <p:sp>
        <p:nvSpPr>
          <p:cNvPr id="22" name="矩形"/>
          <p:cNvSpPr>
            <a:spLocks xmlns:a="http://schemas.openxmlformats.org/drawingml/2006/main"/>
          </p:cNvSpPr>
          <p:nvPr/>
        </p:nvSpPr>
        <p:spPr>
          <a:xfrm xmlns:a="http://schemas.openxmlformats.org/drawingml/2006/main" rot="0">
            <a:off x="3054095" y="4828032"/>
            <a:ext cx="3054095" cy="36575"/>
          </a:xfrm>
          <a:prstGeom xmlns:a="http://schemas.openxmlformats.org/drawingml/2006/main" prst="rect"/>
          <a:solidFill xmlns:a="http://schemas.openxmlformats.org/drawingml/2006/main">
            <a:srgbClr val="E8639F"/>
          </a:solidFill>
          <a:ln xmlns:a="http://schemas.openxmlformats.org/drawingml/2006/main" w="12700" cmpd="sng" cap="flat">
            <a:solidFill>
              <a:srgbClr val="E8639F"/>
            </a:solidFill>
            <a:prstDash val="solid"/>
            <a:round/>
          </a:ln>
        </p:spPr>
      </p:sp>
      <p:sp>
        <p:nvSpPr>
          <p:cNvPr id="23" name="矩形"/>
          <p:cNvSpPr>
            <a:spLocks xmlns:a="http://schemas.openxmlformats.org/drawingml/2006/main"/>
          </p:cNvSpPr>
          <p:nvPr/>
        </p:nvSpPr>
        <p:spPr>
          <a:xfrm xmlns:a="http://schemas.openxmlformats.org/drawingml/2006/main" rot="0">
            <a:off x="6099048" y="4828032"/>
            <a:ext cx="3054095" cy="36575"/>
          </a:xfrm>
          <a:prstGeom xmlns:a="http://schemas.openxmlformats.org/drawingml/2006/main" prst="rect"/>
          <a:solidFill xmlns:a="http://schemas.openxmlformats.org/drawingml/2006/main">
            <a:srgbClr val="5B3BA8"/>
          </a:solidFill>
          <a:ln xmlns:a="http://schemas.openxmlformats.org/drawingml/2006/main" w="12700" cmpd="sng" cap="flat">
            <a:solidFill>
              <a:srgbClr val="5B3BA8"/>
            </a:solidFill>
            <a:prstDash val="solid"/>
            <a:round/>
          </a:ln>
        </p:spPr>
      </p:sp>
      <p:sp>
        <p:nvSpPr>
          <p:cNvPr id="24" name="矩形"/>
          <p:cNvSpPr>
            <a:spLocks xmlns:a="http://schemas.openxmlformats.org/drawingml/2006/main"/>
          </p:cNvSpPr>
          <p:nvPr/>
        </p:nvSpPr>
        <p:spPr>
          <a:xfrm xmlns:a="http://schemas.openxmlformats.org/drawingml/2006/main" rot="0">
            <a:off x="457200" y="4864608"/>
            <a:ext cx="5029200" cy="274319"/>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ctr" anchorCtr="0">
            <a:prstTxWarp prst="textNoShape"/>
          </a:bodyPr>
          <a:lstStyle xmlns:a="http://schemas.openxmlformats.org/drawingml/2006/main"/>
          <a:p xmlns:a="http://schemas.openxmlformats.org/drawingml/2006/main">
            <a:pPr marL="0" indent="0" algn="l">
              <a:lnSpc>
                <a:spcPct val="100000"/>
              </a:lnSpc>
              <a:spcBef>
                <a:spcPts val="0"/>
              </a:spcBef>
              <a:spcAft>
                <a:spcPts val="0"/>
              </a:spcAft>
              <a:buNone/>
            </a:pPr>
            <a:r>
              <a:rPr lang="en-US" altLang="zh-CN" sz="850" b="1" i="0" u="none" strike="noStrike" kern="0" cap="none" spc="200" baseline="0">
                <a:solidFill>
                  <a:srgbClr val="2E1B5B"/>
                </a:solidFill>
                <a:latin typeface="Calibri" pitchFamily="0" charset="0"/>
                <a:ea typeface="等线" pitchFamily="0" charset="0"/>
                <a:cs typeface="Calibri" pitchFamily="0" charset="0"/>
              </a:rPr>
              <a:t>QISKIT FALL FEST 2026  ·  HOSTED BY VTU, BELAGAVI</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25" name="矩形"/>
          <p:cNvSpPr>
            <a:spLocks xmlns:a="http://schemas.openxmlformats.org/drawingml/2006/main"/>
          </p:cNvSpPr>
          <p:nvPr/>
        </p:nvSpPr>
        <p:spPr>
          <a:xfrm xmlns:a="http://schemas.openxmlformats.org/drawingml/2006/main" rot="0">
            <a:off x="5943599" y="4864608"/>
            <a:ext cx="2194560" cy="274319"/>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ctr" anchorCtr="0">
            <a:prstTxWarp prst="textNoShape"/>
          </a:bodyPr>
          <a:lstStyle xmlns:a="http://schemas.openxmlformats.org/drawingml/2006/main"/>
          <a:p xmlns:a="http://schemas.openxmlformats.org/drawingml/2006/main">
            <a:pPr marL="0" indent="0" algn="r">
              <a:lnSpc>
                <a:spcPct val="100000"/>
              </a:lnSpc>
              <a:spcBef>
                <a:spcPts val="0"/>
              </a:spcBef>
              <a:spcAft>
                <a:spcPts val="0"/>
              </a:spcAft>
              <a:buNone/>
            </a:pPr>
            <a:r>
              <a:rPr lang="en-US" altLang="zh-CN" sz="850" b="1" i="0" u="none" strike="noStrike" kern="0" cap="none" spc="200" baseline="0">
                <a:solidFill>
                  <a:srgbClr val="5B3BA8"/>
                </a:solidFill>
                <a:latin typeface="Calibri" pitchFamily="0" charset="0"/>
                <a:ea typeface="等线" pitchFamily="0" charset="0"/>
                <a:cs typeface="Calibri" pitchFamily="0" charset="0"/>
              </a:rPr>
              <a:t>27 – 31 OCT 2026</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052401629"/>
      </p:ext>
    </p:extLst>
  </p:cSld>
  <p:clrMapOvr>
    <a:masterClrMapping xmlns:a="http://schemas.openxmlformats.org/drawingml/2006/main"/>
  </p:clrMapOvr>
</p:sldLayout>
</file>

<file path=ppt/slideLayouts/slideLayout13.xml><?xml version="1.0" encoding="utf-8"?>
<p:sldLayout xmlns:p="http://schemas.openxmlformats.org/presentationml/2006/main" showMasterSp="0" preserve="1">
  <p:cSld name="自定义版式">
    <p:bg>
      <p:bgPr>
        <a:solidFill xmlns:a="http://schemas.openxmlformats.org/drawingml/2006/main">
          <a:srgbClr val="DDE2FC"/>
        </a:solidFill>
      </p:bgPr>
    </p:bg>
    <p:spTree>
      <p:nvGrpSpPr>
        <p:cNvPr id="1" name=""/>
        <p:cNvGrpSpPr/>
        <p:nvPr/>
      </p:nvGrpSpPr>
      <p:grpSpPr>
        <a:xfrm xmlns:a="http://schemas.openxmlformats.org/drawingml/2006/main">
          <a:off x="0" y="0"/>
          <a:ext cx="0" cy="0"/>
          <a:chOff x="0" y="0"/>
          <a:chExt cx="0" cy="0"/>
        </a:xfrm>
      </p:grpSpPr>
      <p:sp>
        <p:nvSpPr>
          <p:cNvPr id="52" name="矩形"/>
          <p:cNvSpPr>
            <a:spLocks xmlns:a="http://schemas.openxmlformats.org/drawingml/2006/main"/>
          </p:cNvSpPr>
          <p:nvPr/>
        </p:nvSpPr>
        <p:spPr>
          <a:xfrm xmlns:a="http://schemas.openxmlformats.org/drawingml/2006/main" rot="0">
            <a:off x="0" y="0"/>
            <a:ext cx="9144000" cy="658368"/>
          </a:xfrm>
          <a:prstGeom xmlns:a="http://schemas.openxmlformats.org/drawingml/2006/main" prst="rect"/>
          <a:solidFill xmlns:a="http://schemas.openxmlformats.org/drawingml/2006/main">
            <a:srgbClr val="CBD1F5"/>
          </a:solidFill>
          <a:ln xmlns:a="http://schemas.openxmlformats.org/drawingml/2006/main" w="12700" cmpd="sng" cap="flat">
            <a:solidFill>
              <a:srgbClr val="CBD1F5"/>
            </a:solidFill>
            <a:prstDash val="solid"/>
            <a:round/>
          </a:ln>
        </p:spPr>
      </p:sp>
      <p:sp>
        <p:nvSpPr>
          <p:cNvPr id="53" name="矩形"/>
          <p:cNvSpPr>
            <a:spLocks xmlns:a="http://schemas.openxmlformats.org/drawingml/2006/main"/>
          </p:cNvSpPr>
          <p:nvPr/>
        </p:nvSpPr>
        <p:spPr>
          <a:xfrm xmlns:a="http://schemas.openxmlformats.org/drawingml/2006/main" rot="0">
            <a:off x="0" y="658368"/>
            <a:ext cx="3054095" cy="45719"/>
          </a:xfrm>
          <a:prstGeom xmlns:a="http://schemas.openxmlformats.org/drawingml/2006/main" prst="rect"/>
          <a:solidFill xmlns:a="http://schemas.openxmlformats.org/drawingml/2006/main">
            <a:srgbClr val="7C93F0"/>
          </a:solidFill>
          <a:ln xmlns:a="http://schemas.openxmlformats.org/drawingml/2006/main" w="12700" cmpd="sng" cap="flat">
            <a:solidFill>
              <a:srgbClr val="7C93F0"/>
            </a:solidFill>
            <a:prstDash val="solid"/>
            <a:round/>
          </a:ln>
        </p:spPr>
      </p:sp>
      <p:sp>
        <p:nvSpPr>
          <p:cNvPr id="54" name="矩形"/>
          <p:cNvSpPr>
            <a:spLocks xmlns:a="http://schemas.openxmlformats.org/drawingml/2006/main"/>
          </p:cNvSpPr>
          <p:nvPr/>
        </p:nvSpPr>
        <p:spPr>
          <a:xfrm xmlns:a="http://schemas.openxmlformats.org/drawingml/2006/main" rot="0">
            <a:off x="3054095" y="658368"/>
            <a:ext cx="3054095" cy="45719"/>
          </a:xfrm>
          <a:prstGeom xmlns:a="http://schemas.openxmlformats.org/drawingml/2006/main" prst="rect"/>
          <a:solidFill xmlns:a="http://schemas.openxmlformats.org/drawingml/2006/main">
            <a:srgbClr val="E8639F"/>
          </a:solidFill>
          <a:ln xmlns:a="http://schemas.openxmlformats.org/drawingml/2006/main" w="12700" cmpd="sng" cap="flat">
            <a:solidFill>
              <a:srgbClr val="E8639F"/>
            </a:solidFill>
            <a:prstDash val="solid"/>
            <a:round/>
          </a:ln>
        </p:spPr>
      </p:sp>
      <p:sp>
        <p:nvSpPr>
          <p:cNvPr id="55" name="矩形"/>
          <p:cNvSpPr>
            <a:spLocks xmlns:a="http://schemas.openxmlformats.org/drawingml/2006/main"/>
          </p:cNvSpPr>
          <p:nvPr/>
        </p:nvSpPr>
        <p:spPr>
          <a:xfrm xmlns:a="http://schemas.openxmlformats.org/drawingml/2006/main" rot="0">
            <a:off x="6099048" y="658368"/>
            <a:ext cx="3054095" cy="45719"/>
          </a:xfrm>
          <a:prstGeom xmlns:a="http://schemas.openxmlformats.org/drawingml/2006/main" prst="rect"/>
          <a:solidFill xmlns:a="http://schemas.openxmlformats.org/drawingml/2006/main">
            <a:srgbClr val="5B3BA8"/>
          </a:solidFill>
          <a:ln xmlns:a="http://schemas.openxmlformats.org/drawingml/2006/main" w="12700" cmpd="sng" cap="flat">
            <a:solidFill>
              <a:srgbClr val="5B3BA8"/>
            </a:solidFill>
            <a:prstDash val="solid"/>
            <a:round/>
          </a:ln>
        </p:spPr>
      </p:sp>
      <p:pic>
        <p:nvPicPr>
          <p:cNvPr id="56" name="图片" descr="vtu_c.png"/>
          <p:cNvPicPr>
            <a:picLocks xmlns:a="http://schemas.openxmlformats.org/drawingml/2006/main" noChangeAspect="1"/>
          </p:cNvPicPr>
          <p:nvPr/>
        </p:nvPicPr>
        <p:blipFill>
          <a:blip xmlns:a="http://schemas.openxmlformats.org/drawingml/2006/main" xmlns:r="http://schemas.openxmlformats.org/officeDocument/2006/relationships" r:embed="rId2" cstate="print"/>
          <a:stretch xmlns:a="http://schemas.openxmlformats.org/drawingml/2006/main">
            <a:fillRect/>
          </a:stretch>
        </p:blipFill>
        <p:spPr>
          <a:xfrm xmlns:a="http://schemas.openxmlformats.org/drawingml/2006/main" rot="0">
            <a:off x="365760" y="91440"/>
            <a:ext cx="475487" cy="475487"/>
          </a:xfrm>
          <a:prstGeom xmlns:a="http://schemas.openxmlformats.org/drawingml/2006/main" prst="rect"/>
          <a:noFill xmlns:a="http://schemas.openxmlformats.org/drawingml/2006/main"/>
          <a:ln xmlns:a="http://schemas.openxmlformats.org/drawingml/2006/main" w="12700" cmpd="sng" cap="flat">
            <a:noFill/>
            <a:prstDash val="solid"/>
            <a:miter/>
          </a:ln>
        </p:spPr>
      </p:pic>
      <p:sp>
        <p:nvSpPr>
          <p:cNvPr id="57" name="矩形"/>
          <p:cNvSpPr>
            <a:spLocks xmlns:a="http://schemas.openxmlformats.org/drawingml/2006/main"/>
          </p:cNvSpPr>
          <p:nvPr/>
        </p:nvSpPr>
        <p:spPr>
          <a:xfrm xmlns:a="http://schemas.openxmlformats.org/drawingml/2006/main" rot="0">
            <a:off x="932688" y="91440"/>
            <a:ext cx="3108960" cy="237743"/>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b" anchorCtr="0">
            <a:prstTxWarp prst="textNoShape"/>
          </a:bodyPr>
          <a:lstStyle xmlns:a="http://schemas.openxmlformats.org/drawingml/2006/main"/>
          <a:p xmlns:a="http://schemas.openxmlformats.org/drawingml/2006/main">
            <a:pPr marL="0" indent="0" algn="l">
              <a:lnSpc>
                <a:spcPct val="100000"/>
              </a:lnSpc>
              <a:spcBef>
                <a:spcPts val="0"/>
              </a:spcBef>
              <a:spcAft>
                <a:spcPts val="0"/>
              </a:spcAft>
              <a:buNone/>
            </a:pPr>
            <a:r>
              <a:rPr lang="en-US" altLang="zh-CN" sz="950" b="1" i="0" u="none" strike="noStrike" kern="1200" cap="none" spc="0" baseline="0">
                <a:solidFill>
                  <a:srgbClr val="2E1B5B"/>
                </a:solidFill>
                <a:latin typeface="Nirmala UI" pitchFamily="34" charset="0"/>
                <a:ea typeface="Nirmala UI" pitchFamily="34" charset="0"/>
                <a:cs typeface="Nirmala UI" pitchFamily="34" charset="0"/>
              </a:rPr>
              <a:t>ವಿಶ್ವೇಶ್ವರಯ್ಯ ತಾಂತ್ರಿಕ ವಿಶ್ವವಿದ್ಯಾಲಯ, ಬೆಳಗಾವಿ</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58" name="矩形"/>
          <p:cNvSpPr>
            <a:spLocks xmlns:a="http://schemas.openxmlformats.org/drawingml/2006/main"/>
          </p:cNvSpPr>
          <p:nvPr/>
        </p:nvSpPr>
        <p:spPr>
          <a:xfrm xmlns:a="http://schemas.openxmlformats.org/drawingml/2006/main" rot="0">
            <a:off x="932688" y="338328"/>
            <a:ext cx="3108960" cy="237743"/>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t" anchorCtr="0">
            <a:prstTxWarp prst="textNoShape"/>
          </a:bodyPr>
          <a:lstStyle xmlns:a="http://schemas.openxmlformats.org/drawingml/2006/main"/>
          <a:p xmlns:a="http://schemas.openxmlformats.org/drawingml/2006/main">
            <a:pPr marL="0" indent="0" algn="l">
              <a:lnSpc>
                <a:spcPct val="100000"/>
              </a:lnSpc>
              <a:spcBef>
                <a:spcPts val="0"/>
              </a:spcBef>
              <a:spcAft>
                <a:spcPts val="0"/>
              </a:spcAft>
              <a:buNone/>
            </a:pPr>
            <a:r>
              <a:rPr lang="en-US" altLang="zh-CN" sz="950" b="1" i="0" u="none" strike="noStrike" kern="1200" cap="none" spc="0" baseline="0">
                <a:solidFill>
                  <a:srgbClr val="2E1B5B"/>
                </a:solidFill>
                <a:latin typeface="Calibri" pitchFamily="0" charset="0"/>
                <a:ea typeface="Calibri" pitchFamily="0" charset="0"/>
                <a:cs typeface="Calibri" pitchFamily="0" charset="0"/>
              </a:rPr>
              <a:t>Visvesvaraya Technological University, Belagavi</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59" name="图片" descr="quc_d.png"/>
          <p:cNvPicPr>
            <a:picLocks xmlns:a="http://schemas.openxmlformats.org/drawingml/2006/main" noChangeAspect="1"/>
          </p:cNvPicPr>
          <p:nvPr/>
        </p:nvPicPr>
        <p:blipFill>
          <a:blip xmlns:a="http://schemas.openxmlformats.org/drawingml/2006/main" xmlns:r="http://schemas.openxmlformats.org/officeDocument/2006/relationships" r:embed="rId3" cstate="print"/>
          <a:stretch xmlns:a="http://schemas.openxmlformats.org/drawingml/2006/main">
            <a:fillRect/>
          </a:stretch>
        </p:blipFill>
        <p:spPr>
          <a:xfrm xmlns:a="http://schemas.openxmlformats.org/drawingml/2006/main" rot="0">
            <a:off x="4261104" y="91440"/>
            <a:ext cx="612648" cy="475487"/>
          </a:xfrm>
          <a:prstGeom xmlns:a="http://schemas.openxmlformats.org/drawingml/2006/main" prst="rect"/>
          <a:noFill xmlns:a="http://schemas.openxmlformats.org/drawingml/2006/main"/>
          <a:ln xmlns:a="http://schemas.openxmlformats.org/drawingml/2006/main" w="12700" cmpd="sng" cap="flat">
            <a:noFill/>
            <a:prstDash val="solid"/>
            <a:miter/>
          </a:ln>
        </p:spPr>
      </p:pic>
      <p:sp>
        <p:nvSpPr>
          <p:cNvPr id="60" name="矩形"/>
          <p:cNvSpPr>
            <a:spLocks xmlns:a="http://schemas.openxmlformats.org/drawingml/2006/main"/>
          </p:cNvSpPr>
          <p:nvPr/>
        </p:nvSpPr>
        <p:spPr>
          <a:xfrm xmlns:a="http://schemas.openxmlformats.org/drawingml/2006/main" rot="0">
            <a:off x="5394960" y="109728"/>
            <a:ext cx="2788920" cy="256031"/>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ctr" anchorCtr="0">
            <a:prstTxWarp prst="textNoShape"/>
          </a:bodyPr>
          <a:lstStyle xmlns:a="http://schemas.openxmlformats.org/drawingml/2006/main"/>
          <a:p xmlns:a="http://schemas.openxmlformats.org/drawingml/2006/main">
            <a:pPr marL="0" indent="0" algn="r">
              <a:lnSpc>
                <a:spcPct val="100000"/>
              </a:lnSpc>
              <a:spcBef>
                <a:spcPts val="0"/>
              </a:spcBef>
              <a:spcAft>
                <a:spcPts val="0"/>
              </a:spcAft>
              <a:buNone/>
            </a:pPr>
            <a:r>
              <a:rPr lang="en-US" altLang="zh-CN" sz="1100" b="1" i="0" u="none" strike="noStrike" kern="0" cap="none" spc="200" baseline="0">
                <a:solidFill>
                  <a:srgbClr val="2E1B5B"/>
                </a:solidFill>
                <a:latin typeface="Calibri" pitchFamily="0" charset="0"/>
                <a:ea typeface="等线" pitchFamily="0" charset="0"/>
                <a:cs typeface="Calibri" pitchFamily="0" charset="0"/>
              </a:rPr>
              <a:t>QISKIT FALL FEST 2026</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61" name="矩形"/>
          <p:cNvSpPr>
            <a:spLocks xmlns:a="http://schemas.openxmlformats.org/drawingml/2006/main"/>
          </p:cNvSpPr>
          <p:nvPr/>
        </p:nvSpPr>
        <p:spPr>
          <a:xfrm xmlns:a="http://schemas.openxmlformats.org/drawingml/2006/main" rot="0">
            <a:off x="5394960" y="365760"/>
            <a:ext cx="2788920" cy="201168"/>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ctr" anchorCtr="0">
            <a:prstTxWarp prst="textNoShape"/>
          </a:bodyPr>
          <a:lstStyle xmlns:a="http://schemas.openxmlformats.org/drawingml/2006/main"/>
          <a:p xmlns:a="http://schemas.openxmlformats.org/drawingml/2006/main">
            <a:pPr marL="0" indent="0" algn="r">
              <a:lnSpc>
                <a:spcPct val="100000"/>
              </a:lnSpc>
              <a:spcBef>
                <a:spcPts val="0"/>
              </a:spcBef>
              <a:spcAft>
                <a:spcPts val="0"/>
              </a:spcAft>
              <a:buNone/>
            </a:pPr>
            <a:r>
              <a:rPr lang="en-US" altLang="zh-CN" sz="950" b="1" i="0" u="none" strike="noStrike" kern="0" cap="none" spc="100" baseline="0">
                <a:solidFill>
                  <a:srgbClr val="5B3BA8"/>
                </a:solidFill>
                <a:latin typeface="Calibri" pitchFamily="0" charset="0"/>
                <a:ea typeface="等线" pitchFamily="0" charset="0"/>
                <a:cs typeface="Calibri" pitchFamily="0" charset="0"/>
              </a:rPr>
              <a:t>IBM Quantum</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62" name="图片" descr="badge_c.png"/>
          <p:cNvPicPr>
            <a:picLocks xmlns:a="http://schemas.openxmlformats.org/drawingml/2006/main" noChangeAspect="1"/>
          </p:cNvPicPr>
          <p:nvPr/>
        </p:nvPicPr>
        <p:blipFill>
          <a:blip xmlns:a="http://schemas.openxmlformats.org/drawingml/2006/main" xmlns:r="http://schemas.openxmlformats.org/officeDocument/2006/relationships" r:embed="rId4" cstate="print"/>
          <a:stretch xmlns:a="http://schemas.openxmlformats.org/drawingml/2006/main">
            <a:fillRect/>
          </a:stretch>
        </p:blipFill>
        <p:spPr>
          <a:xfrm xmlns:a="http://schemas.openxmlformats.org/drawingml/2006/main" rot="0">
            <a:off x="8302752" y="91440"/>
            <a:ext cx="475488" cy="475487"/>
          </a:xfrm>
          <a:prstGeom xmlns:a="http://schemas.openxmlformats.org/drawingml/2006/main" prst="rect"/>
          <a:noFill xmlns:a="http://schemas.openxmlformats.org/drawingml/2006/main"/>
          <a:ln xmlns:a="http://schemas.openxmlformats.org/drawingml/2006/main" w="12700" cmpd="sng" cap="flat">
            <a:noFill/>
            <a:prstDash val="solid"/>
            <a:miter/>
          </a:ln>
        </p:spPr>
      </p:pic>
      <p:sp>
        <p:nvSpPr>
          <p:cNvPr id="63" name="矩形"/>
          <p:cNvSpPr>
            <a:spLocks xmlns:a="http://schemas.openxmlformats.org/drawingml/2006/main"/>
          </p:cNvSpPr>
          <p:nvPr/>
        </p:nvSpPr>
        <p:spPr>
          <a:xfrm xmlns:a="http://schemas.openxmlformats.org/drawingml/2006/main" rot="0">
            <a:off x="0" y="4828032"/>
            <a:ext cx="9144000" cy="315468"/>
          </a:xfrm>
          <a:prstGeom xmlns:a="http://schemas.openxmlformats.org/drawingml/2006/main" prst="rect"/>
          <a:solidFill xmlns:a="http://schemas.openxmlformats.org/drawingml/2006/main">
            <a:srgbClr val="CBD1F5"/>
          </a:solidFill>
          <a:ln xmlns:a="http://schemas.openxmlformats.org/drawingml/2006/main" w="12700" cmpd="sng" cap="flat">
            <a:solidFill>
              <a:srgbClr val="CBD1F5"/>
            </a:solidFill>
            <a:prstDash val="solid"/>
            <a:round/>
          </a:ln>
        </p:spPr>
      </p:sp>
      <p:sp>
        <p:nvSpPr>
          <p:cNvPr id="64" name="矩形"/>
          <p:cNvSpPr>
            <a:spLocks xmlns:a="http://schemas.openxmlformats.org/drawingml/2006/main"/>
          </p:cNvSpPr>
          <p:nvPr/>
        </p:nvSpPr>
        <p:spPr>
          <a:xfrm xmlns:a="http://schemas.openxmlformats.org/drawingml/2006/main" rot="0">
            <a:off x="0" y="4828032"/>
            <a:ext cx="3054095" cy="36575"/>
          </a:xfrm>
          <a:prstGeom xmlns:a="http://schemas.openxmlformats.org/drawingml/2006/main" prst="rect"/>
          <a:solidFill xmlns:a="http://schemas.openxmlformats.org/drawingml/2006/main">
            <a:srgbClr val="7C93F0"/>
          </a:solidFill>
          <a:ln xmlns:a="http://schemas.openxmlformats.org/drawingml/2006/main" w="12700" cmpd="sng" cap="flat">
            <a:solidFill>
              <a:srgbClr val="7C93F0"/>
            </a:solidFill>
            <a:prstDash val="solid"/>
            <a:round/>
          </a:ln>
        </p:spPr>
      </p:sp>
      <p:sp>
        <p:nvSpPr>
          <p:cNvPr id="65" name="矩形"/>
          <p:cNvSpPr>
            <a:spLocks xmlns:a="http://schemas.openxmlformats.org/drawingml/2006/main"/>
          </p:cNvSpPr>
          <p:nvPr/>
        </p:nvSpPr>
        <p:spPr>
          <a:xfrm xmlns:a="http://schemas.openxmlformats.org/drawingml/2006/main" rot="0">
            <a:off x="3054095" y="4828032"/>
            <a:ext cx="3054095" cy="36575"/>
          </a:xfrm>
          <a:prstGeom xmlns:a="http://schemas.openxmlformats.org/drawingml/2006/main" prst="rect"/>
          <a:solidFill xmlns:a="http://schemas.openxmlformats.org/drawingml/2006/main">
            <a:srgbClr val="E8639F"/>
          </a:solidFill>
          <a:ln xmlns:a="http://schemas.openxmlformats.org/drawingml/2006/main" w="12700" cmpd="sng" cap="flat">
            <a:solidFill>
              <a:srgbClr val="E8639F"/>
            </a:solidFill>
            <a:prstDash val="solid"/>
            <a:round/>
          </a:ln>
        </p:spPr>
      </p:sp>
      <p:sp>
        <p:nvSpPr>
          <p:cNvPr id="66" name="矩形"/>
          <p:cNvSpPr>
            <a:spLocks xmlns:a="http://schemas.openxmlformats.org/drawingml/2006/main"/>
          </p:cNvSpPr>
          <p:nvPr/>
        </p:nvSpPr>
        <p:spPr>
          <a:xfrm xmlns:a="http://schemas.openxmlformats.org/drawingml/2006/main" rot="0">
            <a:off x="6099048" y="4828032"/>
            <a:ext cx="3054095" cy="36575"/>
          </a:xfrm>
          <a:prstGeom xmlns:a="http://schemas.openxmlformats.org/drawingml/2006/main" prst="rect"/>
          <a:solidFill xmlns:a="http://schemas.openxmlformats.org/drawingml/2006/main">
            <a:srgbClr val="5B3BA8"/>
          </a:solidFill>
          <a:ln xmlns:a="http://schemas.openxmlformats.org/drawingml/2006/main" w="12700" cmpd="sng" cap="flat">
            <a:solidFill>
              <a:srgbClr val="5B3BA8"/>
            </a:solidFill>
            <a:prstDash val="solid"/>
            <a:round/>
          </a:ln>
        </p:spPr>
      </p:sp>
      <p:sp>
        <p:nvSpPr>
          <p:cNvPr id="67" name="矩形"/>
          <p:cNvSpPr>
            <a:spLocks xmlns:a="http://schemas.openxmlformats.org/drawingml/2006/main"/>
          </p:cNvSpPr>
          <p:nvPr/>
        </p:nvSpPr>
        <p:spPr>
          <a:xfrm xmlns:a="http://schemas.openxmlformats.org/drawingml/2006/main" rot="0">
            <a:off x="457200" y="4864608"/>
            <a:ext cx="5029200" cy="274319"/>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ctr" anchorCtr="0">
            <a:prstTxWarp prst="textNoShape"/>
          </a:bodyPr>
          <a:lstStyle xmlns:a="http://schemas.openxmlformats.org/drawingml/2006/main"/>
          <a:p xmlns:a="http://schemas.openxmlformats.org/drawingml/2006/main">
            <a:pPr marL="0" indent="0" algn="l">
              <a:lnSpc>
                <a:spcPct val="100000"/>
              </a:lnSpc>
              <a:spcBef>
                <a:spcPts val="0"/>
              </a:spcBef>
              <a:spcAft>
                <a:spcPts val="0"/>
              </a:spcAft>
              <a:buNone/>
            </a:pPr>
            <a:r>
              <a:rPr lang="en-US" altLang="zh-CN" sz="850" b="1" i="0" u="none" strike="noStrike" kern="0" cap="none" spc="200" baseline="0">
                <a:solidFill>
                  <a:srgbClr val="2E1B5B"/>
                </a:solidFill>
                <a:latin typeface="Calibri" pitchFamily="0" charset="0"/>
                <a:ea typeface="等线" pitchFamily="0" charset="0"/>
                <a:cs typeface="Calibri" pitchFamily="0" charset="0"/>
              </a:rPr>
              <a:t>QISKIT FALL FEST 2026  ·  HOSTED BY VTU, BELAGAVI</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68" name="矩形"/>
          <p:cNvSpPr>
            <a:spLocks xmlns:a="http://schemas.openxmlformats.org/drawingml/2006/main"/>
          </p:cNvSpPr>
          <p:nvPr/>
        </p:nvSpPr>
        <p:spPr>
          <a:xfrm xmlns:a="http://schemas.openxmlformats.org/drawingml/2006/main" rot="0">
            <a:off x="5943599" y="4864608"/>
            <a:ext cx="2194560" cy="274319"/>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ctr" anchorCtr="0">
            <a:prstTxWarp prst="textNoShape"/>
          </a:bodyPr>
          <a:lstStyle xmlns:a="http://schemas.openxmlformats.org/drawingml/2006/main"/>
          <a:p xmlns:a="http://schemas.openxmlformats.org/drawingml/2006/main">
            <a:pPr marL="0" indent="0" algn="r">
              <a:lnSpc>
                <a:spcPct val="100000"/>
              </a:lnSpc>
              <a:spcBef>
                <a:spcPts val="0"/>
              </a:spcBef>
              <a:spcAft>
                <a:spcPts val="0"/>
              </a:spcAft>
              <a:buNone/>
            </a:pPr>
            <a:r>
              <a:rPr lang="en-US" altLang="zh-CN" sz="850" b="1" i="0" u="none" strike="noStrike" kern="0" cap="none" spc="200" baseline="0">
                <a:solidFill>
                  <a:srgbClr val="5B3BA8"/>
                </a:solidFill>
                <a:latin typeface="Calibri" pitchFamily="0" charset="0"/>
                <a:ea typeface="等线" pitchFamily="0" charset="0"/>
                <a:cs typeface="Calibri" pitchFamily="0" charset="0"/>
              </a:rPr>
              <a:t>27 – 31 OCT 2026</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69" name="图片" descr="sphere.png"/>
          <p:cNvPicPr>
            <a:picLocks xmlns:a="http://schemas.openxmlformats.org/drawingml/2006/main" noChangeAspect="1"/>
          </p:cNvPicPr>
          <p:nvPr/>
        </p:nvPicPr>
        <p:blipFill>
          <a:blip xmlns:a="http://schemas.openxmlformats.org/drawingml/2006/main" xmlns:r="http://schemas.openxmlformats.org/officeDocument/2006/relationships" r:embed="rId5" cstate="print"/>
          <a:stretch xmlns:a="http://schemas.openxmlformats.org/drawingml/2006/main">
            <a:fillRect/>
          </a:stretch>
        </p:blipFill>
        <p:spPr>
          <a:xfrm xmlns:a="http://schemas.openxmlformats.org/drawingml/2006/main" rot="0">
            <a:off x="7909560" y="822960"/>
            <a:ext cx="777240" cy="777240"/>
          </a:xfrm>
          <a:prstGeom xmlns:a="http://schemas.openxmlformats.org/drawingml/2006/main" prst="rect"/>
          <a:noFill xmlns:a="http://schemas.openxmlformats.org/drawingml/2006/main"/>
          <a:ln xmlns:a="http://schemas.openxmlformats.org/drawingml/2006/main" w="12700" cmpd="sng" cap="flat">
            <a:noFill/>
            <a:prstDash val="solid"/>
            <a:miter/>
          </a:ln>
        </p:spPr>
      </p:pic>
      <p:pic>
        <p:nvPicPr>
          <p:cNvPr id="70" name="图片" descr="bird1.png"/>
          <p:cNvPicPr>
            <a:picLocks xmlns:a="http://schemas.openxmlformats.org/drawingml/2006/main" noChangeAspect="1"/>
          </p:cNvPicPr>
          <p:nvPr/>
        </p:nvPicPr>
        <p:blipFill>
          <a:blip xmlns:a="http://schemas.openxmlformats.org/drawingml/2006/main" xmlns:r="http://schemas.openxmlformats.org/officeDocument/2006/relationships" r:embed="rId6" cstate="print"/>
          <a:stretch xmlns:a="http://schemas.openxmlformats.org/drawingml/2006/main">
            <a:fillRect/>
          </a:stretch>
        </p:blipFill>
        <p:spPr>
          <a:xfrm xmlns:a="http://schemas.openxmlformats.org/drawingml/2006/main" rot="0">
            <a:off x="7086600" y="868680"/>
            <a:ext cx="548640" cy="329184"/>
          </a:xfrm>
          <a:prstGeom xmlns:a="http://schemas.openxmlformats.org/drawingml/2006/main" prst="rect"/>
          <a:noFill xmlns:a="http://schemas.openxmlformats.org/drawingml/2006/main"/>
          <a:ln xmlns:a="http://schemas.openxmlformats.org/drawingml/2006/main" w="12700" cmpd="sng" cap="flat">
            <a:noFill/>
            <a:prstDash val="solid"/>
            <a:miter/>
          </a:ln>
        </p:spPr>
      </p:pic>
      <p:pic>
        <p:nvPicPr>
          <p:cNvPr id="71" name="图片" descr="bird2.png"/>
          <p:cNvPicPr>
            <a:picLocks xmlns:a="http://schemas.openxmlformats.org/drawingml/2006/main" noChangeAspect="1"/>
          </p:cNvPicPr>
          <p:nvPr/>
        </p:nvPicPr>
        <p:blipFill>
          <a:blip xmlns:a="http://schemas.openxmlformats.org/drawingml/2006/main" xmlns:r="http://schemas.openxmlformats.org/officeDocument/2006/relationships" r:embed="rId7" cstate="print"/>
          <a:stretch xmlns:a="http://schemas.openxmlformats.org/drawingml/2006/main">
            <a:fillRect/>
          </a:stretch>
        </p:blipFill>
        <p:spPr>
          <a:xfrm xmlns:a="http://schemas.openxmlformats.org/drawingml/2006/main" rot="0">
            <a:off x="6903720" y="1261872"/>
            <a:ext cx="384048" cy="228600"/>
          </a:xfrm>
          <a:prstGeom xmlns:a="http://schemas.openxmlformats.org/drawingml/2006/main" prst="rect"/>
          <a:noFill xmlns:a="http://schemas.openxmlformats.org/drawingml/2006/main"/>
          <a:ln xmlns:a="http://schemas.openxmlformats.org/drawingml/2006/main" w="12700" cmpd="sng" cap="flat">
            <a:noFill/>
            <a:prstDash val="solid"/>
            <a:miter/>
          </a:ln>
        </p:spPr>
      </p:pic>
      <p:sp>
        <p:nvSpPr>
          <p:cNvPr id="72" name="文本框"/>
          <p:cNvSpPr>
            <a:spLocks xmlns:a="http://schemas.openxmlformats.org/drawingml/2006/main" noGrp="1"/>
          </p:cNvSpPr>
          <p:nvPr>
            <p:ph type="title"/>
          </p:nvPr>
        </p:nvSpPr>
        <p:spPr>
          <a:xfrm xmlns:a="http://schemas.openxmlformats.org/drawingml/2006/main" rot="0">
            <a:off x="457200" y="841248"/>
            <a:ext cx="6309360" cy="594360"/>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t" anchorCtr="0">
            <a:prstTxWarp prst="textNoShape"/>
          </a:bodyPr>
          <a:lstStyle xmlns:a="http://schemas.openxmlformats.org/drawingml/2006/main"/>
          <a:p xmlns:a="http://schemas.openxmlformats.org/drawingml/2006/main">
            <a:pPr marL="0" indent="0" algn="l"/>
            <a:endParaRPr lang="zh-CN" altLang="en-US" sz="2600" b="1">
              <a:solidFill>
                <a:srgbClr val="2E1B5B"/>
              </a:solidFill>
              <a:latin typeface="Georgia" pitchFamily="0" charset="0"/>
              <a:ea typeface="Georgia" pitchFamily="0" charset="0"/>
              <a:cs typeface="Georgia" pitchFamily="0" charset="0"/>
            </a:endParaRPr>
          </a:p>
        </p:txBody>
      </p:sp>
      <p:sp>
        <p:nvSpPr>
          <p:cNvPr id="73" name="文本框"/>
          <p:cNvSpPr>
            <a:spLocks xmlns:a="http://schemas.openxmlformats.org/drawingml/2006/main" noGrp="1"/>
          </p:cNvSpPr>
          <p:nvPr>
            <p:ph type="sldNum"/>
          </p:nvPr>
        </p:nvSpPr>
        <p:spPr>
          <a:xfrm xmlns:a="http://schemas.openxmlformats.org/drawingml/2006/main" rot="0">
            <a:off x="8321040" y="4864608"/>
            <a:ext cx="365759" cy="274319"/>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ctr" anchorCtr="0">
            <a:prstTxWarp prst="textNoShape"/>
          </a:bodyPr>
          <a:lstStyle xmlns:a="http://schemas.openxmlformats.org/drawingml/2006/main"/>
          <a:p xmlns:a="http://schemas.openxmlformats.org/drawingml/2006/main">
            <a:pPr algn="r"/>
            <a:fld id="{CAD2D6BD-DE1B-4B5F-8B41-2702339687B9}" type="slidenum">
              <a:rPr lang="en-US" altLang="zh-CN" sz="900" b="1" i="0" u="none" strike="noStrike" kern="1200" cap="none" spc="0" baseline="0">
                <a:solidFill>
                  <a:srgbClr val="2E1B5B"/>
                </a:solidFill>
                <a:latin typeface="Calibri" pitchFamily="0" charset="0"/>
                <a:ea typeface="等线" pitchFamily="0" charset="0"/>
                <a:cs typeface="Calibri" pitchFamily="0" charset="0"/>
              </a:rPr>
              <a:t>&lt;#&gt;</a:t>
            </a:fld>
            <a:endParaRPr lang="zh-CN" altLang="en-US" sz="900">
              <a:solidFill>
                <a:srgbClr val="2E1B5B"/>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254112231"/>
      </p:ext>
    </p:extLst>
  </p:cSld>
  <p:clrMapOvr>
    <a:masterClrMapping xmlns:a="http://schemas.openxmlformats.org/drawingml/2006/main"/>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文本框"/>
          <p:cNvSpPr>
            <a:spLocks noGrp="1"/>
          </p:cNvSpPr>
          <p:nvPr>
            <p:ph type="sldNum"/>
          </p:nvPr>
        </p:nvSpPr>
        <p:spPr>
          <a:xfrm rot="0">
            <a:off x="8321040" y="4864608"/>
            <a:ext cx="365759" cy="274319"/>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900" b="1" i="0" u="none" strike="noStrike" kern="1200" cap="none" spc="0" baseline="0">
                <a:solidFill>
                  <a:srgbClr val="2E1B5B"/>
                </a:solidFill>
                <a:latin typeface="Calibri" pitchFamily="0" charset="0"/>
                <a:ea typeface="等线" pitchFamily="0" charset="0"/>
                <a:cs typeface="Calibri" pitchFamily="0" charset="0"/>
              </a:rPr>
              <a:t>&lt;#&gt;</a:t>
            </a:fld>
            <a:endParaRPr lang="zh-CN" altLang="en-US" sz="900">
              <a:solidFill>
                <a:srgbClr val="2E1B5B"/>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834383806"/>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lvl1pPr algn="ctr" defTabSz="914400" eaLnBrk="1" fontAlgn="auto" latinLnBrk="0" hangingPunct="1">
        <a:spcBef>
          <a:spcPts val="0"/>
        </a:spcBef>
        <a:buNone/>
        <a:defRPr sz="4400" kern="1200">
          <a:solidFill>
            <a:schemeClr val="tx1"/>
          </a:solidFill>
          <a:latin typeface="Georgia" pitchFamily="0" charset="0"/>
          <a:ea typeface="等线 Light" pitchFamily="0" charset="0"/>
          <a:cs typeface="Georgia" pitchFamily="0" charset="0"/>
        </a:defRPr>
      </a:lvl1pPr>
    </p:titleStyle>
    <p:bodyStyle>
      <a:lvl1pPr marL="342900" indent="-342900" algn="l" defTabSz="914400" eaLnBrk="1" fontAlgn="auto" latinLnBrk="0" hangingPunct="1">
        <a:spcBef>
          <a:spcPct val="20000"/>
        </a:spcBef>
        <a:buFont typeface="Arial" pitchFamily="34" charset="0"/>
        <a:buChar char="•"/>
        <a:defRPr sz="3200" kern="1200">
          <a:solidFill>
            <a:schemeClr val="tx1"/>
          </a:solidFill>
          <a:latin typeface="Calibri" pitchFamily="0" charset="0"/>
          <a:ea typeface="等线" pitchFamily="0" charset="0"/>
          <a:cs typeface="Calibri" pitchFamily="0" charset="0"/>
        </a:defRPr>
      </a:lvl1pPr>
      <a:lvl2pPr marL="742950" indent="-285750" algn="l" defTabSz="914400" eaLnBrk="1" fontAlgn="auto" latinLnBrk="0" hangingPunct="1">
        <a:spcBef>
          <a:spcPct val="20000"/>
        </a:spcBef>
        <a:buFont typeface="Arial" pitchFamily="34" charset="0"/>
        <a:buChar char="–"/>
        <a:defRPr sz="2800" kern="1200">
          <a:solidFill>
            <a:schemeClr val="tx1"/>
          </a:solidFill>
          <a:latin typeface="Calibri" pitchFamily="0" charset="0"/>
          <a:ea typeface="等线" pitchFamily="0" charset="0"/>
          <a:cs typeface="Calibri" pitchFamily="0" charset="0"/>
        </a:defRPr>
      </a:lvl2pPr>
      <a:lvl3pPr marL="1143000" indent="-228600" algn="l" defTabSz="914400" eaLnBrk="1" fontAlgn="auto" latinLnBrk="0" hangingPunct="1">
        <a:spcBef>
          <a:spcPct val="20000"/>
        </a:spcBef>
        <a:buFont typeface="Arial" pitchFamily="34" charset="0"/>
        <a:buChar char="•"/>
        <a:defRPr sz="2400" kern="1200">
          <a:solidFill>
            <a:schemeClr val="tx1"/>
          </a:solidFill>
          <a:latin typeface="Calibri" pitchFamily="0" charset="0"/>
          <a:ea typeface="等线" pitchFamily="0" charset="0"/>
          <a:cs typeface="Calibri" pitchFamily="0" charset="0"/>
        </a:defRPr>
      </a:lvl3pPr>
      <a:lvl4pPr marL="16002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4pPr>
      <a:lvl5pPr marL="20574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4.png"/><Relationship Id="rId2" Type="http://schemas.openxmlformats.org/officeDocument/2006/relationships/image" Target="../media/5.png"/><Relationship Id="rId3" Type="http://schemas.openxmlformats.org/officeDocument/2006/relationships/image" Target="../media/6.png"/><Relationship Id="rId4" Type="http://schemas.openxmlformats.org/officeDocument/2006/relationships/image" Target="../media/7.png"/><Relationship Id="rId5" Type="http://schemas.openxmlformats.org/officeDocument/2006/relationships/slideLayout" Target="../slideLayouts/slideLayout1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8.png"/><Relationship Id="rId2" Type="http://schemas.openxmlformats.org/officeDocument/2006/relationships/image" Target="../media/9.png"/><Relationship Id="rId3" Type="http://schemas.openxmlformats.org/officeDocument/2006/relationships/image" Target="../media/9.png"/><Relationship Id="rId4" Type="http://schemas.openxmlformats.org/officeDocument/2006/relationships/image" Target="../media/10.png"/><Relationship Id="rId5" Type="http://schemas.openxmlformats.org/officeDocument/2006/relationships/slideLayout" Target="../slideLayouts/slideLayout1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11.png"/><Relationship Id="rId2" Type="http://schemas.openxmlformats.org/officeDocument/2006/relationships/image" Target="../media/12.png"/><Relationship Id="rId3" Type="http://schemas.openxmlformats.org/officeDocument/2006/relationships/image" Target="../media/13.png"/><Relationship Id="rId4" Type="http://schemas.openxmlformats.org/officeDocument/2006/relationships/slideLayout" Target="../slideLayouts/slideLayout1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13.png"/><Relationship Id="rId2" Type="http://schemas.openxmlformats.org/officeDocument/2006/relationships/image" Target="../media/14.png"/><Relationship Id="rId3" Type="http://schemas.openxmlformats.org/officeDocument/2006/relationships/slideLayout" Target="../slideLayouts/slideLayout1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15.png"/><Relationship Id="rId2" Type="http://schemas.openxmlformats.org/officeDocument/2006/relationships/slideLayout" Target="../slideLayouts/slideLayout1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14.png"/><Relationship Id="rId2" Type="http://schemas.openxmlformats.org/officeDocument/2006/relationships/image" Target="../media/16.png"/><Relationship Id="rId3" Type="http://schemas.openxmlformats.org/officeDocument/2006/relationships/image" Target="../media/12.png"/><Relationship Id="rId4" Type="http://schemas.openxmlformats.org/officeDocument/2006/relationships/image" Target="../media/17.png"/><Relationship Id="rId5" Type="http://schemas.openxmlformats.org/officeDocument/2006/relationships/slideLayout" Target="../slideLayouts/slideLayout1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8.png"/><Relationship Id="rId3" Type="http://schemas.openxmlformats.org/officeDocument/2006/relationships/image" Target="../media/9.png"/><Relationship Id="rId4" Type="http://schemas.openxmlformats.org/officeDocument/2006/relationships/slideLayout" Target="../slideLayouts/slideLayout1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18.png"/><Relationship Id="rId2" Type="http://schemas.openxmlformats.org/officeDocument/2006/relationships/image" Target="../media/19.png"/><Relationship Id="rId3" Type="http://schemas.openxmlformats.org/officeDocument/2006/relationships/image" Target="../media/20.png"/><Relationship Id="rId4" Type="http://schemas.openxmlformats.org/officeDocument/2006/relationships/image" Target="../media/16.png"/><Relationship Id="rId5" Type="http://schemas.openxmlformats.org/officeDocument/2006/relationships/image" Target="../media/21.png"/><Relationship Id="rId6" Type="http://schemas.openxmlformats.org/officeDocument/2006/relationships/image" Target="../media/13.png"/><Relationship Id="rId7" Type="http://schemas.openxmlformats.org/officeDocument/2006/relationships/slideLayout" Target="../slideLayouts/slideLayout1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4.png"/><Relationship Id="rId2" Type="http://schemas.openxmlformats.org/officeDocument/2006/relationships/image" Target="../media/5.png"/><Relationship Id="rId3" Type="http://schemas.openxmlformats.org/officeDocument/2006/relationships/image" Target="../media/6.png"/><Relationship Id="rId4" Type="http://schemas.openxmlformats.org/officeDocument/2006/relationships/image" Target="../media/7.png"/><Relationship Id="rId5" Type="http://schemas.openxmlformats.org/officeDocument/2006/relationships/hyperlink" Target="https://greenq-xi.vercel.app" TargetMode="External"/><Relationship Id="rId6" Type="http://schemas.openxmlformats.org/officeDocument/2006/relationships/hyperlink" Target="https://greenq-xi.vercel.app" TargetMode="External"/><Relationship Id="rId7" Type="http://schemas.openxmlformats.org/officeDocument/2006/relationships/hyperlink" Target="https://github.com/vtu-qiskit-fall-fest-2026/vtu-hc-response200" TargetMode="External"/><Relationship Id="rId8" Type="http://schemas.openxmlformats.org/officeDocument/2006/relationships/hyperlink" Target="https://github.com/vtu-qiskit-fall-fest-2026/vtu-hc-response200" TargetMode="External"/><Relationship Id="rId9" Type="http://schemas.openxmlformats.org/officeDocument/2006/relationships/hyperlink" Target="https://github.com/vtu-qiskit-fall-fest-2026/vtu-hc-response200" TargetMode="External"/><Relationship Id="rId10" Type="http://schemas.openxmlformats.org/officeDocument/2006/relationships/slideLayout" Target="../slideLayouts/slideLayout12.xml"/><Relationship Id="rId11" Type="http://schemas.openxmlformats.org/officeDocument/2006/relationships/notesSlide" Target="../notesSlides/notesSlide10.xml"/><Relationship Id="rId12" Type="http://schemas.openxmlformats.org/officeDocument/2006/relationships/hyperlink" Target="https://youtu.be/WW4myHQ4JOg" TargetMode="Externa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rgbClr val="DDE2FC"/>
        </a:solidFill>
      </p:bgPr>
    </p:bg>
    <p:spTree>
      <p:nvGrpSpPr>
        <p:cNvPr id="1" name=""/>
        <p:cNvGrpSpPr/>
        <p:nvPr/>
      </p:nvGrpSpPr>
      <p:grpSpPr>
        <a:xfrm>
          <a:off x="0" y="0"/>
          <a:ext cx="0" cy="0"/>
          <a:chOff x="0" y="0"/>
          <a:chExt cx="0" cy="0"/>
        </a:xfrm>
      </p:grpSpPr>
      <p:sp>
        <p:nvSpPr>
          <p:cNvPr id="26" name="矩形"/>
          <p:cNvSpPr>
            <a:spLocks/>
          </p:cNvSpPr>
          <p:nvPr/>
        </p:nvSpPr>
        <p:spPr>
          <a:xfrm rot="0">
            <a:off x="457200" y="914400"/>
            <a:ext cx="3291840" cy="27432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000" b="1" i="0" u="none" strike="noStrike" kern="0" cap="none" spc="300" baseline="0">
                <a:solidFill>
                  <a:srgbClr val="E8639F"/>
                </a:solidFill>
                <a:latin typeface="Calibri" pitchFamily="0" charset="0"/>
                <a:ea typeface="Calibri" pitchFamily="0" charset="0"/>
                <a:cs typeface="Calibri" pitchFamily="0" charset="0"/>
              </a:rPr>
              <a:t>PARTICIPANT PRESENTATION</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 name="矩形"/>
          <p:cNvSpPr>
            <a:spLocks/>
          </p:cNvSpPr>
          <p:nvPr/>
        </p:nvSpPr>
        <p:spPr>
          <a:xfrm rot="0">
            <a:off x="457200" y="1234440"/>
            <a:ext cx="3383279" cy="164591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3800" b="1" i="0" u="none" strike="noStrike" kern="1200" cap="none" spc="0" baseline="0">
                <a:solidFill>
                  <a:srgbClr val="2E1B5B"/>
                </a:solidFill>
                <a:latin typeface="Georgia" pitchFamily="0" charset="0"/>
                <a:ea typeface="Georgia" pitchFamily="0" charset="0"/>
                <a:cs typeface="Georgia" pitchFamily="0" charset="0"/>
              </a:rPr>
              <a:t>Qiskit</a:t>
            </a:r>
            <a:endParaRPr lang="en-US" altLang="zh-CN" sz="38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0"/>
              </a:spcAft>
              <a:buNone/>
            </a:pPr>
            <a:r>
              <a:rPr lang="en-US" altLang="zh-CN" sz="3800" b="1" i="0" u="none" strike="noStrike" kern="1200" cap="none" spc="0" baseline="0">
                <a:solidFill>
                  <a:srgbClr val="E8639F"/>
                </a:solidFill>
                <a:latin typeface="Georgia" pitchFamily="0" charset="0"/>
                <a:ea typeface="Georgia" pitchFamily="0" charset="0"/>
                <a:cs typeface="Georgia" pitchFamily="0" charset="0"/>
              </a:rPr>
              <a:t>Fall Fest</a:t>
            </a:r>
            <a:endParaRPr lang="en-US" altLang="zh-CN" sz="38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0"/>
              </a:spcAft>
              <a:buNone/>
            </a:pPr>
            <a:r>
              <a:rPr lang="en-US" altLang="zh-CN" sz="3800" b="1" i="0" u="none" strike="noStrike" kern="1200" cap="none" spc="0" baseline="0">
                <a:solidFill>
                  <a:srgbClr val="2E1B5B"/>
                </a:solidFill>
                <a:latin typeface="Georgia" pitchFamily="0" charset="0"/>
                <a:ea typeface="Georgia" pitchFamily="0" charset="0"/>
                <a:cs typeface="Georgia" pitchFamily="0" charset="0"/>
              </a:rPr>
              <a:t>2026</a:t>
            </a:r>
            <a:endParaRPr lang="zh-CN" altLang="en-US" sz="3800" b="0" i="0" u="none" strike="noStrike" kern="1200" cap="none" spc="0" baseline="0">
              <a:solidFill>
                <a:schemeClr val="tx1"/>
              </a:solidFill>
              <a:latin typeface="Calibri" pitchFamily="0" charset="0"/>
              <a:ea typeface="等线" pitchFamily="0" charset="0"/>
              <a:cs typeface="Calibri" pitchFamily="0" charset="0"/>
            </a:endParaRPr>
          </a:p>
        </p:txBody>
      </p:sp>
      <p:sp>
        <p:nvSpPr>
          <p:cNvPr id="28" name="矩形"/>
          <p:cNvSpPr>
            <a:spLocks/>
          </p:cNvSpPr>
          <p:nvPr/>
        </p:nvSpPr>
        <p:spPr>
          <a:xfrm rot="0">
            <a:off x="457200" y="3017519"/>
            <a:ext cx="3291840" cy="27432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300" b="0" i="0" u="none" strike="noStrike" kern="1200" cap="none" spc="0" baseline="0">
                <a:solidFill>
                  <a:srgbClr val="4A4380"/>
                </a:solidFill>
                <a:latin typeface="Calibri" pitchFamily="0" charset="0"/>
                <a:ea typeface="Calibri" pitchFamily="0" charset="0"/>
                <a:cs typeface="Calibri" pitchFamily="0" charset="0"/>
              </a:rPr>
              <a:t>Hackathon · Team Details</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29" name="图片" descr="sphere.png"/>
          <p:cNvPicPr>
            <a:picLocks noChangeAspect="1"/>
          </p:cNvPicPr>
          <p:nvPr/>
        </p:nvPicPr>
        <p:blipFill>
          <a:blip r:embed="rId1" cstate="print"/>
          <a:stretch>
            <a:fillRect/>
          </a:stretch>
        </p:blipFill>
        <p:spPr>
          <a:xfrm rot="0">
            <a:off x="457200" y="3291840"/>
            <a:ext cx="1371600" cy="1371600"/>
          </a:xfrm>
          <a:prstGeom prst="rect"/>
          <a:noFill/>
          <a:ln w="12700" cmpd="sng" cap="flat">
            <a:noFill/>
            <a:prstDash val="solid"/>
            <a:miter/>
          </a:ln>
        </p:spPr>
      </p:pic>
      <p:pic>
        <p:nvPicPr>
          <p:cNvPr id="30" name="图片" descr="bird1.png"/>
          <p:cNvPicPr>
            <a:picLocks noChangeAspect="1"/>
          </p:cNvPicPr>
          <p:nvPr/>
        </p:nvPicPr>
        <p:blipFill>
          <a:blip r:embed="rId2" cstate="print"/>
          <a:stretch>
            <a:fillRect/>
          </a:stretch>
        </p:blipFill>
        <p:spPr>
          <a:xfrm rot="0">
            <a:off x="2148840" y="3429000"/>
            <a:ext cx="731519" cy="438912"/>
          </a:xfrm>
          <a:prstGeom prst="rect"/>
          <a:noFill/>
          <a:ln w="12700" cmpd="sng" cap="flat">
            <a:noFill/>
            <a:prstDash val="solid"/>
            <a:miter/>
          </a:ln>
        </p:spPr>
      </p:pic>
      <p:pic>
        <p:nvPicPr>
          <p:cNvPr id="31" name="图片" descr="bird2.png"/>
          <p:cNvPicPr>
            <a:picLocks noChangeAspect="1"/>
          </p:cNvPicPr>
          <p:nvPr/>
        </p:nvPicPr>
        <p:blipFill>
          <a:blip r:embed="rId3" cstate="print"/>
          <a:stretch>
            <a:fillRect/>
          </a:stretch>
        </p:blipFill>
        <p:spPr>
          <a:xfrm rot="0">
            <a:off x="2880360" y="3977640"/>
            <a:ext cx="502920" cy="301751"/>
          </a:xfrm>
          <a:prstGeom prst="rect"/>
          <a:noFill/>
          <a:ln w="12700" cmpd="sng" cap="flat">
            <a:noFill/>
            <a:prstDash val="solid"/>
            <a:miter/>
          </a:ln>
        </p:spPr>
      </p:pic>
      <p:pic>
        <p:nvPicPr>
          <p:cNvPr id="32" name="图片" descr="bird3.png"/>
          <p:cNvPicPr>
            <a:picLocks noChangeAspect="1"/>
          </p:cNvPicPr>
          <p:nvPr/>
        </p:nvPicPr>
        <p:blipFill>
          <a:blip r:embed="rId4" cstate="print"/>
          <a:stretch>
            <a:fillRect/>
          </a:stretch>
        </p:blipFill>
        <p:spPr>
          <a:xfrm rot="0">
            <a:off x="2331720" y="4297680"/>
            <a:ext cx="384047" cy="228600"/>
          </a:xfrm>
          <a:prstGeom prst="rect"/>
          <a:noFill/>
          <a:ln w="12700" cmpd="sng" cap="flat">
            <a:noFill/>
            <a:prstDash val="solid"/>
            <a:miter/>
          </a:ln>
        </p:spPr>
      </p:pic>
      <p:sp>
        <p:nvSpPr>
          <p:cNvPr id="33" name="矩形"/>
          <p:cNvSpPr>
            <a:spLocks/>
          </p:cNvSpPr>
          <p:nvPr/>
        </p:nvSpPr>
        <p:spPr>
          <a:xfrm rot="0">
            <a:off x="4023359" y="841248"/>
            <a:ext cx="4663440" cy="32003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600" b="1" i="0" u="none" strike="noStrike" kern="1200" cap="none" spc="0" baseline="0">
                <a:solidFill>
                  <a:srgbClr val="2E1B5B"/>
                </a:solidFill>
                <a:latin typeface="Georgia" pitchFamily="0" charset="0"/>
                <a:ea typeface="Georgia" pitchFamily="0" charset="0"/>
                <a:cs typeface="Georgia" pitchFamily="0" charset="0"/>
              </a:rPr>
              <a:t>Participant Details</a:t>
            </a:r>
            <a:endParaRPr lang="zh-CN" altLang="en-US" sz="16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 name="圆角矩形"/>
          <p:cNvSpPr>
            <a:spLocks/>
          </p:cNvSpPr>
          <p:nvPr/>
        </p:nvSpPr>
        <p:spPr>
          <a:xfrm rot="0">
            <a:off x="4023359" y="1261872"/>
            <a:ext cx="4663440" cy="530352"/>
          </a:xfrm>
          <a:prstGeom prst="roundRect">
            <a:avLst>
              <a:gd name="adj" fmla="val 10347"/>
            </a:avLst>
          </a:prstGeom>
          <a:solidFill>
            <a:srgbClr val="FFFFFF"/>
          </a:solidFill>
          <a:ln w="9525" cmpd="sng" cap="flat">
            <a:solidFill>
              <a:srgbClr val="B8BDEB"/>
            </a:solidFill>
            <a:prstDash val="solid"/>
            <a:round/>
          </a:ln>
        </p:spPr>
        <p:txBody>
          <a:bodyPr vert="horz" wrap="square" lIns="63500" tIns="114300" rIns="114300" bIns="38100" anchor="t" anchorCtr="0">
            <a:prstTxWarp prst="textNoShape"/>
          </a:bodyPr>
          <a:lstStyle/>
          <a:p>
            <a:pPr marL="0" indent="0" algn="l">
              <a:lnSpc>
                <a:spcPct val="100000"/>
              </a:lnSpc>
              <a:spcBef>
                <a:spcPts val="0"/>
              </a:spcBef>
              <a:spcAft>
                <a:spcPts val="0"/>
              </a:spcAft>
              <a:buNone/>
            </a:pPr>
            <a:r>
              <a:rPr lang="en-US" altLang="zh-CN" sz="900" b="1" i="0" u="none" strike="noStrike" kern="0" cap="none" spc="100" baseline="0">
                <a:solidFill>
                  <a:srgbClr val="5B3BA8"/>
                </a:solidFill>
                <a:latin typeface="Calibri" pitchFamily="0" charset="0"/>
                <a:ea typeface="Calibri" pitchFamily="0" charset="0"/>
                <a:cs typeface="Calibri" pitchFamily="0" charset="0"/>
              </a:rPr>
              <a:t>PROJECT TITLE</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35" name="圆角矩形"/>
          <p:cNvSpPr>
            <a:spLocks/>
          </p:cNvSpPr>
          <p:nvPr/>
        </p:nvSpPr>
        <p:spPr>
          <a:xfrm rot="0">
            <a:off x="4023359" y="1865376"/>
            <a:ext cx="2285999" cy="530352"/>
          </a:xfrm>
          <a:prstGeom prst="roundRect">
            <a:avLst>
              <a:gd name="adj" fmla="val 10347"/>
            </a:avLst>
          </a:prstGeom>
          <a:solidFill>
            <a:srgbClr val="FFFFFF"/>
          </a:solidFill>
          <a:ln w="9525" cmpd="sng" cap="flat">
            <a:solidFill>
              <a:srgbClr val="B8BDEB"/>
            </a:solidFill>
            <a:prstDash val="solid"/>
            <a:round/>
          </a:ln>
        </p:spPr>
        <p:txBody>
          <a:bodyPr vert="horz" wrap="square" lIns="63500" tIns="114300" rIns="114300" bIns="38100" anchor="t" anchorCtr="0">
            <a:prstTxWarp prst="textNoShape"/>
          </a:bodyPr>
          <a:lstStyle/>
          <a:p>
            <a:pPr marL="0" indent="0" algn="l">
              <a:lnSpc>
                <a:spcPct val="100000"/>
              </a:lnSpc>
              <a:spcBef>
                <a:spcPts val="0"/>
              </a:spcBef>
              <a:spcAft>
                <a:spcPts val="0"/>
              </a:spcAft>
              <a:buNone/>
            </a:pPr>
            <a:r>
              <a:rPr lang="en-US" altLang="zh-CN" sz="900" b="1" i="0" u="none" strike="noStrike" kern="0" cap="none" spc="100" baseline="0">
                <a:solidFill>
                  <a:srgbClr val="5B3BA8"/>
                </a:solidFill>
                <a:latin typeface="Calibri" pitchFamily="0" charset="0"/>
                <a:ea typeface="Calibri" pitchFamily="0" charset="0"/>
                <a:cs typeface="Calibri" pitchFamily="0" charset="0"/>
              </a:rPr>
              <a:t>TRACK</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36" name="圆角矩形"/>
          <p:cNvSpPr>
            <a:spLocks/>
          </p:cNvSpPr>
          <p:nvPr/>
        </p:nvSpPr>
        <p:spPr>
          <a:xfrm rot="0">
            <a:off x="6400800" y="1865376"/>
            <a:ext cx="2286000" cy="530352"/>
          </a:xfrm>
          <a:prstGeom prst="roundRect">
            <a:avLst>
              <a:gd name="adj" fmla="val 10347"/>
            </a:avLst>
          </a:prstGeom>
          <a:solidFill>
            <a:srgbClr val="FFFFFF"/>
          </a:solidFill>
          <a:ln w="9525" cmpd="sng" cap="flat">
            <a:solidFill>
              <a:srgbClr val="B8BDEB"/>
            </a:solidFill>
            <a:prstDash val="solid"/>
            <a:round/>
          </a:ln>
        </p:spPr>
        <p:txBody>
          <a:bodyPr vert="horz" wrap="square" lIns="63500" tIns="114300" rIns="114300" bIns="38100" anchor="t" anchorCtr="0">
            <a:prstTxWarp prst="textNoShape"/>
          </a:bodyPr>
          <a:lstStyle/>
          <a:p>
            <a:pPr marL="0" indent="0" algn="l">
              <a:lnSpc>
                <a:spcPct val="100000"/>
              </a:lnSpc>
              <a:spcBef>
                <a:spcPts val="0"/>
              </a:spcBef>
              <a:spcAft>
                <a:spcPts val="0"/>
              </a:spcAft>
              <a:buNone/>
            </a:pPr>
            <a:r>
              <a:rPr lang="en-US" altLang="zh-CN" sz="900" b="1" i="0" u="none" strike="noStrike" kern="0" cap="none" spc="100" baseline="0">
                <a:solidFill>
                  <a:srgbClr val="5B3BA8"/>
                </a:solidFill>
                <a:latin typeface="Calibri" pitchFamily="0" charset="0"/>
                <a:ea typeface="Calibri" pitchFamily="0" charset="0"/>
                <a:cs typeface="Calibri" pitchFamily="0" charset="0"/>
              </a:rPr>
              <a:t>TEAM NAME</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37" name="圆角矩形"/>
          <p:cNvSpPr>
            <a:spLocks/>
          </p:cNvSpPr>
          <p:nvPr/>
        </p:nvSpPr>
        <p:spPr>
          <a:xfrm rot="0">
            <a:off x="4023359" y="2468880"/>
            <a:ext cx="2285999" cy="530352"/>
          </a:xfrm>
          <a:prstGeom prst="roundRect">
            <a:avLst>
              <a:gd name="adj" fmla="val 10347"/>
            </a:avLst>
          </a:prstGeom>
          <a:solidFill>
            <a:srgbClr val="FFFFFF"/>
          </a:solidFill>
          <a:ln w="9525" cmpd="sng" cap="flat">
            <a:solidFill>
              <a:srgbClr val="B8BDEB"/>
            </a:solidFill>
            <a:prstDash val="solid"/>
            <a:round/>
          </a:ln>
        </p:spPr>
        <p:txBody>
          <a:bodyPr vert="horz" wrap="square" lIns="63500" tIns="114300" rIns="114300" bIns="38100" anchor="t" anchorCtr="0">
            <a:prstTxWarp prst="textNoShape"/>
          </a:bodyPr>
          <a:lstStyle/>
          <a:p>
            <a:pPr marL="0" indent="0" algn="l">
              <a:lnSpc>
                <a:spcPct val="100000"/>
              </a:lnSpc>
              <a:spcBef>
                <a:spcPts val="0"/>
              </a:spcBef>
              <a:spcAft>
                <a:spcPts val="0"/>
              </a:spcAft>
              <a:buNone/>
            </a:pPr>
            <a:r>
              <a:rPr lang="en-US" altLang="zh-CN" sz="900" b="1" i="0" u="none" strike="noStrike" kern="0" cap="none" spc="100" baseline="0">
                <a:solidFill>
                  <a:srgbClr val="5B3BA8"/>
                </a:solidFill>
                <a:latin typeface="Calibri" pitchFamily="0" charset="0"/>
                <a:ea typeface="Calibri" pitchFamily="0" charset="0"/>
                <a:cs typeface="Calibri" pitchFamily="0" charset="0"/>
              </a:rPr>
              <a:t>TEAM LEADER</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38" name="圆角矩形"/>
          <p:cNvSpPr>
            <a:spLocks/>
          </p:cNvSpPr>
          <p:nvPr/>
        </p:nvSpPr>
        <p:spPr>
          <a:xfrm rot="0">
            <a:off x="6400800" y="2468880"/>
            <a:ext cx="2286000" cy="530352"/>
          </a:xfrm>
          <a:prstGeom prst="roundRect">
            <a:avLst>
              <a:gd name="adj" fmla="val 10347"/>
            </a:avLst>
          </a:prstGeom>
          <a:solidFill>
            <a:srgbClr val="FFFFFF"/>
          </a:solidFill>
          <a:ln w="9525" cmpd="sng" cap="flat">
            <a:solidFill>
              <a:srgbClr val="B8BDEB"/>
            </a:solidFill>
            <a:prstDash val="solid"/>
            <a:round/>
          </a:ln>
        </p:spPr>
        <p:txBody>
          <a:bodyPr vert="horz" wrap="square" lIns="63500" tIns="114300" rIns="114300" bIns="38100" anchor="t" anchorCtr="0">
            <a:prstTxWarp prst="textNoShape"/>
          </a:bodyPr>
          <a:lstStyle/>
          <a:p>
            <a:pPr marL="0" indent="0" algn="l">
              <a:lnSpc>
                <a:spcPct val="100000"/>
              </a:lnSpc>
              <a:spcBef>
                <a:spcPts val="0"/>
              </a:spcBef>
              <a:spcAft>
                <a:spcPts val="0"/>
              </a:spcAft>
              <a:buNone/>
            </a:pPr>
            <a:r>
              <a:rPr lang="en-US" altLang="zh-CN" sz="900" b="1" i="0" u="none" strike="noStrike" kern="0" cap="none" spc="100" baseline="0">
                <a:solidFill>
                  <a:srgbClr val="5B3BA8"/>
                </a:solidFill>
                <a:latin typeface="Calibri" pitchFamily="0" charset="0"/>
                <a:ea typeface="Calibri" pitchFamily="0" charset="0"/>
                <a:cs typeface="Calibri" pitchFamily="0" charset="0"/>
              </a:rPr>
              <a:t>EMAIL / CONTACT</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39" name="圆角矩形"/>
          <p:cNvSpPr>
            <a:spLocks/>
          </p:cNvSpPr>
          <p:nvPr/>
        </p:nvSpPr>
        <p:spPr>
          <a:xfrm rot="0">
            <a:off x="4023359" y="3072384"/>
            <a:ext cx="4663440" cy="777239"/>
          </a:xfrm>
          <a:prstGeom prst="roundRect">
            <a:avLst>
              <a:gd name="adj" fmla="val 7060"/>
            </a:avLst>
          </a:prstGeom>
          <a:solidFill>
            <a:srgbClr val="FFFFFF"/>
          </a:solidFill>
          <a:ln w="9525" cmpd="sng" cap="flat">
            <a:solidFill>
              <a:srgbClr val="B8BDEB"/>
            </a:solidFill>
            <a:prstDash val="solid"/>
            <a:round/>
          </a:ln>
        </p:spPr>
        <p:txBody>
          <a:bodyPr vert="horz" wrap="square" lIns="63500" tIns="114300" rIns="114300" bIns="38100" anchor="t" anchorCtr="0">
            <a:prstTxWarp prst="textNoShape"/>
          </a:bodyPr>
          <a:lstStyle/>
          <a:p>
            <a:pPr marL="0" indent="0" algn="l">
              <a:lnSpc>
                <a:spcPct val="100000"/>
              </a:lnSpc>
              <a:spcBef>
                <a:spcPts val="0"/>
              </a:spcBef>
              <a:spcAft>
                <a:spcPts val="0"/>
              </a:spcAft>
              <a:buNone/>
            </a:pPr>
            <a:r>
              <a:rPr lang="en-US" altLang="zh-CN" sz="900" b="1" i="0" u="none" strike="noStrike" kern="0" cap="none" spc="100" baseline="0">
                <a:solidFill>
                  <a:srgbClr val="5B3BA8"/>
                </a:solidFill>
                <a:latin typeface="Calibri" pitchFamily="0" charset="0"/>
                <a:ea typeface="Calibri" pitchFamily="0" charset="0"/>
                <a:cs typeface="Calibri" pitchFamily="0" charset="0"/>
              </a:rPr>
              <a:t>TEAM MEMBERS</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40" name="圆角矩形"/>
          <p:cNvSpPr>
            <a:spLocks/>
          </p:cNvSpPr>
          <p:nvPr/>
        </p:nvSpPr>
        <p:spPr>
          <a:xfrm rot="0">
            <a:off x="4023359" y="3922776"/>
            <a:ext cx="2285999" cy="530352"/>
          </a:xfrm>
          <a:prstGeom prst="roundRect">
            <a:avLst>
              <a:gd name="adj" fmla="val 10347"/>
            </a:avLst>
          </a:prstGeom>
          <a:solidFill>
            <a:srgbClr val="FFFFFF"/>
          </a:solidFill>
          <a:ln w="9525" cmpd="sng" cap="flat">
            <a:solidFill>
              <a:srgbClr val="B8BDEB"/>
            </a:solidFill>
            <a:prstDash val="solid"/>
            <a:round/>
          </a:ln>
        </p:spPr>
        <p:txBody>
          <a:bodyPr vert="horz" wrap="square" lIns="63500" tIns="114300" rIns="114300" bIns="38100" anchor="t" anchorCtr="0">
            <a:prstTxWarp prst="textNoShape"/>
          </a:bodyPr>
          <a:lstStyle/>
          <a:p>
            <a:pPr marL="0" indent="0" algn="l">
              <a:lnSpc>
                <a:spcPct val="100000"/>
              </a:lnSpc>
              <a:spcBef>
                <a:spcPts val="0"/>
              </a:spcBef>
              <a:spcAft>
                <a:spcPts val="0"/>
              </a:spcAft>
              <a:buNone/>
            </a:pPr>
            <a:r>
              <a:rPr lang="en-US" altLang="zh-CN" sz="900" b="1" i="0" u="none" strike="noStrike" kern="0" cap="none" spc="100" baseline="0">
                <a:solidFill>
                  <a:srgbClr val="5B3BA8"/>
                </a:solidFill>
                <a:latin typeface="Calibri" pitchFamily="0" charset="0"/>
                <a:ea typeface="Calibri" pitchFamily="0" charset="0"/>
                <a:cs typeface="Calibri" pitchFamily="0" charset="0"/>
              </a:rPr>
              <a:t>INSTITUTION / ORGANISATION</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41" name="圆角矩形"/>
          <p:cNvSpPr>
            <a:spLocks/>
          </p:cNvSpPr>
          <p:nvPr/>
        </p:nvSpPr>
        <p:spPr>
          <a:xfrm rot="0">
            <a:off x="6400800" y="3922776"/>
            <a:ext cx="2286000" cy="530352"/>
          </a:xfrm>
          <a:prstGeom prst="roundRect">
            <a:avLst>
              <a:gd name="adj" fmla="val 10347"/>
            </a:avLst>
          </a:prstGeom>
          <a:solidFill>
            <a:srgbClr val="FFFFFF"/>
          </a:solidFill>
          <a:ln w="9525" cmpd="sng" cap="flat">
            <a:solidFill>
              <a:srgbClr val="B8BDEB"/>
            </a:solidFill>
            <a:prstDash val="solid"/>
            <a:round/>
          </a:ln>
        </p:spPr>
        <p:txBody>
          <a:bodyPr vert="horz" wrap="square" lIns="63500" tIns="114300" rIns="114300" bIns="38100" anchor="t" anchorCtr="0">
            <a:prstTxWarp prst="textNoShape"/>
          </a:bodyPr>
          <a:lstStyle/>
          <a:p>
            <a:pPr marL="0" indent="0" algn="l">
              <a:lnSpc>
                <a:spcPct val="100000"/>
              </a:lnSpc>
              <a:spcBef>
                <a:spcPts val="0"/>
              </a:spcBef>
              <a:spcAft>
                <a:spcPts val="0"/>
              </a:spcAft>
              <a:buNone/>
            </a:pPr>
            <a:r>
              <a:rPr lang="en-US" altLang="zh-CN" sz="900" b="1" i="0" u="none" strike="noStrike" kern="0" cap="none" spc="100" baseline="0">
                <a:solidFill>
                  <a:srgbClr val="5B3BA8"/>
                </a:solidFill>
                <a:latin typeface="Calibri" pitchFamily="0" charset="0"/>
                <a:ea typeface="Calibri" pitchFamily="0" charset="0"/>
                <a:cs typeface="Calibri" pitchFamily="0" charset="0"/>
              </a:rPr>
              <a:t>COUNTRY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42" name="矩形"/>
          <p:cNvSpPr>
            <a:spLocks/>
          </p:cNvSpPr>
          <p:nvPr/>
        </p:nvSpPr>
        <p:spPr>
          <a:xfrm rot="0">
            <a:off x="4114800" y="1522475"/>
            <a:ext cx="4480559"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2E1B5B"/>
                </a:solidFill>
                <a:latin typeface="Calibri" pitchFamily="0" charset="0"/>
                <a:ea typeface="等线" pitchFamily="0" charset="0"/>
                <a:cs typeface="Calibri" pitchFamily="0" charset="0"/>
              </a:rPr>
              <a:t>GreenQ: quantum scheduling for less carbon and water</a:t>
            </a:r>
            <a:endParaRPr lang="zh-CN" altLang="en-US" sz="1200" b="0" i="0" u="none" strike="noStrike" kern="1200" cap="none" spc="0" baseline="0">
              <a:solidFill>
                <a:srgbClr val="2E1B5B"/>
              </a:solidFill>
              <a:latin typeface="Calibri" pitchFamily="0" charset="0"/>
              <a:ea typeface="等线" pitchFamily="0" charset="0"/>
              <a:cs typeface="Calibri" pitchFamily="0" charset="0"/>
            </a:endParaRPr>
          </a:p>
        </p:txBody>
      </p:sp>
      <p:sp>
        <p:nvSpPr>
          <p:cNvPr id="43" name="矩形"/>
          <p:cNvSpPr>
            <a:spLocks/>
          </p:cNvSpPr>
          <p:nvPr/>
        </p:nvSpPr>
        <p:spPr>
          <a:xfrm rot="0">
            <a:off x="4114800" y="2125979"/>
            <a:ext cx="2103120"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Track 6 · Climate &amp; Sustainability</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p:txBody>
      </p:sp>
      <p:sp>
        <p:nvSpPr>
          <p:cNvPr id="44" name="矩形"/>
          <p:cNvSpPr>
            <a:spLocks/>
          </p:cNvSpPr>
          <p:nvPr/>
        </p:nvSpPr>
        <p:spPr>
          <a:xfrm rot="0">
            <a:off x="6492240" y="2125979"/>
            <a:ext cx="2103119"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Response200 · VTU-QFF-HC-0137</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p:txBody>
      </p:sp>
      <p:sp>
        <p:nvSpPr>
          <p:cNvPr id="45" name="矩形"/>
          <p:cNvSpPr>
            <a:spLocks/>
          </p:cNvSpPr>
          <p:nvPr/>
        </p:nvSpPr>
        <p:spPr>
          <a:xfrm rot="0">
            <a:off x="4114800" y="2729482"/>
            <a:ext cx="2103120" cy="18097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2E1B5B"/>
                </a:solidFill>
                <a:latin typeface="Calibri" pitchFamily="0" charset="0"/>
                <a:ea typeface="等线" pitchFamily="0" charset="0"/>
                <a:cs typeface="Calibri" pitchFamily="0" charset="0"/>
              </a:rPr>
              <a:t>Jagpreet Singh</a:t>
            </a:r>
            <a:endParaRPr lang="zh-CN" altLang="en-US" sz="1200" b="0" i="0" u="none" strike="noStrike" kern="1200" cap="none" spc="0" baseline="0">
              <a:solidFill>
                <a:srgbClr val="2E1B5B"/>
              </a:solidFill>
              <a:latin typeface="Calibri" pitchFamily="0" charset="0"/>
              <a:ea typeface="等线" pitchFamily="0" charset="0"/>
              <a:cs typeface="Calibri" pitchFamily="0" charset="0"/>
            </a:endParaRPr>
          </a:p>
        </p:txBody>
      </p:sp>
      <p:sp>
        <p:nvSpPr>
          <p:cNvPr id="46" name="矩形"/>
          <p:cNvSpPr>
            <a:spLocks/>
          </p:cNvSpPr>
          <p:nvPr/>
        </p:nvSpPr>
        <p:spPr>
          <a:xfrm rot="0">
            <a:off x="6492240" y="2729482"/>
            <a:ext cx="2103119"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jagpreet.singh2060@gmail.com</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p:txBody>
      </p:sp>
      <p:sp>
        <p:nvSpPr>
          <p:cNvPr id="47" name="矩形"/>
          <p:cNvSpPr>
            <a:spLocks/>
          </p:cNvSpPr>
          <p:nvPr/>
        </p:nvSpPr>
        <p:spPr>
          <a:xfrm rot="0">
            <a:off x="4114800" y="3332987"/>
            <a:ext cx="4480559"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2E1B5B"/>
                </a:solidFill>
                <a:latin typeface="Calibri" pitchFamily="0" charset="0"/>
                <a:ea typeface="等线" pitchFamily="0" charset="0"/>
                <a:cs typeface="Calibri" pitchFamily="0" charset="0"/>
              </a:rPr>
              <a:t>Jagpreet Singh (Team Lead)  ·  Ramandeep Singh (Developer)</a:t>
            </a:r>
            <a:endParaRPr lang="zh-CN" altLang="en-US" sz="1200" b="0" i="0" u="none" strike="noStrike" kern="1200" cap="none" spc="0" baseline="0">
              <a:solidFill>
                <a:srgbClr val="2E1B5B"/>
              </a:solidFill>
              <a:latin typeface="Calibri" pitchFamily="0" charset="0"/>
              <a:ea typeface="等线" pitchFamily="0" charset="0"/>
              <a:cs typeface="Calibri" pitchFamily="0" charset="0"/>
            </a:endParaRPr>
          </a:p>
        </p:txBody>
      </p:sp>
      <p:sp>
        <p:nvSpPr>
          <p:cNvPr id="48" name="矩形"/>
          <p:cNvSpPr>
            <a:spLocks/>
          </p:cNvSpPr>
          <p:nvPr/>
        </p:nvSpPr>
        <p:spPr>
          <a:xfrm rot="0">
            <a:off x="4114800" y="4183379"/>
            <a:ext cx="2103120" cy="14287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2E1B5B"/>
                </a:solidFill>
                <a:latin typeface="Calibri" pitchFamily="0" charset="0"/>
                <a:ea typeface="等线" pitchFamily="0" charset="0"/>
                <a:cs typeface="Calibri" pitchFamily="0" charset="0"/>
              </a:rPr>
              <a:t>SRMIST and GTBIT</a:t>
            </a:r>
            <a:endParaRPr lang="zh-CN" altLang="en-US" sz="1000" b="0" i="0" u="none" strike="noStrike" kern="1200" cap="none" spc="0" baseline="0">
              <a:solidFill>
                <a:srgbClr val="2E1B5B"/>
              </a:solidFill>
              <a:latin typeface="Calibri" pitchFamily="0" charset="0"/>
              <a:ea typeface="等线" pitchFamily="0" charset="0"/>
              <a:cs typeface="Calibri" pitchFamily="0" charset="0"/>
            </a:endParaRPr>
          </a:p>
        </p:txBody>
      </p:sp>
      <p:sp>
        <p:nvSpPr>
          <p:cNvPr id="49" name="矩形"/>
          <p:cNvSpPr>
            <a:spLocks/>
          </p:cNvSpPr>
          <p:nvPr/>
        </p:nvSpPr>
        <p:spPr>
          <a:xfrm rot="0">
            <a:off x="6492240" y="4183379"/>
            <a:ext cx="2103119" cy="18097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2E1B5B"/>
                </a:solidFill>
                <a:latin typeface="Calibri" pitchFamily="0" charset="0"/>
                <a:ea typeface="等线" pitchFamily="0" charset="0"/>
                <a:cs typeface="Calibri" pitchFamily="0" charset="0"/>
              </a:rPr>
              <a:t>India</a:t>
            </a:r>
            <a:endParaRPr lang="zh-CN" altLang="en-US" sz="1200" b="0" i="0" u="none" strike="noStrike" kern="1200" cap="none" spc="0" baseline="0">
              <a:solidFill>
                <a:srgbClr val="2E1B5B"/>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472916754"/>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rgbClr val="DDE2FC"/>
        </a:solidFill>
      </p:bgPr>
    </p:bg>
    <p:spTree>
      <p:nvGrpSpPr>
        <p:cNvPr id="1" name=""/>
        <p:cNvGrpSpPr/>
        <p:nvPr/>
      </p:nvGrpSpPr>
      <p:grpSpPr>
        <a:xfrm>
          <a:off x="0" y="0"/>
          <a:ext cx="0" cy="0"/>
          <a:chOff x="0" y="0"/>
          <a:chExt cx="0" cy="0"/>
        </a:xfrm>
      </p:grpSpPr>
      <p:sp>
        <p:nvSpPr>
          <p:cNvPr id="74" name="文本框"/>
          <p:cNvSpPr>
            <a:spLocks noGrp="1"/>
          </p:cNvSpPr>
          <p:nvPr>
            <p:ph type="title"/>
          </p:nvPr>
        </p:nvSpPr>
        <p:spPr>
          <a:xfrm rot="0">
            <a:off x="457200" y="841248"/>
            <a:ext cx="630936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600" b="1" i="0" u="none" strike="noStrike" kern="1200" cap="none" spc="0" baseline="0">
                <a:solidFill>
                  <a:srgbClr val="2E1B5B"/>
                </a:solidFill>
                <a:latin typeface="Georgia" pitchFamily="0" charset="0"/>
                <a:ea typeface="Georgia" pitchFamily="0" charset="0"/>
                <a:cs typeface="Georgia" pitchFamily="0" charset="0"/>
              </a:rPr>
              <a:t>Problem Statement</a:t>
            </a:r>
            <a:endParaRPr lang="zh-CN" altLang="en-US" sz="2600" b="1" i="0" u="none" strike="noStrike" kern="1200" cap="none" spc="0" baseline="0">
              <a:solidFill>
                <a:srgbClr val="2E1B5B"/>
              </a:solidFill>
              <a:latin typeface="Georgia" pitchFamily="0" charset="0"/>
              <a:ea typeface="Georgia" pitchFamily="0" charset="0"/>
              <a:cs typeface="Georgia" pitchFamily="0" charset="0"/>
            </a:endParaRPr>
          </a:p>
        </p:txBody>
      </p:sp>
      <p:sp>
        <p:nvSpPr>
          <p:cNvPr id="75" name="矩形"/>
          <p:cNvSpPr>
            <a:spLocks/>
          </p:cNvSpPr>
          <p:nvPr/>
        </p:nvSpPr>
        <p:spPr>
          <a:xfrm rot="0">
            <a:off x="457200" y="1463040"/>
            <a:ext cx="256031" cy="45720"/>
          </a:xfrm>
          <a:prstGeom prst="rect"/>
          <a:solidFill>
            <a:srgbClr val="7C93F0"/>
          </a:solidFill>
          <a:ln w="12700" cmpd="sng" cap="flat">
            <a:solidFill>
              <a:srgbClr val="7C93F0"/>
            </a:solidFill>
            <a:prstDash val="solid"/>
            <a:round/>
          </a:ln>
        </p:spPr>
      </p:sp>
      <p:sp>
        <p:nvSpPr>
          <p:cNvPr id="76" name="矩形"/>
          <p:cNvSpPr>
            <a:spLocks/>
          </p:cNvSpPr>
          <p:nvPr/>
        </p:nvSpPr>
        <p:spPr>
          <a:xfrm rot="0">
            <a:off x="731520" y="1463040"/>
            <a:ext cx="256031" cy="45720"/>
          </a:xfrm>
          <a:prstGeom prst="rect"/>
          <a:solidFill>
            <a:srgbClr val="E8639F"/>
          </a:solidFill>
          <a:ln w="12700" cmpd="sng" cap="flat">
            <a:solidFill>
              <a:srgbClr val="E8639F"/>
            </a:solidFill>
            <a:prstDash val="solid"/>
            <a:round/>
          </a:ln>
        </p:spPr>
      </p:sp>
      <p:sp>
        <p:nvSpPr>
          <p:cNvPr id="77" name="矩形"/>
          <p:cNvSpPr>
            <a:spLocks/>
          </p:cNvSpPr>
          <p:nvPr/>
        </p:nvSpPr>
        <p:spPr>
          <a:xfrm rot="0">
            <a:off x="1005839" y="1463040"/>
            <a:ext cx="256031" cy="45720"/>
          </a:xfrm>
          <a:prstGeom prst="rect"/>
          <a:solidFill>
            <a:srgbClr val="5B3BA8"/>
          </a:solidFill>
          <a:ln w="12700" cmpd="sng" cap="flat">
            <a:solidFill>
              <a:srgbClr val="5B3BA8"/>
            </a:solidFill>
            <a:prstDash val="solid"/>
            <a:round/>
          </a:ln>
        </p:spPr>
      </p:sp>
      <p:sp>
        <p:nvSpPr>
          <p:cNvPr id="78" name="圆角矩形"/>
          <p:cNvSpPr>
            <a:spLocks/>
          </p:cNvSpPr>
          <p:nvPr/>
        </p:nvSpPr>
        <p:spPr>
          <a:xfrm rot="0">
            <a:off x="457200" y="1691639"/>
            <a:ext cx="8229600" cy="2926080"/>
          </a:xfrm>
          <a:prstGeom prst="roundRect">
            <a:avLst>
              <a:gd name="adj" fmla="val 2500"/>
            </a:avLst>
          </a:prstGeom>
          <a:solidFill>
            <a:srgbClr val="FFFFFF"/>
          </a:solidFill>
          <a:ln w="9525" cmpd="sng" cap="flat">
            <a:solidFill>
              <a:srgbClr val="B8BDEB"/>
            </a:solidFill>
            <a:prstDash val="solid"/>
            <a:round/>
          </a:ln>
        </p:spPr>
      </p:sp>
      <p:sp>
        <p:nvSpPr>
          <p:cNvPr id="79" name="矩形"/>
          <p:cNvSpPr>
            <a:spLocks/>
          </p:cNvSpPr>
          <p:nvPr/>
        </p:nvSpPr>
        <p:spPr>
          <a:xfrm rot="0">
            <a:off x="685800" y="1691639"/>
            <a:ext cx="822960" cy="54863"/>
          </a:xfrm>
          <a:prstGeom prst="rect"/>
          <a:solidFill>
            <a:srgbClr val="7C93F0"/>
          </a:solidFill>
          <a:ln w="12700" cmpd="sng" cap="flat">
            <a:solidFill>
              <a:srgbClr val="7C93F0"/>
            </a:solidFill>
            <a:prstDash val="solid"/>
            <a:round/>
          </a:ln>
        </p:spPr>
      </p:sp>
      <p:sp>
        <p:nvSpPr>
          <p:cNvPr id="80" name="文本框"/>
          <p:cNvSpPr>
            <a:spLocks noGrp="1"/>
          </p:cNvSpPr>
          <p:nvPr>
            <p:ph type="sldNum"/>
          </p:nvPr>
        </p:nvSpPr>
        <p:spPr>
          <a:xfrm rot="0">
            <a:off x="8321040" y="4864608"/>
            <a:ext cx="365759" cy="274319"/>
          </a:xfrm>
          <a:prstGeom prst="rect"/>
          <a:noFill/>
          <a:ln cmpd="sng" cap="flat">
            <a:noFill/>
            <a:prstDash val="solid"/>
            <a:miter/>
          </a:ln>
        </p:spPr>
        <p:txBody>
          <a:bodyPr vert="horz" wrap="non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900" b="1" i="0" u="none" strike="noStrike" kern="1200" cap="none" spc="0" baseline="0">
                <a:solidFill>
                  <a:srgbClr val="2E1B5B"/>
                </a:solidFill>
                <a:latin typeface="Calibri" pitchFamily="0" charset="0"/>
                <a:ea typeface="等线" pitchFamily="0" charset="0"/>
                <a:cs typeface="Calibri" pitchFamily="0" charset="0"/>
              </a:rPr>
              <a:t>2</a:t>
            </a:fld>
            <a:endParaRPr lang="zh-CN" altLang="en-US" sz="900" b="0" i="0" u="none" strike="noStrike" kern="1200" cap="none" spc="0" baseline="0">
              <a:solidFill>
                <a:srgbClr val="2E1B5B"/>
              </a:solidFill>
              <a:latin typeface="Calibri" pitchFamily="0" charset="0"/>
              <a:ea typeface="等线" pitchFamily="0" charset="0"/>
              <a:cs typeface="Calibri" pitchFamily="0" charset="0"/>
            </a:endParaRPr>
          </a:p>
        </p:txBody>
      </p:sp>
      <p:sp>
        <p:nvSpPr>
          <p:cNvPr id="81" name="矩形"/>
          <p:cNvSpPr>
            <a:spLocks/>
          </p:cNvSpPr>
          <p:nvPr/>
        </p:nvSpPr>
        <p:spPr>
          <a:xfrm rot="0">
            <a:off x="731520" y="1901951"/>
            <a:ext cx="3429000" cy="4381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500" b="1" i="0" u="none" strike="noStrike" kern="1200" cap="none" spc="0" baseline="0">
                <a:solidFill>
                  <a:srgbClr val="2E1B5B"/>
                </a:solidFill>
                <a:latin typeface="Calibri" pitchFamily="0" charset="0"/>
                <a:ea typeface="等线" pitchFamily="0" charset="0"/>
                <a:cs typeface="Calibri" pitchFamily="0" charset="0"/>
              </a:rPr>
              <a:t>Where and when a job runs changes its carbon and its water.</a:t>
            </a:r>
            <a:endParaRPr lang="zh-CN" altLang="en-US" sz="1500" b="1" i="0" u="none" strike="noStrike" kern="1200" cap="none" spc="0" baseline="0">
              <a:solidFill>
                <a:srgbClr val="2E1B5B"/>
              </a:solidFill>
              <a:latin typeface="Calibri" pitchFamily="0" charset="0"/>
              <a:ea typeface="等线" pitchFamily="0" charset="0"/>
              <a:cs typeface="Calibri" pitchFamily="0" charset="0"/>
            </a:endParaRPr>
          </a:p>
        </p:txBody>
      </p:sp>
      <p:sp>
        <p:nvSpPr>
          <p:cNvPr id="82" name="矩形"/>
          <p:cNvSpPr>
            <a:spLocks/>
          </p:cNvSpPr>
          <p:nvPr/>
        </p:nvSpPr>
        <p:spPr>
          <a:xfrm rot="0">
            <a:off x="731520" y="2487167"/>
            <a:ext cx="3429000"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6F7399"/>
                </a:solidFill>
                <a:latin typeface="Calibri" pitchFamily="0" charset="0"/>
                <a:ea typeface="等线" pitchFamily="0" charset="0"/>
                <a:cs typeface="Calibri" pitchFamily="0" charset="0"/>
              </a:rPr>
              <a:t>Many jobs can move: ML training, analytics, video rendering.</a:t>
            </a:r>
            <a:endParaRPr lang="zh-CN" altLang="en-US" sz="1050" b="0" i="0" u="none" strike="noStrike" kern="1200" cap="none" spc="0" baseline="0">
              <a:solidFill>
                <a:srgbClr val="6F7399"/>
              </a:solidFill>
              <a:latin typeface="Calibri" pitchFamily="0" charset="0"/>
              <a:ea typeface="等线" pitchFamily="0" charset="0"/>
              <a:cs typeface="Calibri" pitchFamily="0" charset="0"/>
            </a:endParaRPr>
          </a:p>
        </p:txBody>
      </p:sp>
      <p:sp>
        <p:nvSpPr>
          <p:cNvPr id="83" name="圆角矩形"/>
          <p:cNvSpPr>
            <a:spLocks/>
          </p:cNvSpPr>
          <p:nvPr/>
        </p:nvSpPr>
        <p:spPr>
          <a:xfrm rot="0">
            <a:off x="731520" y="2834640"/>
            <a:ext cx="1645920" cy="1188720"/>
          </a:xfrm>
          <a:prstGeom prst="roundRect">
            <a:avLst>
              <a:gd name="adj" fmla="val 8000"/>
            </a:avLst>
          </a:prstGeom>
          <a:solidFill>
            <a:srgbClr val="EEF0FE"/>
          </a:solidFill>
          <a:ln w="6350" cmpd="sng" cap="flat">
            <a:noFill/>
            <a:prstDash val="solid"/>
            <a:round/>
          </a:ln>
        </p:spPr>
      </p:sp>
      <p:sp>
        <p:nvSpPr>
          <p:cNvPr id="84" name="椭圆"/>
          <p:cNvSpPr>
            <a:spLocks/>
          </p:cNvSpPr>
          <p:nvPr/>
        </p:nvSpPr>
        <p:spPr>
          <a:xfrm rot="0">
            <a:off x="868680" y="2944367"/>
            <a:ext cx="329184" cy="329183"/>
          </a:xfrm>
          <a:prstGeom prst="ellipse"/>
          <a:solidFill>
            <a:srgbClr val="5B3BA8"/>
          </a:solidFill>
          <a:ln w="6350" cmpd="sng" cap="flat">
            <a:noFill/>
            <a:prstDash val="solid"/>
            <a:round/>
          </a:ln>
        </p:spPr>
      </p:sp>
      <p:pic>
        <p:nvPicPr>
          <p:cNvPr id="85" name="图片" descr="leaf_w.png"/>
          <p:cNvPicPr>
            <a:picLocks noChangeAspect="1"/>
          </p:cNvPicPr>
          <p:nvPr/>
        </p:nvPicPr>
        <p:blipFill>
          <a:blip r:embed="rId1" cstate="print"/>
          <a:stretch>
            <a:fillRect/>
          </a:stretch>
        </p:blipFill>
        <p:spPr>
          <a:xfrm rot="0">
            <a:off x="947684" y="3023372"/>
            <a:ext cx="171175" cy="171175"/>
          </a:xfrm>
          <a:prstGeom prst="rect"/>
          <a:noFill/>
          <a:ln w="12700" cmpd="sng" cap="flat">
            <a:noFill/>
            <a:prstDash val="solid"/>
            <a:miter/>
          </a:ln>
        </p:spPr>
      </p:pic>
      <p:sp>
        <p:nvSpPr>
          <p:cNvPr id="86" name="矩形"/>
          <p:cNvSpPr>
            <a:spLocks/>
          </p:cNvSpPr>
          <p:nvPr/>
        </p:nvSpPr>
        <p:spPr>
          <a:xfrm rot="0">
            <a:off x="868680" y="3310127"/>
            <a:ext cx="1417320" cy="2952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000" b="1" i="0" u="none" strike="noStrike" kern="1200" cap="none" spc="0" baseline="0">
                <a:solidFill>
                  <a:srgbClr val="2E1B5B"/>
                </a:solidFill>
                <a:latin typeface="Georgia" pitchFamily="0" charset="0"/>
                <a:ea typeface="等线" pitchFamily="0" charset="0"/>
                <a:cs typeface="Calibri" pitchFamily="0" charset="0"/>
              </a:rPr>
              <a:t>0.710</a:t>
            </a:r>
            <a:endParaRPr lang="zh-CN" altLang="en-US" sz="2000" b="1" i="0" u="none" strike="noStrike" kern="1200" cap="none" spc="0" baseline="0">
              <a:solidFill>
                <a:srgbClr val="2E1B5B"/>
              </a:solidFill>
              <a:latin typeface="Georgia" pitchFamily="0" charset="0"/>
              <a:ea typeface="等线" pitchFamily="0" charset="0"/>
              <a:cs typeface="Calibri" pitchFamily="0" charset="0"/>
            </a:endParaRPr>
          </a:p>
        </p:txBody>
      </p:sp>
      <p:sp>
        <p:nvSpPr>
          <p:cNvPr id="87" name="矩形"/>
          <p:cNvSpPr>
            <a:spLocks/>
          </p:cNvSpPr>
          <p:nvPr/>
        </p:nvSpPr>
        <p:spPr>
          <a:xfrm rot="0">
            <a:off x="868680" y="3639312"/>
            <a:ext cx="1417320" cy="2857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kg CO₂ per kWh on India's grid</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88" name="圆角矩形"/>
          <p:cNvSpPr>
            <a:spLocks/>
          </p:cNvSpPr>
          <p:nvPr/>
        </p:nvSpPr>
        <p:spPr>
          <a:xfrm rot="0">
            <a:off x="2514600" y="2834640"/>
            <a:ext cx="1645920" cy="1188720"/>
          </a:xfrm>
          <a:prstGeom prst="roundRect">
            <a:avLst>
              <a:gd name="adj" fmla="val 8000"/>
            </a:avLst>
          </a:prstGeom>
          <a:solidFill>
            <a:srgbClr val="EEF0FE"/>
          </a:solidFill>
          <a:ln w="6350" cmpd="sng" cap="flat">
            <a:noFill/>
            <a:prstDash val="solid"/>
            <a:round/>
          </a:ln>
        </p:spPr>
      </p:sp>
      <p:sp>
        <p:nvSpPr>
          <p:cNvPr id="89" name="椭圆"/>
          <p:cNvSpPr>
            <a:spLocks/>
          </p:cNvSpPr>
          <p:nvPr/>
        </p:nvSpPr>
        <p:spPr>
          <a:xfrm rot="0">
            <a:off x="2651760" y="2944367"/>
            <a:ext cx="329183" cy="329183"/>
          </a:xfrm>
          <a:prstGeom prst="ellipse"/>
          <a:solidFill>
            <a:srgbClr val="7C93F0"/>
          </a:solidFill>
          <a:ln w="6350" cmpd="sng" cap="flat">
            <a:noFill/>
            <a:prstDash val="solid"/>
            <a:round/>
          </a:ln>
        </p:spPr>
      </p:sp>
      <p:pic>
        <p:nvPicPr>
          <p:cNvPr id="90" name="图片" descr="drop_w.png"/>
          <p:cNvPicPr>
            <a:picLocks noChangeAspect="1"/>
          </p:cNvPicPr>
          <p:nvPr/>
        </p:nvPicPr>
        <p:blipFill>
          <a:blip r:embed="rId2" cstate="print"/>
          <a:stretch>
            <a:fillRect/>
          </a:stretch>
        </p:blipFill>
        <p:spPr>
          <a:xfrm rot="0">
            <a:off x="2730764" y="3023372"/>
            <a:ext cx="171175" cy="171175"/>
          </a:xfrm>
          <a:prstGeom prst="rect"/>
          <a:noFill/>
          <a:ln w="12700" cmpd="sng" cap="flat">
            <a:noFill/>
            <a:prstDash val="solid"/>
            <a:miter/>
          </a:ln>
        </p:spPr>
      </p:pic>
      <p:sp>
        <p:nvSpPr>
          <p:cNvPr id="91" name="矩形"/>
          <p:cNvSpPr>
            <a:spLocks/>
          </p:cNvSpPr>
          <p:nvPr/>
        </p:nvSpPr>
        <p:spPr>
          <a:xfrm rot="0">
            <a:off x="2651760" y="3310127"/>
            <a:ext cx="1417319" cy="2952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000" b="1" i="0" u="none" strike="noStrike" kern="1200" cap="none" spc="0" baseline="0">
                <a:solidFill>
                  <a:srgbClr val="2E1B5B"/>
                </a:solidFill>
                <a:latin typeface="Georgia" pitchFamily="0" charset="0"/>
                <a:ea typeface="等线" pitchFamily="0" charset="0"/>
                <a:cs typeface="Calibri" pitchFamily="0" charset="0"/>
              </a:rPr>
              <a:t>2.6 L</a:t>
            </a:r>
            <a:endParaRPr lang="zh-CN" altLang="en-US" sz="2000" b="1" i="0" u="none" strike="noStrike" kern="1200" cap="none" spc="0" baseline="0">
              <a:solidFill>
                <a:srgbClr val="2E1B5B"/>
              </a:solidFill>
              <a:latin typeface="Georgia" pitchFamily="0" charset="0"/>
              <a:ea typeface="等线" pitchFamily="0" charset="0"/>
              <a:cs typeface="Calibri" pitchFamily="0" charset="0"/>
            </a:endParaRPr>
          </a:p>
        </p:txBody>
      </p:sp>
      <p:sp>
        <p:nvSpPr>
          <p:cNvPr id="92" name="矩形"/>
          <p:cNvSpPr>
            <a:spLocks/>
          </p:cNvSpPr>
          <p:nvPr/>
        </p:nvSpPr>
        <p:spPr>
          <a:xfrm rot="0">
            <a:off x="2651760" y="3639312"/>
            <a:ext cx="1417319" cy="2857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water per kWh at coal plants</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93" name="矩形"/>
          <p:cNvSpPr>
            <a:spLocks/>
          </p:cNvSpPr>
          <p:nvPr/>
        </p:nvSpPr>
        <p:spPr>
          <a:xfrm rot="0">
            <a:off x="731520" y="4160520"/>
            <a:ext cx="3474720" cy="2476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F7399"/>
                </a:solidFill>
                <a:latin typeface="Calibri" pitchFamily="0" charset="0"/>
                <a:ea typeface="等线" pitchFamily="0" charset="0"/>
                <a:cs typeface="Calibri" pitchFamily="0" charset="0"/>
              </a:rPr>
              <a:t>Sources: CEA CO₂ Baseline Database FY 2024-25 · Macknick et al. 2012 (NREL)</a:t>
            </a:r>
            <a:endParaRPr lang="zh-CN" altLang="en-US" sz="900" b="0" i="0" u="none" strike="noStrike" kern="1200" cap="none" spc="0" baseline="0">
              <a:solidFill>
                <a:srgbClr val="6F7399"/>
              </a:solidFill>
              <a:latin typeface="Calibri" pitchFamily="0" charset="0"/>
              <a:ea typeface="等线" pitchFamily="0" charset="0"/>
              <a:cs typeface="Calibri" pitchFamily="0" charset="0"/>
            </a:endParaRPr>
          </a:p>
        </p:txBody>
      </p:sp>
      <p:sp>
        <p:nvSpPr>
          <p:cNvPr id="94" name="矩形"/>
          <p:cNvSpPr>
            <a:spLocks/>
          </p:cNvSpPr>
          <p:nvPr/>
        </p:nvSpPr>
        <p:spPr>
          <a:xfrm rot="0">
            <a:off x="4526280" y="1901951"/>
            <a:ext cx="2743200" cy="1238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1" i="0" u="none" strike="noStrike" kern="1200" cap="none" spc="100" baseline="0">
                <a:solidFill>
                  <a:srgbClr val="5B3BA8"/>
                </a:solidFill>
                <a:latin typeface="Calibri" pitchFamily="0" charset="0"/>
                <a:ea typeface="等线" pitchFamily="0" charset="0"/>
                <a:cs typeface="Calibri" pitchFamily="0" charset="0"/>
              </a:rPr>
              <a:t>THE CONFLICT</a:t>
            </a:r>
            <a:endParaRPr lang="zh-CN" altLang="en-US" sz="900" b="1" i="0" u="none" strike="noStrike" kern="1200" cap="none" spc="100" baseline="0">
              <a:solidFill>
                <a:srgbClr val="5B3BA8"/>
              </a:solidFill>
              <a:latin typeface="Calibri" pitchFamily="0" charset="0"/>
              <a:ea typeface="等线" pitchFamily="0" charset="0"/>
              <a:cs typeface="Calibri" pitchFamily="0" charset="0"/>
            </a:endParaRPr>
          </a:p>
        </p:txBody>
      </p:sp>
      <p:sp>
        <p:nvSpPr>
          <p:cNvPr id="95" name="圆角矩形"/>
          <p:cNvSpPr>
            <a:spLocks/>
          </p:cNvSpPr>
          <p:nvPr/>
        </p:nvSpPr>
        <p:spPr>
          <a:xfrm rot="0">
            <a:off x="4526280" y="2176272"/>
            <a:ext cx="1920239" cy="1481328"/>
          </a:xfrm>
          <a:prstGeom prst="roundRect">
            <a:avLst>
              <a:gd name="adj" fmla="val 8000"/>
            </a:avLst>
          </a:prstGeom>
          <a:solidFill>
            <a:srgbClr val="FFFFFF"/>
          </a:solidFill>
          <a:ln w="9525" cmpd="sng" cap="flat">
            <a:solidFill>
              <a:srgbClr val="B8BDEB"/>
            </a:solidFill>
            <a:prstDash val="solid"/>
            <a:round/>
          </a:ln>
        </p:spPr>
      </p:sp>
      <p:sp>
        <p:nvSpPr>
          <p:cNvPr id="96" name="椭圆"/>
          <p:cNvSpPr>
            <a:spLocks/>
          </p:cNvSpPr>
          <p:nvPr/>
        </p:nvSpPr>
        <p:spPr>
          <a:xfrm rot="0">
            <a:off x="4663440" y="2304288"/>
            <a:ext cx="365760" cy="365759"/>
          </a:xfrm>
          <a:prstGeom prst="ellipse"/>
          <a:solidFill>
            <a:srgbClr val="2E1B5B"/>
          </a:solidFill>
          <a:ln w="6350" cmpd="sng" cap="flat">
            <a:noFill/>
            <a:prstDash val="solid"/>
            <a:round/>
          </a:ln>
        </p:spPr>
      </p:sp>
      <p:pic>
        <p:nvPicPr>
          <p:cNvPr id="97" name="图片" descr="drop_w.png"/>
          <p:cNvPicPr>
            <a:picLocks noChangeAspect="1"/>
          </p:cNvPicPr>
          <p:nvPr/>
        </p:nvPicPr>
        <p:blipFill>
          <a:blip r:embed="rId3" cstate="print"/>
          <a:stretch>
            <a:fillRect/>
          </a:stretch>
        </p:blipFill>
        <p:spPr>
          <a:xfrm rot="0">
            <a:off x="4751222" y="2392070"/>
            <a:ext cx="190194" cy="190194"/>
          </a:xfrm>
          <a:prstGeom prst="rect"/>
          <a:noFill/>
          <a:ln w="12700" cmpd="sng" cap="flat">
            <a:noFill/>
            <a:prstDash val="solid"/>
            <a:miter/>
          </a:ln>
        </p:spPr>
      </p:pic>
      <p:sp>
        <p:nvSpPr>
          <p:cNvPr id="98" name="矩形"/>
          <p:cNvSpPr>
            <a:spLocks/>
          </p:cNvSpPr>
          <p:nvPr/>
        </p:nvSpPr>
        <p:spPr>
          <a:xfrm rot="0">
            <a:off x="5120640" y="2286000"/>
            <a:ext cx="1280159" cy="3333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00" b="1" i="0" u="none" strike="noStrike" kern="1200" cap="none" spc="0" baseline="0">
                <a:solidFill>
                  <a:srgbClr val="2E1B5B"/>
                </a:solidFill>
                <a:latin typeface="Calibri" pitchFamily="0" charset="0"/>
                <a:ea typeface="等线" pitchFamily="0" charset="0"/>
                <a:cs typeface="Calibri" pitchFamily="0" charset="0"/>
              </a:rPr>
              <a:t>Site A</a:t>
            </a:r>
            <a:endParaRPr lang="en-US" altLang="zh-CN" sz="1300" b="1" i="0" u="none" strike="noStrike" kern="1200" cap="none" spc="0" baseline="0">
              <a:solidFill>
                <a:srgbClr val="2E1B5B"/>
              </a:solidFill>
              <a:latin typeface="Calibri" pitchFamily="0" charset="0"/>
              <a:ea typeface="等线" pitchFamily="0" charset="0"/>
              <a:cs typeface="Calibri" pitchFamily="0" charset="0"/>
            </a:endParaRPr>
          </a:p>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Evaporative cooling</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99" name="矩形"/>
          <p:cNvSpPr>
            <a:spLocks/>
          </p:cNvSpPr>
          <p:nvPr/>
        </p:nvSpPr>
        <p:spPr>
          <a:xfrm rot="0">
            <a:off x="4681728" y="2907792"/>
            <a:ext cx="822959"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Electricity</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p:txBody>
      </p:sp>
      <p:sp>
        <p:nvSpPr>
          <p:cNvPr id="100" name="矩形"/>
          <p:cNvSpPr>
            <a:spLocks/>
          </p:cNvSpPr>
          <p:nvPr/>
        </p:nvSpPr>
        <p:spPr>
          <a:xfrm rot="0">
            <a:off x="5394960" y="2907792"/>
            <a:ext cx="960119" cy="161925"/>
          </a:xfrm>
          <a:prstGeom prst="rect"/>
          <a:noFill/>
          <a:ln w="12700" cmpd="sng" cap="flat">
            <a:noFill/>
            <a:prstDash val="solid"/>
            <a:miter/>
          </a:ln>
        </p:spPr>
        <p:txBody>
          <a:bodyPr vert="horz" wrap="square" lIns="0" tIns="0" rIns="0" bIns="0" anchor="t" anchorCtr="0">
            <a:prstTxWarp prst="textNoShape"/>
            <a:spAutoFit/>
          </a:bodyPr>
          <a:lstStyle/>
          <a:p>
            <a:pPr marL="0" indent="0" algn="r">
              <a:lnSpc>
                <a:spcPct val="100000"/>
              </a:lnSpc>
              <a:spcBef>
                <a:spcPts val="0"/>
              </a:spcBef>
              <a:spcAft>
                <a:spcPts val="0"/>
              </a:spcAft>
              <a:buNone/>
            </a:pPr>
            <a:r>
              <a:rPr lang="en-US" altLang="zh-CN" sz="1100" b="1" i="0" u="none" strike="noStrike" kern="1200" cap="none" spc="0" baseline="0">
                <a:solidFill>
                  <a:srgbClr val="5B3BA8"/>
                </a:solidFill>
                <a:latin typeface="Calibri" pitchFamily="0" charset="0"/>
                <a:ea typeface="等线" pitchFamily="0" charset="0"/>
                <a:cs typeface="Calibri" pitchFamily="0" charset="0"/>
              </a:rPr>
              <a:t>▼ less</a:t>
            </a:r>
            <a:endParaRPr lang="zh-CN" altLang="en-US" sz="1100" b="1" i="0" u="none" strike="noStrike" kern="1200" cap="none" spc="0" baseline="0">
              <a:solidFill>
                <a:srgbClr val="5B3BA8"/>
              </a:solidFill>
              <a:latin typeface="Calibri" pitchFamily="0" charset="0"/>
              <a:ea typeface="等线" pitchFamily="0" charset="0"/>
              <a:cs typeface="Calibri" pitchFamily="0" charset="0"/>
            </a:endParaRPr>
          </a:p>
        </p:txBody>
      </p:sp>
      <p:sp>
        <p:nvSpPr>
          <p:cNvPr id="101" name="矩形"/>
          <p:cNvSpPr>
            <a:spLocks/>
          </p:cNvSpPr>
          <p:nvPr/>
        </p:nvSpPr>
        <p:spPr>
          <a:xfrm rot="0">
            <a:off x="4681728" y="3236975"/>
            <a:ext cx="822959" cy="1619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Water</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p:txBody>
      </p:sp>
      <p:sp>
        <p:nvSpPr>
          <p:cNvPr id="102" name="矩形"/>
          <p:cNvSpPr>
            <a:spLocks/>
          </p:cNvSpPr>
          <p:nvPr/>
        </p:nvSpPr>
        <p:spPr>
          <a:xfrm rot="0">
            <a:off x="5394960" y="3236975"/>
            <a:ext cx="960119" cy="161924"/>
          </a:xfrm>
          <a:prstGeom prst="rect"/>
          <a:noFill/>
          <a:ln w="12700" cmpd="sng" cap="flat">
            <a:noFill/>
            <a:prstDash val="solid"/>
            <a:miter/>
          </a:ln>
        </p:spPr>
        <p:txBody>
          <a:bodyPr vert="horz" wrap="square" lIns="0" tIns="0" rIns="0" bIns="0" anchor="t" anchorCtr="0">
            <a:prstTxWarp prst="textNoShape"/>
            <a:spAutoFit/>
          </a:bodyPr>
          <a:lstStyle/>
          <a:p>
            <a:pPr marL="0" indent="0" algn="r">
              <a:lnSpc>
                <a:spcPct val="100000"/>
              </a:lnSpc>
              <a:spcBef>
                <a:spcPts val="0"/>
              </a:spcBef>
              <a:spcAft>
                <a:spcPts val="0"/>
              </a:spcAft>
              <a:buNone/>
            </a:pPr>
            <a:r>
              <a:rPr lang="en-US" altLang="zh-CN" sz="1100" b="1" i="0" u="none" strike="noStrike" kern="1200" cap="none" spc="0" baseline="0">
                <a:solidFill>
                  <a:srgbClr val="E8639F"/>
                </a:solidFill>
                <a:latin typeface="Calibri" pitchFamily="0" charset="0"/>
                <a:ea typeface="等线" pitchFamily="0" charset="0"/>
                <a:cs typeface="Calibri" pitchFamily="0" charset="0"/>
              </a:rPr>
              <a:t>▲ more</a:t>
            </a:r>
            <a:endParaRPr lang="zh-CN" altLang="en-US" sz="1100" b="1" i="0" u="none" strike="noStrike" kern="1200" cap="none" spc="0" baseline="0">
              <a:solidFill>
                <a:srgbClr val="E8639F"/>
              </a:solidFill>
              <a:latin typeface="Calibri" pitchFamily="0" charset="0"/>
              <a:ea typeface="等线" pitchFamily="0" charset="0"/>
              <a:cs typeface="Calibri" pitchFamily="0" charset="0"/>
            </a:endParaRPr>
          </a:p>
        </p:txBody>
      </p:sp>
      <p:sp>
        <p:nvSpPr>
          <p:cNvPr id="103" name="圆角矩形"/>
          <p:cNvSpPr>
            <a:spLocks/>
          </p:cNvSpPr>
          <p:nvPr/>
        </p:nvSpPr>
        <p:spPr>
          <a:xfrm rot="0">
            <a:off x="6583680" y="2176272"/>
            <a:ext cx="1920240" cy="1481328"/>
          </a:xfrm>
          <a:prstGeom prst="roundRect">
            <a:avLst>
              <a:gd name="adj" fmla="val 8000"/>
            </a:avLst>
          </a:prstGeom>
          <a:solidFill>
            <a:srgbClr val="FFFFFF"/>
          </a:solidFill>
          <a:ln w="9525" cmpd="sng" cap="flat">
            <a:solidFill>
              <a:srgbClr val="B8BDEB"/>
            </a:solidFill>
            <a:prstDash val="solid"/>
            <a:round/>
          </a:ln>
        </p:spPr>
      </p:sp>
      <p:sp>
        <p:nvSpPr>
          <p:cNvPr id="104" name="椭圆"/>
          <p:cNvSpPr>
            <a:spLocks/>
          </p:cNvSpPr>
          <p:nvPr/>
        </p:nvSpPr>
        <p:spPr>
          <a:xfrm rot="0">
            <a:off x="6720839" y="2304288"/>
            <a:ext cx="365759" cy="365759"/>
          </a:xfrm>
          <a:prstGeom prst="ellipse"/>
          <a:solidFill>
            <a:srgbClr val="2E1B5B"/>
          </a:solidFill>
          <a:ln w="6350" cmpd="sng" cap="flat">
            <a:noFill/>
            <a:prstDash val="solid"/>
            <a:round/>
          </a:ln>
        </p:spPr>
      </p:sp>
      <p:pic>
        <p:nvPicPr>
          <p:cNvPr id="105" name="图片" descr="server_w.png"/>
          <p:cNvPicPr>
            <a:picLocks noChangeAspect="1"/>
          </p:cNvPicPr>
          <p:nvPr/>
        </p:nvPicPr>
        <p:blipFill>
          <a:blip r:embed="rId4" cstate="print"/>
          <a:stretch>
            <a:fillRect/>
          </a:stretch>
        </p:blipFill>
        <p:spPr>
          <a:xfrm rot="0">
            <a:off x="6808622" y="2392070"/>
            <a:ext cx="190194" cy="190194"/>
          </a:xfrm>
          <a:prstGeom prst="rect"/>
          <a:noFill/>
          <a:ln w="12700" cmpd="sng" cap="flat">
            <a:noFill/>
            <a:prstDash val="solid"/>
            <a:miter/>
          </a:ln>
        </p:spPr>
      </p:pic>
      <p:sp>
        <p:nvSpPr>
          <p:cNvPr id="106" name="矩形"/>
          <p:cNvSpPr>
            <a:spLocks/>
          </p:cNvSpPr>
          <p:nvPr/>
        </p:nvSpPr>
        <p:spPr>
          <a:xfrm rot="0">
            <a:off x="7178040" y="2286000"/>
            <a:ext cx="1280159" cy="3333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00" b="1" i="0" u="none" strike="noStrike" kern="1200" cap="none" spc="0" baseline="0">
                <a:solidFill>
                  <a:srgbClr val="2E1B5B"/>
                </a:solidFill>
                <a:latin typeface="Calibri" pitchFamily="0" charset="0"/>
                <a:ea typeface="等线" pitchFamily="0" charset="0"/>
                <a:cs typeface="Calibri" pitchFamily="0" charset="0"/>
              </a:rPr>
              <a:t>Site B</a:t>
            </a:r>
            <a:endParaRPr lang="en-US" altLang="zh-CN" sz="1300" b="1" i="0" u="none" strike="noStrike" kern="1200" cap="none" spc="0" baseline="0">
              <a:solidFill>
                <a:srgbClr val="2E1B5B"/>
              </a:solidFill>
              <a:latin typeface="Calibri" pitchFamily="0" charset="0"/>
              <a:ea typeface="等线" pitchFamily="0" charset="0"/>
              <a:cs typeface="Calibri" pitchFamily="0" charset="0"/>
            </a:endParaRPr>
          </a:p>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Air-cooled chillers</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107" name="矩形"/>
          <p:cNvSpPr>
            <a:spLocks/>
          </p:cNvSpPr>
          <p:nvPr/>
        </p:nvSpPr>
        <p:spPr>
          <a:xfrm rot="0">
            <a:off x="6739128" y="2907792"/>
            <a:ext cx="822959"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Electricity</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p:txBody>
      </p:sp>
      <p:sp>
        <p:nvSpPr>
          <p:cNvPr id="108" name="矩形"/>
          <p:cNvSpPr>
            <a:spLocks/>
          </p:cNvSpPr>
          <p:nvPr/>
        </p:nvSpPr>
        <p:spPr>
          <a:xfrm rot="0">
            <a:off x="7452360" y="2907792"/>
            <a:ext cx="960119" cy="161925"/>
          </a:xfrm>
          <a:prstGeom prst="rect"/>
          <a:noFill/>
          <a:ln w="12700" cmpd="sng" cap="flat">
            <a:noFill/>
            <a:prstDash val="solid"/>
            <a:miter/>
          </a:ln>
        </p:spPr>
        <p:txBody>
          <a:bodyPr vert="horz" wrap="square" lIns="0" tIns="0" rIns="0" bIns="0" anchor="t" anchorCtr="0">
            <a:prstTxWarp prst="textNoShape"/>
            <a:spAutoFit/>
          </a:bodyPr>
          <a:lstStyle/>
          <a:p>
            <a:pPr marL="0" indent="0" algn="r">
              <a:lnSpc>
                <a:spcPct val="100000"/>
              </a:lnSpc>
              <a:spcBef>
                <a:spcPts val="0"/>
              </a:spcBef>
              <a:spcAft>
                <a:spcPts val="0"/>
              </a:spcAft>
              <a:buNone/>
            </a:pPr>
            <a:r>
              <a:rPr lang="en-US" altLang="zh-CN" sz="1100" b="1" i="0" u="none" strike="noStrike" kern="1200" cap="none" spc="0" baseline="0">
                <a:solidFill>
                  <a:srgbClr val="E8639F"/>
                </a:solidFill>
                <a:latin typeface="Calibri" pitchFamily="0" charset="0"/>
                <a:ea typeface="等线" pitchFamily="0" charset="0"/>
                <a:cs typeface="Calibri" pitchFamily="0" charset="0"/>
              </a:rPr>
              <a:t>▲ more</a:t>
            </a:r>
            <a:endParaRPr lang="zh-CN" altLang="en-US" sz="1100" b="1" i="0" u="none" strike="noStrike" kern="1200" cap="none" spc="0" baseline="0">
              <a:solidFill>
                <a:srgbClr val="E8639F"/>
              </a:solidFill>
              <a:latin typeface="Calibri" pitchFamily="0" charset="0"/>
              <a:ea typeface="等线" pitchFamily="0" charset="0"/>
              <a:cs typeface="Calibri" pitchFamily="0" charset="0"/>
            </a:endParaRPr>
          </a:p>
        </p:txBody>
      </p:sp>
      <p:sp>
        <p:nvSpPr>
          <p:cNvPr id="109" name="矩形"/>
          <p:cNvSpPr>
            <a:spLocks/>
          </p:cNvSpPr>
          <p:nvPr/>
        </p:nvSpPr>
        <p:spPr>
          <a:xfrm rot="0">
            <a:off x="6739128" y="3236975"/>
            <a:ext cx="822959" cy="1619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Water</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p:txBody>
      </p:sp>
      <p:sp>
        <p:nvSpPr>
          <p:cNvPr id="110" name="矩形"/>
          <p:cNvSpPr>
            <a:spLocks/>
          </p:cNvSpPr>
          <p:nvPr/>
        </p:nvSpPr>
        <p:spPr>
          <a:xfrm rot="0">
            <a:off x="7452360" y="3236975"/>
            <a:ext cx="960119" cy="161924"/>
          </a:xfrm>
          <a:prstGeom prst="rect"/>
          <a:noFill/>
          <a:ln w="12700" cmpd="sng" cap="flat">
            <a:noFill/>
            <a:prstDash val="solid"/>
            <a:miter/>
          </a:ln>
        </p:spPr>
        <p:txBody>
          <a:bodyPr vert="horz" wrap="square" lIns="0" tIns="0" rIns="0" bIns="0" anchor="t" anchorCtr="0">
            <a:prstTxWarp prst="textNoShape"/>
            <a:spAutoFit/>
          </a:bodyPr>
          <a:lstStyle/>
          <a:p>
            <a:pPr marL="0" indent="0" algn="r">
              <a:lnSpc>
                <a:spcPct val="100000"/>
              </a:lnSpc>
              <a:spcBef>
                <a:spcPts val="0"/>
              </a:spcBef>
              <a:spcAft>
                <a:spcPts val="0"/>
              </a:spcAft>
              <a:buNone/>
            </a:pPr>
            <a:r>
              <a:rPr lang="en-US" altLang="zh-CN" sz="1100" b="1" i="0" u="none" strike="noStrike" kern="1200" cap="none" spc="0" baseline="0">
                <a:solidFill>
                  <a:srgbClr val="5B3BA8"/>
                </a:solidFill>
                <a:latin typeface="Calibri" pitchFamily="0" charset="0"/>
                <a:ea typeface="等线" pitchFamily="0" charset="0"/>
                <a:cs typeface="Calibri" pitchFamily="0" charset="0"/>
              </a:rPr>
              <a:t>▼ almost none</a:t>
            </a:r>
            <a:endParaRPr lang="zh-CN" altLang="en-US" sz="1100" b="1" i="0" u="none" strike="noStrike" kern="1200" cap="none" spc="0" baseline="0">
              <a:solidFill>
                <a:srgbClr val="5B3BA8"/>
              </a:solidFill>
              <a:latin typeface="Calibri" pitchFamily="0" charset="0"/>
              <a:ea typeface="等线" pitchFamily="0" charset="0"/>
              <a:cs typeface="Calibri" pitchFamily="0" charset="0"/>
            </a:endParaRPr>
          </a:p>
        </p:txBody>
      </p:sp>
      <p:sp>
        <p:nvSpPr>
          <p:cNvPr id="111" name="圆角矩形"/>
          <p:cNvSpPr>
            <a:spLocks/>
          </p:cNvSpPr>
          <p:nvPr/>
        </p:nvSpPr>
        <p:spPr>
          <a:xfrm rot="0">
            <a:off x="4526280" y="3840480"/>
            <a:ext cx="3977638" cy="475487"/>
          </a:xfrm>
          <a:prstGeom prst="roundRect">
            <a:avLst>
              <a:gd name="adj" fmla="val 50000"/>
            </a:avLst>
          </a:prstGeom>
          <a:solidFill>
            <a:srgbClr val="2E1B5B"/>
          </a:solidFill>
          <a:ln w="6350" cmpd="sng" cap="flat">
            <a:noFill/>
            <a:prstDash val="solid"/>
            <a:round/>
          </a:ln>
        </p:spPr>
      </p:sp>
      <p:sp>
        <p:nvSpPr>
          <p:cNvPr id="112" name="矩形"/>
          <p:cNvSpPr>
            <a:spLocks/>
          </p:cNvSpPr>
          <p:nvPr/>
        </p:nvSpPr>
        <p:spPr>
          <a:xfrm rot="0">
            <a:off x="4617720" y="3987736"/>
            <a:ext cx="3794760" cy="180974"/>
          </a:xfrm>
          <a:prstGeom prst="rect"/>
          <a:noFill/>
          <a:ln w="12700" cmpd="sng" cap="flat">
            <a:noFill/>
            <a:prstDash val="solid"/>
            <a:miter/>
          </a:ln>
        </p:spPr>
        <p:txBody>
          <a:bodyPr vert="horz" wrap="square" lIns="0" tIns="0" rIns="0" bIns="0" anchor="ctr" anchorCtr="0">
            <a:prstTxWarp prst="textNoShape"/>
            <a:spAutoFit/>
          </a:bodyPr>
          <a:lstStyle/>
          <a:p>
            <a:pPr marL="0" indent="0" algn="ctr">
              <a:lnSpc>
                <a:spcPct val="100000"/>
              </a:lnSpc>
              <a:spcBef>
                <a:spcPts val="0"/>
              </a:spcBef>
              <a:spcAft>
                <a:spcPts val="0"/>
              </a:spcAft>
              <a:buNone/>
            </a:pPr>
            <a:r>
              <a:rPr lang="en-US" altLang="zh-CN" sz="1200" b="1" i="0" u="none" strike="noStrike" kern="1200" cap="none" spc="0" baseline="0">
                <a:solidFill>
                  <a:srgbClr val="FFFFFF"/>
                </a:solidFill>
                <a:latin typeface="Calibri" pitchFamily="0" charset="0"/>
                <a:ea typeface="等线" pitchFamily="0" charset="0"/>
                <a:cs typeface="Calibri" pitchFamily="0" charset="0"/>
              </a:rPr>
              <a:t>4 jobs × 2 sites × 2 time slots = 256 possible plans</a:t>
            </a:r>
            <a:endParaRPr lang="zh-CN" altLang="en-US" sz="1200" b="1" i="0" u="none" strike="noStrike" kern="1200" cap="none" spc="0" baseline="0">
              <a:solidFill>
                <a:srgbClr val="FFFFFF"/>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320744301"/>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bg>
      <p:bgPr>
        <a:solidFill>
          <a:srgbClr val="DDE2FC"/>
        </a:solidFill>
      </p:bgPr>
    </p:bg>
    <p:spTree>
      <p:nvGrpSpPr>
        <p:cNvPr id="1" name=""/>
        <p:cNvGrpSpPr/>
        <p:nvPr/>
      </p:nvGrpSpPr>
      <p:grpSpPr>
        <a:xfrm>
          <a:off x="0" y="0"/>
          <a:ext cx="0" cy="0"/>
          <a:chOff x="0" y="0"/>
          <a:chExt cx="0" cy="0"/>
        </a:xfrm>
      </p:grpSpPr>
      <p:sp>
        <p:nvSpPr>
          <p:cNvPr id="115" name="文本框"/>
          <p:cNvSpPr>
            <a:spLocks noGrp="1"/>
          </p:cNvSpPr>
          <p:nvPr>
            <p:ph type="title"/>
          </p:nvPr>
        </p:nvSpPr>
        <p:spPr>
          <a:xfrm rot="0">
            <a:off x="457200" y="841248"/>
            <a:ext cx="630936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600" b="1" i="0" u="none" strike="noStrike" kern="1200" cap="none" spc="0" baseline="0">
                <a:solidFill>
                  <a:srgbClr val="2E1B5B"/>
                </a:solidFill>
                <a:latin typeface="Georgia" pitchFamily="0" charset="0"/>
                <a:ea typeface="Georgia" pitchFamily="0" charset="0"/>
                <a:cs typeface="Georgia" pitchFamily="0" charset="0"/>
              </a:rPr>
              <a:t>Objectives &amp; Novelty</a:t>
            </a:r>
            <a:endParaRPr lang="zh-CN" altLang="en-US" sz="2600" b="1" i="0" u="none" strike="noStrike" kern="1200" cap="none" spc="0" baseline="0">
              <a:solidFill>
                <a:srgbClr val="2E1B5B"/>
              </a:solidFill>
              <a:latin typeface="Georgia" pitchFamily="0" charset="0"/>
              <a:ea typeface="Georgia" pitchFamily="0" charset="0"/>
              <a:cs typeface="Georgia" pitchFamily="0" charset="0"/>
            </a:endParaRPr>
          </a:p>
        </p:txBody>
      </p:sp>
      <p:sp>
        <p:nvSpPr>
          <p:cNvPr id="116" name="矩形"/>
          <p:cNvSpPr>
            <a:spLocks/>
          </p:cNvSpPr>
          <p:nvPr/>
        </p:nvSpPr>
        <p:spPr>
          <a:xfrm rot="0">
            <a:off x="457200" y="1463040"/>
            <a:ext cx="256031" cy="45720"/>
          </a:xfrm>
          <a:prstGeom prst="rect"/>
          <a:solidFill>
            <a:srgbClr val="7C93F0"/>
          </a:solidFill>
          <a:ln w="12700" cmpd="sng" cap="flat">
            <a:solidFill>
              <a:srgbClr val="7C93F0"/>
            </a:solidFill>
            <a:prstDash val="solid"/>
            <a:round/>
          </a:ln>
        </p:spPr>
      </p:sp>
      <p:sp>
        <p:nvSpPr>
          <p:cNvPr id="117" name="矩形"/>
          <p:cNvSpPr>
            <a:spLocks/>
          </p:cNvSpPr>
          <p:nvPr/>
        </p:nvSpPr>
        <p:spPr>
          <a:xfrm rot="0">
            <a:off x="731520" y="1463040"/>
            <a:ext cx="256031" cy="45720"/>
          </a:xfrm>
          <a:prstGeom prst="rect"/>
          <a:solidFill>
            <a:srgbClr val="E8639F"/>
          </a:solidFill>
          <a:ln w="12700" cmpd="sng" cap="flat">
            <a:solidFill>
              <a:srgbClr val="E8639F"/>
            </a:solidFill>
            <a:prstDash val="solid"/>
            <a:round/>
          </a:ln>
        </p:spPr>
      </p:sp>
      <p:sp>
        <p:nvSpPr>
          <p:cNvPr id="118" name="矩形"/>
          <p:cNvSpPr>
            <a:spLocks/>
          </p:cNvSpPr>
          <p:nvPr/>
        </p:nvSpPr>
        <p:spPr>
          <a:xfrm rot="0">
            <a:off x="1005839" y="1463040"/>
            <a:ext cx="256031" cy="45720"/>
          </a:xfrm>
          <a:prstGeom prst="rect"/>
          <a:solidFill>
            <a:srgbClr val="5B3BA8"/>
          </a:solidFill>
          <a:ln w="12700" cmpd="sng" cap="flat">
            <a:solidFill>
              <a:srgbClr val="5B3BA8"/>
            </a:solidFill>
            <a:prstDash val="solid"/>
            <a:round/>
          </a:ln>
        </p:spPr>
      </p:sp>
      <p:sp>
        <p:nvSpPr>
          <p:cNvPr id="119" name="圆角矩形"/>
          <p:cNvSpPr>
            <a:spLocks/>
          </p:cNvSpPr>
          <p:nvPr/>
        </p:nvSpPr>
        <p:spPr>
          <a:xfrm rot="0">
            <a:off x="457200" y="1691639"/>
            <a:ext cx="8229600" cy="2926080"/>
          </a:xfrm>
          <a:prstGeom prst="roundRect">
            <a:avLst>
              <a:gd name="adj" fmla="val 2500"/>
            </a:avLst>
          </a:prstGeom>
          <a:solidFill>
            <a:srgbClr val="FFFFFF"/>
          </a:solidFill>
          <a:ln w="9525" cmpd="sng" cap="flat">
            <a:solidFill>
              <a:srgbClr val="B8BDEB"/>
            </a:solidFill>
            <a:prstDash val="solid"/>
            <a:round/>
          </a:ln>
        </p:spPr>
      </p:sp>
      <p:sp>
        <p:nvSpPr>
          <p:cNvPr id="120" name="矩形"/>
          <p:cNvSpPr>
            <a:spLocks/>
          </p:cNvSpPr>
          <p:nvPr/>
        </p:nvSpPr>
        <p:spPr>
          <a:xfrm rot="0">
            <a:off x="685800" y="1691639"/>
            <a:ext cx="822960" cy="54863"/>
          </a:xfrm>
          <a:prstGeom prst="rect"/>
          <a:solidFill>
            <a:srgbClr val="E8639F"/>
          </a:solidFill>
          <a:ln w="12700" cmpd="sng" cap="flat">
            <a:solidFill>
              <a:srgbClr val="E8639F"/>
            </a:solidFill>
            <a:prstDash val="solid"/>
            <a:round/>
          </a:ln>
        </p:spPr>
      </p:sp>
      <p:sp>
        <p:nvSpPr>
          <p:cNvPr id="121" name="文本框"/>
          <p:cNvSpPr>
            <a:spLocks noGrp="1"/>
          </p:cNvSpPr>
          <p:nvPr>
            <p:ph type="sldNum"/>
          </p:nvPr>
        </p:nvSpPr>
        <p:spPr>
          <a:xfrm rot="0">
            <a:off x="8321040" y="4864608"/>
            <a:ext cx="365759" cy="274319"/>
          </a:xfrm>
          <a:prstGeom prst="rect"/>
          <a:noFill/>
          <a:ln cmpd="sng" cap="flat">
            <a:noFill/>
            <a:prstDash val="solid"/>
            <a:miter/>
          </a:ln>
        </p:spPr>
        <p:txBody>
          <a:bodyPr vert="horz" wrap="non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900" b="1" i="0" u="none" strike="noStrike" kern="1200" cap="none" spc="0" baseline="0">
                <a:solidFill>
                  <a:srgbClr val="2E1B5B"/>
                </a:solidFill>
                <a:latin typeface="Calibri" pitchFamily="0" charset="0"/>
                <a:ea typeface="等线" pitchFamily="0" charset="0"/>
                <a:cs typeface="Calibri" pitchFamily="0" charset="0"/>
              </a:rPr>
              <a:t>3</a:t>
            </a:fld>
            <a:endParaRPr lang="zh-CN" altLang="en-US" sz="900" b="0" i="0" u="none" strike="noStrike" kern="1200" cap="none" spc="0" baseline="0">
              <a:solidFill>
                <a:srgbClr val="2E1B5B"/>
              </a:solidFill>
              <a:latin typeface="Calibri" pitchFamily="0" charset="0"/>
              <a:ea typeface="等线" pitchFamily="0" charset="0"/>
              <a:cs typeface="Calibri" pitchFamily="0" charset="0"/>
            </a:endParaRPr>
          </a:p>
        </p:txBody>
      </p:sp>
      <p:sp>
        <p:nvSpPr>
          <p:cNvPr id="122" name="矩形"/>
          <p:cNvSpPr>
            <a:spLocks/>
          </p:cNvSpPr>
          <p:nvPr/>
        </p:nvSpPr>
        <p:spPr>
          <a:xfrm rot="0">
            <a:off x="731520" y="1901951"/>
            <a:ext cx="2743200" cy="1238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1" i="0" u="none" strike="noStrike" kern="1200" cap="none" spc="100" baseline="0">
                <a:solidFill>
                  <a:srgbClr val="5B3BA8"/>
                </a:solidFill>
                <a:latin typeface="Calibri" pitchFamily="0" charset="0"/>
                <a:ea typeface="等线" pitchFamily="0" charset="0"/>
                <a:cs typeface="Calibri" pitchFamily="0" charset="0"/>
              </a:rPr>
              <a:t>OBJECTIVES</a:t>
            </a:r>
            <a:endParaRPr lang="zh-CN" altLang="en-US" sz="900" b="1" i="0" u="none" strike="noStrike" kern="1200" cap="none" spc="100" baseline="0">
              <a:solidFill>
                <a:srgbClr val="5B3BA8"/>
              </a:solidFill>
              <a:latin typeface="Calibri" pitchFamily="0" charset="0"/>
              <a:ea typeface="等线" pitchFamily="0" charset="0"/>
              <a:cs typeface="Calibri" pitchFamily="0" charset="0"/>
            </a:endParaRPr>
          </a:p>
        </p:txBody>
      </p:sp>
      <p:sp>
        <p:nvSpPr>
          <p:cNvPr id="123" name="椭圆"/>
          <p:cNvSpPr>
            <a:spLocks/>
          </p:cNvSpPr>
          <p:nvPr/>
        </p:nvSpPr>
        <p:spPr>
          <a:xfrm rot="0">
            <a:off x="731520" y="2212848"/>
            <a:ext cx="438912" cy="438911"/>
          </a:xfrm>
          <a:prstGeom prst="ellipse"/>
          <a:solidFill>
            <a:srgbClr val="5B3BA8"/>
          </a:solidFill>
          <a:ln w="6350" cmpd="sng" cap="flat">
            <a:noFill/>
            <a:prstDash val="solid"/>
            <a:round/>
          </a:ln>
        </p:spPr>
      </p:sp>
      <p:pic>
        <p:nvPicPr>
          <p:cNvPr id="124" name="图片" descr="sliders_w.png"/>
          <p:cNvPicPr>
            <a:picLocks noChangeAspect="1"/>
          </p:cNvPicPr>
          <p:nvPr/>
        </p:nvPicPr>
        <p:blipFill>
          <a:blip r:embed="rId1" cstate="print"/>
          <a:stretch>
            <a:fillRect/>
          </a:stretch>
        </p:blipFill>
        <p:spPr>
          <a:xfrm rot="0">
            <a:off x="836858" y="2318186"/>
            <a:ext cx="228233" cy="228234"/>
          </a:xfrm>
          <a:prstGeom prst="rect"/>
          <a:noFill/>
          <a:ln w="12700" cmpd="sng" cap="flat">
            <a:noFill/>
            <a:prstDash val="solid"/>
            <a:miter/>
          </a:ln>
        </p:spPr>
      </p:pic>
      <p:sp>
        <p:nvSpPr>
          <p:cNvPr id="125" name="矩形"/>
          <p:cNvSpPr>
            <a:spLocks/>
          </p:cNvSpPr>
          <p:nvPr/>
        </p:nvSpPr>
        <p:spPr>
          <a:xfrm rot="0">
            <a:off x="1298448" y="2203704"/>
            <a:ext cx="2926080" cy="1905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00" b="1" i="0" u="none" strike="noStrike" kern="1200" cap="none" spc="0" baseline="0">
                <a:solidFill>
                  <a:srgbClr val="2E1B5B"/>
                </a:solidFill>
                <a:latin typeface="Calibri" pitchFamily="0" charset="0"/>
                <a:ea typeface="等线" pitchFamily="0" charset="0"/>
                <a:cs typeface="Calibri" pitchFamily="0" charset="0"/>
              </a:rPr>
              <a:t>Cut carbon and water together</a:t>
            </a:r>
            <a:endParaRPr lang="zh-CN" altLang="en-US" sz="1300" b="1" i="0" u="none" strike="noStrike" kern="1200" cap="none" spc="0" baseline="0">
              <a:solidFill>
                <a:srgbClr val="2E1B5B"/>
              </a:solidFill>
              <a:latin typeface="Calibri" pitchFamily="0" charset="0"/>
              <a:ea typeface="等线" pitchFamily="0" charset="0"/>
              <a:cs typeface="Calibri" pitchFamily="0" charset="0"/>
            </a:endParaRPr>
          </a:p>
        </p:txBody>
      </p:sp>
      <p:sp>
        <p:nvSpPr>
          <p:cNvPr id="126" name="矩形"/>
          <p:cNvSpPr>
            <a:spLocks/>
          </p:cNvSpPr>
          <p:nvPr/>
        </p:nvSpPr>
        <p:spPr>
          <a:xfrm rot="0">
            <a:off x="1298448" y="2459735"/>
            <a:ext cx="2926080"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6F7399"/>
                </a:solidFill>
                <a:latin typeface="Calibri" pitchFamily="0" charset="0"/>
                <a:ea typeface="等线" pitchFamily="0" charset="0"/>
                <a:cs typeface="Calibri" pitchFamily="0" charset="0"/>
              </a:rPr>
              <a:t>One slider sets which matters more</a:t>
            </a:r>
            <a:endParaRPr lang="zh-CN" altLang="en-US" sz="1050" b="0" i="0" u="none" strike="noStrike" kern="1200" cap="none" spc="0" baseline="0">
              <a:solidFill>
                <a:srgbClr val="6F7399"/>
              </a:solidFill>
              <a:latin typeface="Calibri" pitchFamily="0" charset="0"/>
              <a:ea typeface="等线" pitchFamily="0" charset="0"/>
              <a:cs typeface="Calibri" pitchFamily="0" charset="0"/>
            </a:endParaRPr>
          </a:p>
        </p:txBody>
      </p:sp>
      <p:sp>
        <p:nvSpPr>
          <p:cNvPr id="127" name="椭圆"/>
          <p:cNvSpPr>
            <a:spLocks/>
          </p:cNvSpPr>
          <p:nvPr/>
        </p:nvSpPr>
        <p:spPr>
          <a:xfrm rot="0">
            <a:off x="731520" y="2962656"/>
            <a:ext cx="438912" cy="438911"/>
          </a:xfrm>
          <a:prstGeom prst="ellipse"/>
          <a:solidFill>
            <a:srgbClr val="E8639F"/>
          </a:solidFill>
          <a:ln w="6350" cmpd="sng" cap="flat">
            <a:noFill/>
            <a:prstDash val="solid"/>
            <a:round/>
          </a:ln>
        </p:spPr>
      </p:sp>
      <p:pic>
        <p:nvPicPr>
          <p:cNvPr id="128" name="图片" descr="atom_w.png"/>
          <p:cNvPicPr>
            <a:picLocks noChangeAspect="1"/>
          </p:cNvPicPr>
          <p:nvPr/>
        </p:nvPicPr>
        <p:blipFill>
          <a:blip r:embed="rId2" cstate="print"/>
          <a:stretch>
            <a:fillRect/>
          </a:stretch>
        </p:blipFill>
        <p:spPr>
          <a:xfrm rot="0">
            <a:off x="836858" y="3067993"/>
            <a:ext cx="228233" cy="228234"/>
          </a:xfrm>
          <a:prstGeom prst="rect"/>
          <a:noFill/>
          <a:ln w="12700" cmpd="sng" cap="flat">
            <a:noFill/>
            <a:prstDash val="solid"/>
            <a:miter/>
          </a:ln>
        </p:spPr>
      </p:pic>
      <p:sp>
        <p:nvSpPr>
          <p:cNvPr id="129" name="矩形"/>
          <p:cNvSpPr>
            <a:spLocks/>
          </p:cNvSpPr>
          <p:nvPr/>
        </p:nvSpPr>
        <p:spPr>
          <a:xfrm rot="0">
            <a:off x="1298448" y="2953512"/>
            <a:ext cx="2926080" cy="1905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00" b="1" i="0" u="none" strike="noStrike" kern="1200" cap="none" spc="0" baseline="0">
                <a:solidFill>
                  <a:srgbClr val="2E1B5B"/>
                </a:solidFill>
                <a:latin typeface="Calibri" pitchFamily="0" charset="0"/>
                <a:ea typeface="等线" pitchFamily="0" charset="0"/>
                <a:cs typeface="Calibri" pitchFamily="0" charset="0"/>
              </a:rPr>
              <a:t>Decide where + when with QAOA</a:t>
            </a:r>
            <a:endParaRPr lang="zh-CN" altLang="en-US" sz="1300" b="1" i="0" u="none" strike="noStrike" kern="1200" cap="none" spc="0" baseline="0">
              <a:solidFill>
                <a:srgbClr val="2E1B5B"/>
              </a:solidFill>
              <a:latin typeface="Calibri" pitchFamily="0" charset="0"/>
              <a:ea typeface="等线" pitchFamily="0" charset="0"/>
              <a:cs typeface="Calibri" pitchFamily="0" charset="0"/>
            </a:endParaRPr>
          </a:p>
        </p:txBody>
      </p:sp>
      <p:sp>
        <p:nvSpPr>
          <p:cNvPr id="130" name="矩形"/>
          <p:cNvSpPr>
            <a:spLocks/>
          </p:cNvSpPr>
          <p:nvPr/>
        </p:nvSpPr>
        <p:spPr>
          <a:xfrm rot="0">
            <a:off x="1298448" y="3209543"/>
            <a:ext cx="2926080"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6F7399"/>
                </a:solidFill>
                <a:latin typeface="Calibri" pitchFamily="0" charset="0"/>
                <a:ea typeface="等线" pitchFamily="0" charset="0"/>
                <a:cs typeface="Calibri" pitchFamily="0" charset="0"/>
              </a:rPr>
              <a:t>Built in Qiskit, run on real IBM hardware</a:t>
            </a:r>
            <a:endParaRPr lang="zh-CN" altLang="en-US" sz="1050" b="0" i="0" u="none" strike="noStrike" kern="1200" cap="none" spc="0" baseline="0">
              <a:solidFill>
                <a:srgbClr val="6F7399"/>
              </a:solidFill>
              <a:latin typeface="Calibri" pitchFamily="0" charset="0"/>
              <a:ea typeface="等线" pitchFamily="0" charset="0"/>
              <a:cs typeface="Calibri" pitchFamily="0" charset="0"/>
            </a:endParaRPr>
          </a:p>
        </p:txBody>
      </p:sp>
      <p:sp>
        <p:nvSpPr>
          <p:cNvPr id="131" name="椭圆"/>
          <p:cNvSpPr>
            <a:spLocks/>
          </p:cNvSpPr>
          <p:nvPr/>
        </p:nvSpPr>
        <p:spPr>
          <a:xfrm rot="0">
            <a:off x="731520" y="3712463"/>
            <a:ext cx="438912" cy="438912"/>
          </a:xfrm>
          <a:prstGeom prst="ellipse"/>
          <a:solidFill>
            <a:srgbClr val="2E1B5B"/>
          </a:solidFill>
          <a:ln w="6350" cmpd="sng" cap="flat">
            <a:noFill/>
            <a:prstDash val="solid"/>
            <a:round/>
          </a:ln>
        </p:spPr>
      </p:sp>
      <p:pic>
        <p:nvPicPr>
          <p:cNvPr id="132" name="图片" descr="shield_w.png"/>
          <p:cNvPicPr>
            <a:picLocks noChangeAspect="1"/>
          </p:cNvPicPr>
          <p:nvPr/>
        </p:nvPicPr>
        <p:blipFill>
          <a:blip r:embed="rId3" cstate="print"/>
          <a:stretch>
            <a:fillRect/>
          </a:stretch>
        </p:blipFill>
        <p:spPr>
          <a:xfrm rot="0">
            <a:off x="836858" y="3817801"/>
            <a:ext cx="228233" cy="228234"/>
          </a:xfrm>
          <a:prstGeom prst="rect"/>
          <a:noFill/>
          <a:ln w="12700" cmpd="sng" cap="flat">
            <a:noFill/>
            <a:prstDash val="solid"/>
            <a:miter/>
          </a:ln>
        </p:spPr>
      </p:pic>
      <p:sp>
        <p:nvSpPr>
          <p:cNvPr id="133" name="矩形"/>
          <p:cNvSpPr>
            <a:spLocks/>
          </p:cNvSpPr>
          <p:nvPr/>
        </p:nvSpPr>
        <p:spPr>
          <a:xfrm rot="0">
            <a:off x="1298448" y="3703319"/>
            <a:ext cx="2926080" cy="1905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00" b="1" i="0" u="none" strike="noStrike" kern="1200" cap="none" spc="0" baseline="0">
                <a:solidFill>
                  <a:srgbClr val="2E1B5B"/>
                </a:solidFill>
                <a:latin typeface="Calibri" pitchFamily="0" charset="0"/>
                <a:ea typeface="等线" pitchFamily="0" charset="0"/>
                <a:cs typeface="Calibri" pitchFamily="0" charset="0"/>
              </a:rPr>
              <a:t>Prove every answer</a:t>
            </a:r>
            <a:endParaRPr lang="zh-CN" altLang="en-US" sz="1300" b="1" i="0" u="none" strike="noStrike" kern="1200" cap="none" spc="0" baseline="0">
              <a:solidFill>
                <a:srgbClr val="2E1B5B"/>
              </a:solidFill>
              <a:latin typeface="Calibri" pitchFamily="0" charset="0"/>
              <a:ea typeface="等线" pitchFamily="0" charset="0"/>
              <a:cs typeface="Calibri" pitchFamily="0" charset="0"/>
            </a:endParaRPr>
          </a:p>
        </p:txBody>
      </p:sp>
      <p:sp>
        <p:nvSpPr>
          <p:cNvPr id="134" name="矩形"/>
          <p:cNvSpPr>
            <a:spLocks/>
          </p:cNvSpPr>
          <p:nvPr/>
        </p:nvSpPr>
        <p:spPr>
          <a:xfrm rot="0">
            <a:off x="1298448" y="3959352"/>
            <a:ext cx="2926080"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6F7399"/>
                </a:solidFill>
                <a:latin typeface="Calibri" pitchFamily="0" charset="0"/>
                <a:ea typeface="等线" pitchFamily="0" charset="0"/>
                <a:cs typeface="Calibri" pitchFamily="0" charset="0"/>
              </a:rPr>
              <a:t>Graded against the true best of all 256 plans</a:t>
            </a:r>
            <a:endParaRPr lang="zh-CN" altLang="en-US" sz="1050" b="0" i="0" u="none" strike="noStrike" kern="1200" cap="none" spc="0" baseline="0">
              <a:solidFill>
                <a:srgbClr val="6F7399"/>
              </a:solidFill>
              <a:latin typeface="Calibri" pitchFamily="0" charset="0"/>
              <a:ea typeface="等线" pitchFamily="0" charset="0"/>
              <a:cs typeface="Calibri" pitchFamily="0" charset="0"/>
            </a:endParaRPr>
          </a:p>
        </p:txBody>
      </p:sp>
      <p:sp>
        <p:nvSpPr>
          <p:cNvPr id="135" name="矩形"/>
          <p:cNvSpPr>
            <a:spLocks/>
          </p:cNvSpPr>
          <p:nvPr/>
        </p:nvSpPr>
        <p:spPr>
          <a:xfrm rot="0">
            <a:off x="4526280" y="1901951"/>
            <a:ext cx="3931920" cy="1238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1" i="0" u="none" strike="noStrike" kern="1200" cap="none" spc="100" baseline="0">
                <a:solidFill>
                  <a:srgbClr val="5B3BA8"/>
                </a:solidFill>
                <a:latin typeface="Calibri" pitchFamily="0" charset="0"/>
                <a:ea typeface="等线" pitchFamily="0" charset="0"/>
                <a:cs typeface="Calibri" pitchFamily="0" charset="0"/>
              </a:rPr>
              <a:t>NOVELTY: A SMARTER ENCODING</a:t>
            </a:r>
            <a:endParaRPr lang="zh-CN" altLang="en-US" sz="900" b="1" i="0" u="none" strike="noStrike" kern="1200" cap="none" spc="100" baseline="0">
              <a:solidFill>
                <a:srgbClr val="5B3BA8"/>
              </a:solidFill>
              <a:latin typeface="Calibri" pitchFamily="0" charset="0"/>
              <a:ea typeface="等线" pitchFamily="0" charset="0"/>
              <a:cs typeface="Calibri" pitchFamily="0" charset="0"/>
            </a:endParaRPr>
          </a:p>
        </p:txBody>
      </p:sp>
      <p:graphicFrame>
        <p:nvGraphicFramePr>
          <p:cNvPr id="136" name="Table"/>
          <p:cNvGraphicFramePr>
            <a:graphicFrameLocks noGrp="1"/>
          </p:cNvGraphicFramePr>
          <p:nvPr>
            <p:extLst>
              <p:ext uri="{D42A27DB-BD31-4B8C-83A1-F6EECF244321}"/>
            </p:extLst>
          </p:nvPr>
        </p:nvGraphicFramePr>
        <p:xfrm>
          <a:off x="4526280" y="2194560"/>
          <a:ext cx="3931920" cy="1645920"/>
        </p:xfrm>
        <a:graphic>
          <a:graphicData uri="http://schemas.openxmlformats.org/drawingml/2006/table">
            <a:tbl>
              <a:tblPr bandRow="1">
                <a:noFill/>
              </a:tblPr>
              <a:tblGrid>
                <a:gridCol w="1325867"/>
                <a:gridCol w="1325867"/>
                <a:gridCol w="1280147"/>
              </a:tblGrid>
              <a:tr h="329179">
                <a:tc>
                  <a:txBody>
                    <a:bodyPr/>
                    <a:lstStyle/>
                    <a:p>
                      <a:pPr marL="0" indent="0" algn="l" eaLnBrk="1" latinLnBrk="0" hangingPunct="1">
                        <a:lnSpc>
                          <a:spcPct val="100000"/>
                        </a:lnSpc>
                        <a:spcBef>
                          <a:spcPts val="0"/>
                        </a:spcBef>
                        <a:spcAft>
                          <a:spcPts val="0"/>
                        </a:spcAft>
                        <a:buNone/>
                      </a:pPr>
                      <a:endParaRPr lang="zh-CN" altLang="en-US" sz="1100" b="1" i="0" u="none" strike="noStrike" kern="1200" cap="none" spc="0" baseline="0">
                        <a:solidFill>
                          <a:srgbClr val="FFFFFF"/>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2E1B5B"/>
                    </a:solidFill>
                  </a:tcPr>
                </a:tc>
                <a:tc>
                  <a:txBody>
                    <a:bodyPr/>
                    <a:lstStyle/>
                    <a:p>
                      <a:pPr marL="0" indent="0" algn="ctr" eaLnBrk="1" latinLnBrk="0" hangingPunct="1">
                        <a:lnSpc>
                          <a:spcPct val="100000"/>
                        </a:lnSpc>
                        <a:spcBef>
                          <a:spcPts val="0"/>
                        </a:spcBef>
                        <a:spcAft>
                          <a:spcPts val="0"/>
                        </a:spcAft>
                        <a:buNone/>
                      </a:pPr>
                      <a:r>
                        <a:rPr lang="en-US" altLang="zh-CN" sz="1100" b="1" i="0" u="none" strike="noStrike" kern="1200" cap="none" spc="0" baseline="0">
                          <a:solidFill>
                            <a:srgbClr val="FFFFFF"/>
                          </a:solidFill>
                          <a:latin typeface="Calibri" pitchFamily="0" charset="0"/>
                          <a:ea typeface="等线" pitchFamily="0" charset="0"/>
                          <a:cs typeface="Calibri" pitchFamily="0" charset="0"/>
                        </a:rPr>
                        <a:t>Textbook one-hot</a:t>
                      </a:r>
                      <a:endParaRPr lang="zh-CN" altLang="en-US" sz="1100" b="1" i="0" u="none" strike="noStrike" kern="1200" cap="none" spc="0" baseline="0">
                        <a:solidFill>
                          <a:srgbClr val="FFFFFF"/>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2E1B5B"/>
                    </a:solidFill>
                  </a:tcPr>
                </a:tc>
                <a:tc>
                  <a:txBody>
                    <a:bodyPr/>
                    <a:lstStyle/>
                    <a:p>
                      <a:pPr marL="0" indent="0" algn="ctr" eaLnBrk="1" latinLnBrk="0" hangingPunct="1">
                        <a:lnSpc>
                          <a:spcPct val="100000"/>
                        </a:lnSpc>
                        <a:spcBef>
                          <a:spcPts val="0"/>
                        </a:spcBef>
                        <a:spcAft>
                          <a:spcPts val="0"/>
                        </a:spcAft>
                        <a:buNone/>
                      </a:pPr>
                      <a:r>
                        <a:rPr lang="en-US" altLang="zh-CN" sz="1100" b="1" i="0" u="none" strike="noStrike" kern="1200" cap="none" spc="0" baseline="0">
                          <a:solidFill>
                            <a:srgbClr val="FFFFFF"/>
                          </a:solidFill>
                          <a:latin typeface="Calibri" pitchFamily="0" charset="0"/>
                          <a:ea typeface="等线" pitchFamily="0" charset="0"/>
                          <a:cs typeface="Calibri" pitchFamily="0" charset="0"/>
                        </a:rPr>
                        <a:t>GreenQ</a:t>
                      </a:r>
                      <a:endParaRPr lang="zh-CN" altLang="en-US" sz="1100" b="1" i="0" u="none" strike="noStrike" kern="1200" cap="none" spc="0" baseline="0">
                        <a:solidFill>
                          <a:srgbClr val="FFFFFF"/>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2E1B5B"/>
                    </a:solidFill>
                  </a:tcPr>
                </a:tc>
              </a:tr>
              <a:tr h="329179">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Qubits</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FFFFFF"/>
                    </a:solidFill>
                  </a:tcPr>
                </a:tc>
                <a:tc>
                  <a:txBody>
                    <a:bodyPr/>
                    <a:lstStyle/>
                    <a:p>
                      <a:pPr marL="0" indent="0" algn="ctr" eaLnBrk="1" latinLnBrk="0" hangingPunct="1">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16</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FFFFFF"/>
                    </a:solidFill>
                  </a:tcPr>
                </a:tc>
                <a:tc>
                  <a:txBody>
                    <a:bodyPr/>
                    <a:lstStyle/>
                    <a:p>
                      <a:pPr marL="0" indent="0" algn="ctr" eaLnBrk="1" latinLnBrk="0" hangingPunct="1">
                        <a:lnSpc>
                          <a:spcPct val="100000"/>
                        </a:lnSpc>
                        <a:spcBef>
                          <a:spcPts val="0"/>
                        </a:spcBef>
                        <a:spcAft>
                          <a:spcPts val="0"/>
                        </a:spcAft>
                        <a:buNone/>
                      </a:pPr>
                      <a:r>
                        <a:rPr lang="en-US" altLang="zh-CN" sz="1100" b="1" i="0" u="none" strike="noStrike" kern="1200" cap="none" spc="0" baseline="0">
                          <a:solidFill>
                            <a:srgbClr val="5B3BA8"/>
                          </a:solidFill>
                          <a:latin typeface="Calibri" pitchFamily="0" charset="0"/>
                          <a:ea typeface="等线" pitchFamily="0" charset="0"/>
                          <a:cs typeface="Calibri" pitchFamily="0" charset="0"/>
                        </a:rPr>
                        <a:t>8</a:t>
                      </a:r>
                      <a:endParaRPr lang="zh-CN" altLang="en-US" sz="1100" b="1" i="0" u="none" strike="noStrike" kern="1200" cap="none" spc="0" baseline="0">
                        <a:solidFill>
                          <a:srgbClr val="5B3BA8"/>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EEF0FE"/>
                    </a:solidFill>
                  </a:tcPr>
                </a:tc>
              </a:tr>
              <a:tr h="329179">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Valid answers</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FFFFFF"/>
                    </a:solidFill>
                  </a:tcPr>
                </a:tc>
                <a:tc>
                  <a:txBody>
                    <a:bodyPr/>
                    <a:lstStyle/>
                    <a:p>
                      <a:pPr marL="0" indent="0" algn="ctr" eaLnBrk="1" latinLnBrk="0" hangingPunct="1">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0.39%</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FFFFFF"/>
                    </a:solidFill>
                  </a:tcPr>
                </a:tc>
                <a:tc>
                  <a:txBody>
                    <a:bodyPr/>
                    <a:lstStyle/>
                    <a:p>
                      <a:pPr marL="0" indent="0" algn="ctr" eaLnBrk="1" latinLnBrk="0" hangingPunct="1">
                        <a:lnSpc>
                          <a:spcPct val="100000"/>
                        </a:lnSpc>
                        <a:spcBef>
                          <a:spcPts val="0"/>
                        </a:spcBef>
                        <a:spcAft>
                          <a:spcPts val="0"/>
                        </a:spcAft>
                        <a:buNone/>
                      </a:pPr>
                      <a:r>
                        <a:rPr lang="en-US" altLang="zh-CN" sz="1100" b="1" i="0" u="none" strike="noStrike" kern="1200" cap="none" spc="0" baseline="0">
                          <a:solidFill>
                            <a:srgbClr val="5B3BA8"/>
                          </a:solidFill>
                          <a:latin typeface="Calibri" pitchFamily="0" charset="0"/>
                          <a:ea typeface="等线" pitchFamily="0" charset="0"/>
                          <a:cs typeface="Calibri" pitchFamily="0" charset="0"/>
                        </a:rPr>
                        <a:t>100%</a:t>
                      </a:r>
                      <a:endParaRPr lang="zh-CN" altLang="en-US" sz="1100" b="1" i="0" u="none" strike="noStrike" kern="1200" cap="none" spc="0" baseline="0">
                        <a:solidFill>
                          <a:srgbClr val="5B3BA8"/>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EEF0FE"/>
                    </a:solidFill>
                  </a:tcPr>
                </a:tc>
              </a:tr>
              <a:tr h="329179">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Two-qubit gates</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FFFFFF"/>
                    </a:solidFill>
                  </a:tcPr>
                </a:tc>
                <a:tc>
                  <a:txBody>
                    <a:bodyPr/>
                    <a:lstStyle/>
                    <a:p>
                      <a:pPr marL="0" indent="0" algn="ctr" eaLnBrk="1" latinLnBrk="0" hangingPunct="1">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≈227</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FFFFFF"/>
                    </a:solidFill>
                  </a:tcPr>
                </a:tc>
                <a:tc>
                  <a:txBody>
                    <a:bodyPr/>
                    <a:lstStyle/>
                    <a:p>
                      <a:pPr marL="0" indent="0" algn="ctr" eaLnBrk="1" latinLnBrk="0" hangingPunct="1">
                        <a:lnSpc>
                          <a:spcPct val="100000"/>
                        </a:lnSpc>
                        <a:spcBef>
                          <a:spcPts val="0"/>
                        </a:spcBef>
                        <a:spcAft>
                          <a:spcPts val="0"/>
                        </a:spcAft>
                        <a:buNone/>
                      </a:pPr>
                      <a:r>
                        <a:rPr lang="en-US" altLang="zh-CN" sz="1100" b="1" i="0" u="none" strike="noStrike" kern="1200" cap="none" spc="0" baseline="0">
                          <a:solidFill>
                            <a:srgbClr val="5B3BA8"/>
                          </a:solidFill>
                          <a:latin typeface="Calibri" pitchFamily="0" charset="0"/>
                          <a:ea typeface="等线" pitchFamily="0" charset="0"/>
                          <a:cs typeface="Calibri" pitchFamily="0" charset="0"/>
                        </a:rPr>
                        <a:t>114</a:t>
                      </a:r>
                      <a:endParaRPr lang="zh-CN" altLang="en-US" sz="1100" b="1" i="0" u="none" strike="noStrike" kern="1200" cap="none" spc="0" baseline="0">
                        <a:solidFill>
                          <a:srgbClr val="5B3BA8"/>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EEF0FE"/>
                    </a:solidFill>
                  </a:tcPr>
                </a:tc>
              </a:tr>
              <a:tr h="329179">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Penalty tuning</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FFFFFF"/>
                    </a:solidFill>
                  </a:tcPr>
                </a:tc>
                <a:tc>
                  <a:txBody>
                    <a:bodyPr/>
                    <a:lstStyle/>
                    <a:p>
                      <a:pPr marL="0" indent="0" algn="ctr" eaLnBrk="1" latinLnBrk="0" hangingPunct="1">
                        <a:lnSpc>
                          <a:spcPct val="100000"/>
                        </a:lnSpc>
                        <a:spcBef>
                          <a:spcPts val="0"/>
                        </a:spcBef>
                        <a:spcAft>
                          <a:spcPts val="0"/>
                        </a:spcAft>
                        <a:buNone/>
                      </a:pPr>
                      <a:r>
                        <a:rPr lang="en-US" altLang="zh-CN" sz="1100" b="0" i="0" u="none" strike="noStrike" kern="1200" cap="none" spc="0" baseline="0">
                          <a:solidFill>
                            <a:srgbClr val="2E1B5B"/>
                          </a:solidFill>
                          <a:latin typeface="Calibri" pitchFamily="0" charset="0"/>
                          <a:ea typeface="等线" pitchFamily="0" charset="0"/>
                          <a:cs typeface="Calibri" pitchFamily="0" charset="0"/>
                        </a:rPr>
                        <a:t>Needed</a:t>
                      </a:r>
                      <a:endParaRPr lang="zh-CN" altLang="en-US" sz="1100" b="0" i="0" u="none" strike="noStrike" kern="1200" cap="none" spc="0" baseline="0">
                        <a:solidFill>
                          <a:srgbClr val="2E1B5B"/>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FFFFFF"/>
                    </a:solidFill>
                  </a:tcPr>
                </a:tc>
                <a:tc>
                  <a:txBody>
                    <a:bodyPr/>
                    <a:lstStyle/>
                    <a:p>
                      <a:pPr marL="0" indent="0" algn="ctr" eaLnBrk="1" latinLnBrk="0" hangingPunct="1">
                        <a:lnSpc>
                          <a:spcPct val="100000"/>
                        </a:lnSpc>
                        <a:spcBef>
                          <a:spcPts val="0"/>
                        </a:spcBef>
                        <a:spcAft>
                          <a:spcPts val="0"/>
                        </a:spcAft>
                        <a:buNone/>
                      </a:pPr>
                      <a:r>
                        <a:rPr lang="en-US" altLang="zh-CN" sz="1100" b="1" i="0" u="none" strike="noStrike" kern="1200" cap="none" spc="0" baseline="0">
                          <a:solidFill>
                            <a:srgbClr val="5B3BA8"/>
                          </a:solidFill>
                          <a:latin typeface="Calibri" pitchFamily="0" charset="0"/>
                          <a:ea typeface="等线" pitchFamily="0" charset="0"/>
                          <a:cs typeface="Calibri" pitchFamily="0" charset="0"/>
                        </a:rPr>
                        <a:t>None</a:t>
                      </a:r>
                      <a:endParaRPr lang="zh-CN" altLang="en-US" sz="1100" b="1" i="0" u="none" strike="noStrike" kern="1200" cap="none" spc="0" baseline="0">
                        <a:solidFill>
                          <a:srgbClr val="5B3BA8"/>
                        </a:solidFill>
                        <a:latin typeface="Calibri" pitchFamily="0" charset="0"/>
                        <a:ea typeface="等线" pitchFamily="0" charset="0"/>
                        <a:cs typeface="Calibri" pitchFamily="0" charset="0"/>
                      </a:endParaRPr>
                    </a:p>
                  </a:txBody>
                  <a:tcPr marL="91440" marT="0" marR="91440" marB="0" vert="horz" anchor="ctr">
                    <a:lnL w="9525">
                      <a:solidFill>
                        <a:srgbClr val="B8BDEB"/>
                      </a:solidFill>
                      <a:prstDash val="solid"/>
                      <a:headEnd type="none" w="med" len="med"/>
                      <a:tailEnd type="none" w="med" len="med"/>
                    </a:lnL>
                    <a:lnR w="9525">
                      <a:solidFill>
                        <a:srgbClr val="B8BDEB"/>
                      </a:solidFill>
                      <a:prstDash val="solid"/>
                      <a:headEnd type="none" w="med" len="med"/>
                      <a:tailEnd type="none" w="med" len="med"/>
                    </a:lnR>
                    <a:lnT w="9525">
                      <a:solidFill>
                        <a:srgbClr val="B8BDEB"/>
                      </a:solidFill>
                      <a:prstDash val="solid"/>
                      <a:headEnd type="none" w="med" len="med"/>
                      <a:tailEnd type="none" w="med" len="med"/>
                    </a:lnT>
                    <a:lnB w="9525">
                      <a:solidFill>
                        <a:srgbClr val="B8BDEB"/>
                      </a:solidFill>
                      <a:prstDash val="solid"/>
                      <a:headEnd type="none" w="med" len="med"/>
                      <a:tailEnd type="none" w="med" len="med"/>
                    </a:lnB>
                    <a:solidFill>
                      <a:srgbClr val="EEF0FE"/>
                    </a:solidFill>
                  </a:tcPr>
                </a:tc>
              </a:tr>
            </a:tbl>
          </a:graphicData>
        </a:graphic>
      </p:graphicFrame>
      <p:sp>
        <p:nvSpPr>
          <p:cNvPr id="137" name="矩形"/>
          <p:cNvSpPr>
            <a:spLocks/>
          </p:cNvSpPr>
          <p:nvPr/>
        </p:nvSpPr>
        <p:spPr>
          <a:xfrm rot="0">
            <a:off x="4526280" y="4005072"/>
            <a:ext cx="3931920" cy="2857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2 qubits per job, a where bit and a when bit, so every measured answer is a valid plan. Gate counts are for ibm_marrakesh.</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424338215"/>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rgbClr val="DDE2FC"/>
        </a:solidFill>
      </p:bgPr>
    </p:bg>
    <p:spTree>
      <p:nvGrpSpPr>
        <p:cNvPr id="1" name=""/>
        <p:cNvGrpSpPr/>
        <p:nvPr/>
      </p:nvGrpSpPr>
      <p:grpSpPr>
        <a:xfrm>
          <a:off x="0" y="0"/>
          <a:ext cx="0" cy="0"/>
          <a:chOff x="0" y="0"/>
          <a:chExt cx="0" cy="0"/>
        </a:xfrm>
      </p:grpSpPr>
      <p:sp>
        <p:nvSpPr>
          <p:cNvPr id="140" name="文本框"/>
          <p:cNvSpPr>
            <a:spLocks noGrp="1"/>
          </p:cNvSpPr>
          <p:nvPr>
            <p:ph type="title"/>
          </p:nvPr>
        </p:nvSpPr>
        <p:spPr>
          <a:xfrm rot="0">
            <a:off x="457200" y="841248"/>
            <a:ext cx="630936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600" b="1" i="0" u="none" strike="noStrike" kern="1200" cap="none" spc="0" baseline="0">
                <a:solidFill>
                  <a:srgbClr val="2E1B5B"/>
                </a:solidFill>
                <a:latin typeface="Georgia" pitchFamily="0" charset="0"/>
                <a:ea typeface="Georgia" pitchFamily="0" charset="0"/>
                <a:cs typeface="Georgia" pitchFamily="0" charset="0"/>
              </a:rPr>
              <a:t>Solution &amp; Quantum Advantage</a:t>
            </a:r>
            <a:endParaRPr lang="zh-CN" altLang="en-US" sz="2600" b="1" i="0" u="none" strike="noStrike" kern="1200" cap="none" spc="0" baseline="0">
              <a:solidFill>
                <a:srgbClr val="2E1B5B"/>
              </a:solidFill>
              <a:latin typeface="Georgia" pitchFamily="0" charset="0"/>
              <a:ea typeface="Georgia" pitchFamily="0" charset="0"/>
              <a:cs typeface="Georgia" pitchFamily="0" charset="0"/>
            </a:endParaRPr>
          </a:p>
        </p:txBody>
      </p:sp>
      <p:sp>
        <p:nvSpPr>
          <p:cNvPr id="141" name="矩形"/>
          <p:cNvSpPr>
            <a:spLocks/>
          </p:cNvSpPr>
          <p:nvPr/>
        </p:nvSpPr>
        <p:spPr>
          <a:xfrm rot="0">
            <a:off x="457200" y="1463040"/>
            <a:ext cx="256031" cy="45720"/>
          </a:xfrm>
          <a:prstGeom prst="rect"/>
          <a:solidFill>
            <a:srgbClr val="7C93F0"/>
          </a:solidFill>
          <a:ln w="12700" cmpd="sng" cap="flat">
            <a:solidFill>
              <a:srgbClr val="7C93F0"/>
            </a:solidFill>
            <a:prstDash val="solid"/>
            <a:round/>
          </a:ln>
        </p:spPr>
      </p:sp>
      <p:sp>
        <p:nvSpPr>
          <p:cNvPr id="142" name="矩形"/>
          <p:cNvSpPr>
            <a:spLocks/>
          </p:cNvSpPr>
          <p:nvPr/>
        </p:nvSpPr>
        <p:spPr>
          <a:xfrm rot="0">
            <a:off x="731520" y="1463040"/>
            <a:ext cx="256031" cy="45720"/>
          </a:xfrm>
          <a:prstGeom prst="rect"/>
          <a:solidFill>
            <a:srgbClr val="E8639F"/>
          </a:solidFill>
          <a:ln w="12700" cmpd="sng" cap="flat">
            <a:solidFill>
              <a:srgbClr val="E8639F"/>
            </a:solidFill>
            <a:prstDash val="solid"/>
            <a:round/>
          </a:ln>
        </p:spPr>
      </p:sp>
      <p:sp>
        <p:nvSpPr>
          <p:cNvPr id="143" name="矩形"/>
          <p:cNvSpPr>
            <a:spLocks/>
          </p:cNvSpPr>
          <p:nvPr/>
        </p:nvSpPr>
        <p:spPr>
          <a:xfrm rot="0">
            <a:off x="1005839" y="1463040"/>
            <a:ext cx="256031" cy="45720"/>
          </a:xfrm>
          <a:prstGeom prst="rect"/>
          <a:solidFill>
            <a:srgbClr val="5B3BA8"/>
          </a:solidFill>
          <a:ln w="12700" cmpd="sng" cap="flat">
            <a:solidFill>
              <a:srgbClr val="5B3BA8"/>
            </a:solidFill>
            <a:prstDash val="solid"/>
            <a:round/>
          </a:ln>
        </p:spPr>
      </p:sp>
      <p:sp>
        <p:nvSpPr>
          <p:cNvPr id="144" name="圆角矩形"/>
          <p:cNvSpPr>
            <a:spLocks/>
          </p:cNvSpPr>
          <p:nvPr/>
        </p:nvSpPr>
        <p:spPr>
          <a:xfrm rot="0">
            <a:off x="457200" y="1691639"/>
            <a:ext cx="8229600" cy="2926080"/>
          </a:xfrm>
          <a:prstGeom prst="roundRect">
            <a:avLst>
              <a:gd name="adj" fmla="val 2500"/>
            </a:avLst>
          </a:prstGeom>
          <a:solidFill>
            <a:srgbClr val="FFFFFF"/>
          </a:solidFill>
          <a:ln w="9525" cmpd="sng" cap="flat">
            <a:solidFill>
              <a:srgbClr val="B8BDEB"/>
            </a:solidFill>
            <a:prstDash val="solid"/>
            <a:round/>
          </a:ln>
        </p:spPr>
      </p:sp>
      <p:sp>
        <p:nvSpPr>
          <p:cNvPr id="145" name="矩形"/>
          <p:cNvSpPr>
            <a:spLocks/>
          </p:cNvSpPr>
          <p:nvPr/>
        </p:nvSpPr>
        <p:spPr>
          <a:xfrm rot="0">
            <a:off x="685800" y="1691639"/>
            <a:ext cx="822960" cy="54863"/>
          </a:xfrm>
          <a:prstGeom prst="rect"/>
          <a:solidFill>
            <a:srgbClr val="5B3BA8"/>
          </a:solidFill>
          <a:ln w="12700" cmpd="sng" cap="flat">
            <a:solidFill>
              <a:srgbClr val="5B3BA8"/>
            </a:solidFill>
            <a:prstDash val="solid"/>
            <a:round/>
          </a:ln>
        </p:spPr>
      </p:sp>
      <p:sp>
        <p:nvSpPr>
          <p:cNvPr id="146" name="文本框"/>
          <p:cNvSpPr>
            <a:spLocks noGrp="1"/>
          </p:cNvSpPr>
          <p:nvPr>
            <p:ph type="sldNum"/>
          </p:nvPr>
        </p:nvSpPr>
        <p:spPr>
          <a:xfrm rot="0">
            <a:off x="8321040" y="4864608"/>
            <a:ext cx="365759" cy="274319"/>
          </a:xfrm>
          <a:prstGeom prst="rect"/>
          <a:noFill/>
          <a:ln cmpd="sng" cap="flat">
            <a:noFill/>
            <a:prstDash val="solid"/>
            <a:miter/>
          </a:ln>
        </p:spPr>
        <p:txBody>
          <a:bodyPr vert="horz" wrap="non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900" b="1" i="0" u="none" strike="noStrike" kern="1200" cap="none" spc="0" baseline="0">
                <a:solidFill>
                  <a:srgbClr val="2E1B5B"/>
                </a:solidFill>
                <a:latin typeface="Calibri" pitchFamily="0" charset="0"/>
                <a:ea typeface="等线" pitchFamily="0" charset="0"/>
                <a:cs typeface="Calibri" pitchFamily="0" charset="0"/>
              </a:rPr>
              <a:t>4</a:t>
            </a:fld>
            <a:endParaRPr lang="zh-CN" altLang="en-US" sz="900" b="0" i="0" u="none" strike="noStrike" kern="1200" cap="none" spc="0" baseline="0">
              <a:solidFill>
                <a:srgbClr val="2E1B5B"/>
              </a:solidFill>
              <a:latin typeface="Calibri" pitchFamily="0" charset="0"/>
              <a:ea typeface="等线" pitchFamily="0" charset="0"/>
              <a:cs typeface="Calibri" pitchFamily="0" charset="0"/>
            </a:endParaRPr>
          </a:p>
        </p:txBody>
      </p:sp>
      <p:sp>
        <p:nvSpPr>
          <p:cNvPr id="147" name="圆角矩形"/>
          <p:cNvSpPr>
            <a:spLocks/>
          </p:cNvSpPr>
          <p:nvPr/>
        </p:nvSpPr>
        <p:spPr>
          <a:xfrm rot="0">
            <a:off x="713232" y="1938527"/>
            <a:ext cx="1353312" cy="960119"/>
          </a:xfrm>
          <a:prstGeom prst="roundRect">
            <a:avLst>
              <a:gd name="adj" fmla="val 8000"/>
            </a:avLst>
          </a:prstGeom>
          <a:solidFill>
            <a:srgbClr val="EEF0FE"/>
          </a:solidFill>
          <a:ln w="6350" cmpd="sng" cap="flat">
            <a:noFill/>
            <a:prstDash val="solid"/>
            <a:round/>
          </a:ln>
        </p:spPr>
      </p:sp>
      <p:sp>
        <p:nvSpPr>
          <p:cNvPr id="148" name="矩形"/>
          <p:cNvSpPr>
            <a:spLocks/>
          </p:cNvSpPr>
          <p:nvPr/>
        </p:nvSpPr>
        <p:spPr>
          <a:xfrm rot="0">
            <a:off x="832104" y="2029968"/>
            <a:ext cx="1143000" cy="1428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1" i="0" u="none" strike="noStrike" kern="1200" cap="none" spc="0" baseline="0">
                <a:solidFill>
                  <a:srgbClr val="E8639F"/>
                </a:solidFill>
                <a:latin typeface="Calibri" pitchFamily="0" charset="0"/>
                <a:ea typeface="等线" pitchFamily="0" charset="0"/>
                <a:cs typeface="Calibri" pitchFamily="0" charset="0"/>
              </a:rPr>
              <a:t>01</a:t>
            </a:r>
            <a:endParaRPr lang="zh-CN" altLang="en-US" sz="1000" b="1" i="0" u="none" strike="noStrike" kern="1200" cap="none" spc="0" baseline="0">
              <a:solidFill>
                <a:srgbClr val="E8639F"/>
              </a:solidFill>
              <a:latin typeface="Calibri" pitchFamily="0" charset="0"/>
              <a:ea typeface="等线" pitchFamily="0" charset="0"/>
              <a:cs typeface="Calibri" pitchFamily="0" charset="0"/>
            </a:endParaRPr>
          </a:p>
        </p:txBody>
      </p:sp>
      <p:sp>
        <p:nvSpPr>
          <p:cNvPr id="149" name="矩形"/>
          <p:cNvSpPr>
            <a:spLocks/>
          </p:cNvSpPr>
          <p:nvPr/>
        </p:nvSpPr>
        <p:spPr>
          <a:xfrm rot="0">
            <a:off x="832104" y="2231136"/>
            <a:ext cx="1143000" cy="3238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50" b="1" i="0" u="none" strike="noStrike" kern="1200" cap="none" spc="0" baseline="0">
                <a:solidFill>
                  <a:srgbClr val="2E1B5B"/>
                </a:solidFill>
                <a:latin typeface="Calibri" pitchFamily="0" charset="0"/>
                <a:ea typeface="等线" pitchFamily="0" charset="0"/>
                <a:cs typeface="Calibri" pitchFamily="0" charset="0"/>
              </a:rPr>
              <a:t>Jobs · sites · slots</a:t>
            </a:r>
            <a:endParaRPr lang="zh-CN" altLang="en-US" sz="1150" b="1" i="0" u="none" strike="noStrike" kern="1200" cap="none" spc="0" baseline="0">
              <a:solidFill>
                <a:srgbClr val="2E1B5B"/>
              </a:solidFill>
              <a:latin typeface="Calibri" pitchFamily="0" charset="0"/>
              <a:ea typeface="等线" pitchFamily="0" charset="0"/>
              <a:cs typeface="Calibri" pitchFamily="0" charset="0"/>
            </a:endParaRPr>
          </a:p>
        </p:txBody>
      </p:sp>
      <p:sp>
        <p:nvSpPr>
          <p:cNvPr id="150" name="矩形"/>
          <p:cNvSpPr>
            <a:spLocks/>
          </p:cNvSpPr>
          <p:nvPr/>
        </p:nvSpPr>
        <p:spPr>
          <a:xfrm rot="0">
            <a:off x="832104" y="2505456"/>
            <a:ext cx="1143000" cy="2857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4 × 2 × 2 = 256 plans</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151" name="右箭头"/>
          <p:cNvSpPr>
            <a:spLocks/>
          </p:cNvSpPr>
          <p:nvPr/>
        </p:nvSpPr>
        <p:spPr>
          <a:xfrm rot="0">
            <a:off x="2103120" y="2322576"/>
            <a:ext cx="164591" cy="201168"/>
          </a:xfrm>
          <a:prstGeom prst="rightArrow">
            <a:avLst>
              <a:gd name="adj1" fmla="val 50000"/>
              <a:gd name="adj2" fmla="val 40908"/>
            </a:avLst>
          </a:prstGeom>
          <a:solidFill>
            <a:srgbClr val="E8639F"/>
          </a:solidFill>
          <a:ln w="6350" cmpd="sng" cap="flat">
            <a:noFill/>
            <a:prstDash val="solid"/>
            <a:round/>
          </a:ln>
        </p:spPr>
      </p:sp>
      <p:sp>
        <p:nvSpPr>
          <p:cNvPr id="152" name="圆角矩形"/>
          <p:cNvSpPr>
            <a:spLocks/>
          </p:cNvSpPr>
          <p:nvPr/>
        </p:nvSpPr>
        <p:spPr>
          <a:xfrm rot="0">
            <a:off x="2286000" y="1938527"/>
            <a:ext cx="1353311" cy="960119"/>
          </a:xfrm>
          <a:prstGeom prst="roundRect">
            <a:avLst>
              <a:gd name="adj" fmla="val 8000"/>
            </a:avLst>
          </a:prstGeom>
          <a:solidFill>
            <a:srgbClr val="EEF0FE"/>
          </a:solidFill>
          <a:ln w="6350" cmpd="sng" cap="flat">
            <a:noFill/>
            <a:prstDash val="solid"/>
            <a:round/>
          </a:ln>
        </p:spPr>
      </p:sp>
      <p:sp>
        <p:nvSpPr>
          <p:cNvPr id="153" name="矩形"/>
          <p:cNvSpPr>
            <a:spLocks/>
          </p:cNvSpPr>
          <p:nvPr/>
        </p:nvSpPr>
        <p:spPr>
          <a:xfrm rot="0">
            <a:off x="2404872" y="2029968"/>
            <a:ext cx="1142999" cy="1428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1" i="0" u="none" strike="noStrike" kern="1200" cap="none" spc="0" baseline="0">
                <a:solidFill>
                  <a:srgbClr val="E8639F"/>
                </a:solidFill>
                <a:latin typeface="Calibri" pitchFamily="0" charset="0"/>
                <a:ea typeface="等线" pitchFamily="0" charset="0"/>
                <a:cs typeface="Calibri" pitchFamily="0" charset="0"/>
              </a:rPr>
              <a:t>02</a:t>
            </a:r>
            <a:endParaRPr lang="zh-CN" altLang="en-US" sz="1000" b="1" i="0" u="none" strike="noStrike" kern="1200" cap="none" spc="0" baseline="0">
              <a:solidFill>
                <a:srgbClr val="E8639F"/>
              </a:solidFill>
              <a:latin typeface="Calibri" pitchFamily="0" charset="0"/>
              <a:ea typeface="等线" pitchFamily="0" charset="0"/>
              <a:cs typeface="Calibri" pitchFamily="0" charset="0"/>
            </a:endParaRPr>
          </a:p>
        </p:txBody>
      </p:sp>
      <p:sp>
        <p:nvSpPr>
          <p:cNvPr id="154" name="矩形"/>
          <p:cNvSpPr>
            <a:spLocks/>
          </p:cNvSpPr>
          <p:nvPr/>
        </p:nvSpPr>
        <p:spPr>
          <a:xfrm rot="0">
            <a:off x="2404872" y="2231136"/>
            <a:ext cx="1142999"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50" b="1" i="0" u="none" strike="noStrike" kern="1200" cap="none" spc="0" baseline="0">
                <a:solidFill>
                  <a:srgbClr val="2E1B5B"/>
                </a:solidFill>
                <a:latin typeface="Calibri" pitchFamily="0" charset="0"/>
                <a:ea typeface="等线" pitchFamily="0" charset="0"/>
                <a:cs typeface="Calibri" pitchFamily="0" charset="0"/>
              </a:rPr>
              <a:t>Cost model</a:t>
            </a:r>
            <a:endParaRPr lang="zh-CN" altLang="en-US" sz="1150" b="1" i="0" u="none" strike="noStrike" kern="1200" cap="none" spc="0" baseline="0">
              <a:solidFill>
                <a:srgbClr val="2E1B5B"/>
              </a:solidFill>
              <a:latin typeface="Calibri" pitchFamily="0" charset="0"/>
              <a:ea typeface="等线" pitchFamily="0" charset="0"/>
              <a:cs typeface="Calibri" pitchFamily="0" charset="0"/>
            </a:endParaRPr>
          </a:p>
        </p:txBody>
      </p:sp>
      <p:sp>
        <p:nvSpPr>
          <p:cNvPr id="155" name="矩形"/>
          <p:cNvSpPr>
            <a:spLocks/>
          </p:cNvSpPr>
          <p:nvPr/>
        </p:nvSpPr>
        <p:spPr>
          <a:xfrm rot="0">
            <a:off x="2404872" y="2505456"/>
            <a:ext cx="1142999" cy="2857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kg CO₂ + litres, one slider</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156" name="右箭头"/>
          <p:cNvSpPr>
            <a:spLocks/>
          </p:cNvSpPr>
          <p:nvPr/>
        </p:nvSpPr>
        <p:spPr>
          <a:xfrm rot="0">
            <a:off x="3675887" y="2322576"/>
            <a:ext cx="164592" cy="201168"/>
          </a:xfrm>
          <a:prstGeom prst="rightArrow">
            <a:avLst>
              <a:gd name="adj1" fmla="val 50000"/>
              <a:gd name="adj2" fmla="val 40909"/>
            </a:avLst>
          </a:prstGeom>
          <a:solidFill>
            <a:srgbClr val="E8639F"/>
          </a:solidFill>
          <a:ln w="6350" cmpd="sng" cap="flat">
            <a:noFill/>
            <a:prstDash val="solid"/>
            <a:round/>
          </a:ln>
        </p:spPr>
      </p:sp>
      <p:sp>
        <p:nvSpPr>
          <p:cNvPr id="157" name="圆角矩形"/>
          <p:cNvSpPr>
            <a:spLocks/>
          </p:cNvSpPr>
          <p:nvPr/>
        </p:nvSpPr>
        <p:spPr>
          <a:xfrm rot="0">
            <a:off x="3858768" y="1938527"/>
            <a:ext cx="1353312" cy="960119"/>
          </a:xfrm>
          <a:prstGeom prst="roundRect">
            <a:avLst>
              <a:gd name="adj" fmla="val 8000"/>
            </a:avLst>
          </a:prstGeom>
          <a:solidFill>
            <a:srgbClr val="EEF0FE"/>
          </a:solidFill>
          <a:ln w="6350" cmpd="sng" cap="flat">
            <a:noFill/>
            <a:prstDash val="solid"/>
            <a:round/>
          </a:ln>
        </p:spPr>
      </p:sp>
      <p:sp>
        <p:nvSpPr>
          <p:cNvPr id="158" name="矩形"/>
          <p:cNvSpPr>
            <a:spLocks/>
          </p:cNvSpPr>
          <p:nvPr/>
        </p:nvSpPr>
        <p:spPr>
          <a:xfrm rot="0">
            <a:off x="3977639" y="2029968"/>
            <a:ext cx="1143000" cy="1428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1" i="0" u="none" strike="noStrike" kern="1200" cap="none" spc="0" baseline="0">
                <a:solidFill>
                  <a:srgbClr val="E8639F"/>
                </a:solidFill>
                <a:latin typeface="Calibri" pitchFamily="0" charset="0"/>
                <a:ea typeface="等线" pitchFamily="0" charset="0"/>
                <a:cs typeface="Calibri" pitchFamily="0" charset="0"/>
              </a:rPr>
              <a:t>03</a:t>
            </a:r>
            <a:endParaRPr lang="zh-CN" altLang="en-US" sz="1000" b="1" i="0" u="none" strike="noStrike" kern="1200" cap="none" spc="0" baseline="0">
              <a:solidFill>
                <a:srgbClr val="E8639F"/>
              </a:solidFill>
              <a:latin typeface="Calibri" pitchFamily="0" charset="0"/>
              <a:ea typeface="等线" pitchFamily="0" charset="0"/>
              <a:cs typeface="Calibri" pitchFamily="0" charset="0"/>
            </a:endParaRPr>
          </a:p>
        </p:txBody>
      </p:sp>
      <p:sp>
        <p:nvSpPr>
          <p:cNvPr id="159" name="矩形"/>
          <p:cNvSpPr>
            <a:spLocks/>
          </p:cNvSpPr>
          <p:nvPr/>
        </p:nvSpPr>
        <p:spPr>
          <a:xfrm rot="0">
            <a:off x="3977639" y="2231136"/>
            <a:ext cx="1143000"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50" b="1" i="0" u="none" strike="noStrike" kern="1200" cap="none" spc="0" baseline="0">
                <a:solidFill>
                  <a:srgbClr val="2E1B5B"/>
                </a:solidFill>
                <a:latin typeface="Calibri" pitchFamily="0" charset="0"/>
                <a:ea typeface="等线" pitchFamily="0" charset="0"/>
                <a:cs typeface="Calibri" pitchFamily="0" charset="0"/>
              </a:rPr>
              <a:t>Hamiltonian</a:t>
            </a:r>
            <a:endParaRPr lang="zh-CN" altLang="en-US" sz="1150" b="1" i="0" u="none" strike="noStrike" kern="1200" cap="none" spc="0" baseline="0">
              <a:solidFill>
                <a:srgbClr val="2E1B5B"/>
              </a:solidFill>
              <a:latin typeface="Calibri" pitchFamily="0" charset="0"/>
              <a:ea typeface="等线" pitchFamily="0" charset="0"/>
              <a:cs typeface="Calibri" pitchFamily="0" charset="0"/>
            </a:endParaRPr>
          </a:p>
        </p:txBody>
      </p:sp>
      <p:sp>
        <p:nvSpPr>
          <p:cNvPr id="160" name="矩形"/>
          <p:cNvSpPr>
            <a:spLocks/>
          </p:cNvSpPr>
          <p:nvPr/>
        </p:nvSpPr>
        <p:spPr>
          <a:xfrm rot="0">
            <a:off x="3977639" y="2505456"/>
            <a:ext cx="1143000" cy="1428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8 qubits · 31 terms</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161" name="右箭头"/>
          <p:cNvSpPr>
            <a:spLocks/>
          </p:cNvSpPr>
          <p:nvPr/>
        </p:nvSpPr>
        <p:spPr>
          <a:xfrm rot="0">
            <a:off x="5248656" y="2322576"/>
            <a:ext cx="164592" cy="201168"/>
          </a:xfrm>
          <a:prstGeom prst="rightArrow">
            <a:avLst>
              <a:gd name="adj1" fmla="val 50000"/>
              <a:gd name="adj2" fmla="val 40909"/>
            </a:avLst>
          </a:prstGeom>
          <a:solidFill>
            <a:srgbClr val="E8639F"/>
          </a:solidFill>
          <a:ln w="6350" cmpd="sng" cap="flat">
            <a:noFill/>
            <a:prstDash val="solid"/>
            <a:round/>
          </a:ln>
        </p:spPr>
      </p:sp>
      <p:sp>
        <p:nvSpPr>
          <p:cNvPr id="162" name="圆角矩形"/>
          <p:cNvSpPr>
            <a:spLocks/>
          </p:cNvSpPr>
          <p:nvPr/>
        </p:nvSpPr>
        <p:spPr>
          <a:xfrm rot="0">
            <a:off x="5431536" y="1938527"/>
            <a:ext cx="1353311" cy="960119"/>
          </a:xfrm>
          <a:prstGeom prst="roundRect">
            <a:avLst>
              <a:gd name="adj" fmla="val 8000"/>
            </a:avLst>
          </a:prstGeom>
          <a:solidFill>
            <a:srgbClr val="EEF0FE"/>
          </a:solidFill>
          <a:ln w="6350" cmpd="sng" cap="flat">
            <a:noFill/>
            <a:prstDash val="solid"/>
            <a:round/>
          </a:ln>
        </p:spPr>
      </p:sp>
      <p:sp>
        <p:nvSpPr>
          <p:cNvPr id="163" name="矩形"/>
          <p:cNvSpPr>
            <a:spLocks/>
          </p:cNvSpPr>
          <p:nvPr/>
        </p:nvSpPr>
        <p:spPr>
          <a:xfrm rot="0">
            <a:off x="5550408" y="2029968"/>
            <a:ext cx="1143000" cy="1428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1" i="0" u="none" strike="noStrike" kern="1200" cap="none" spc="0" baseline="0">
                <a:solidFill>
                  <a:srgbClr val="E8639F"/>
                </a:solidFill>
                <a:latin typeface="Calibri" pitchFamily="0" charset="0"/>
                <a:ea typeface="等线" pitchFamily="0" charset="0"/>
                <a:cs typeface="Calibri" pitchFamily="0" charset="0"/>
              </a:rPr>
              <a:t>04</a:t>
            </a:r>
            <a:endParaRPr lang="zh-CN" altLang="en-US" sz="1000" b="1" i="0" u="none" strike="noStrike" kern="1200" cap="none" spc="0" baseline="0">
              <a:solidFill>
                <a:srgbClr val="E8639F"/>
              </a:solidFill>
              <a:latin typeface="Calibri" pitchFamily="0" charset="0"/>
              <a:ea typeface="等线" pitchFamily="0" charset="0"/>
              <a:cs typeface="Calibri" pitchFamily="0" charset="0"/>
            </a:endParaRPr>
          </a:p>
        </p:txBody>
      </p:sp>
      <p:sp>
        <p:nvSpPr>
          <p:cNvPr id="164" name="矩形"/>
          <p:cNvSpPr>
            <a:spLocks/>
          </p:cNvSpPr>
          <p:nvPr/>
        </p:nvSpPr>
        <p:spPr>
          <a:xfrm rot="0">
            <a:off x="5550408" y="2231136"/>
            <a:ext cx="1143000"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50" b="1" i="0" u="none" strike="noStrike" kern="1200" cap="none" spc="0" baseline="0">
                <a:solidFill>
                  <a:srgbClr val="2E1B5B"/>
                </a:solidFill>
                <a:latin typeface="Calibri" pitchFamily="0" charset="0"/>
                <a:ea typeface="等线" pitchFamily="0" charset="0"/>
                <a:cs typeface="Calibri" pitchFamily="0" charset="0"/>
              </a:rPr>
              <a:t>QAOA on IBM</a:t>
            </a:r>
            <a:endParaRPr lang="zh-CN" altLang="en-US" sz="1150" b="1" i="0" u="none" strike="noStrike" kern="1200" cap="none" spc="0" baseline="0">
              <a:solidFill>
                <a:srgbClr val="2E1B5B"/>
              </a:solidFill>
              <a:latin typeface="Calibri" pitchFamily="0" charset="0"/>
              <a:ea typeface="等线" pitchFamily="0" charset="0"/>
              <a:cs typeface="Calibri" pitchFamily="0" charset="0"/>
            </a:endParaRPr>
          </a:p>
        </p:txBody>
      </p:sp>
      <p:sp>
        <p:nvSpPr>
          <p:cNvPr id="165" name="矩形"/>
          <p:cNvSpPr>
            <a:spLocks/>
          </p:cNvSpPr>
          <p:nvPr/>
        </p:nvSpPr>
        <p:spPr>
          <a:xfrm rot="0">
            <a:off x="5550408" y="2505456"/>
            <a:ext cx="1143000" cy="2857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trained on a simulator</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166" name="右箭头"/>
          <p:cNvSpPr>
            <a:spLocks/>
          </p:cNvSpPr>
          <p:nvPr/>
        </p:nvSpPr>
        <p:spPr>
          <a:xfrm rot="0">
            <a:off x="6821424" y="2322576"/>
            <a:ext cx="164592" cy="201168"/>
          </a:xfrm>
          <a:prstGeom prst="rightArrow">
            <a:avLst>
              <a:gd name="adj1" fmla="val 50000"/>
              <a:gd name="adj2" fmla="val 40909"/>
            </a:avLst>
          </a:prstGeom>
          <a:solidFill>
            <a:srgbClr val="E8639F"/>
          </a:solidFill>
          <a:ln w="6350" cmpd="sng" cap="flat">
            <a:noFill/>
            <a:prstDash val="solid"/>
            <a:round/>
          </a:ln>
        </p:spPr>
      </p:sp>
      <p:sp>
        <p:nvSpPr>
          <p:cNvPr id="167" name="圆角矩形"/>
          <p:cNvSpPr>
            <a:spLocks/>
          </p:cNvSpPr>
          <p:nvPr/>
        </p:nvSpPr>
        <p:spPr>
          <a:xfrm rot="0">
            <a:off x="7004304" y="1938527"/>
            <a:ext cx="1353311" cy="960119"/>
          </a:xfrm>
          <a:prstGeom prst="roundRect">
            <a:avLst>
              <a:gd name="adj" fmla="val 8000"/>
            </a:avLst>
          </a:prstGeom>
          <a:solidFill>
            <a:srgbClr val="2E1B5B"/>
          </a:solidFill>
          <a:ln w="6350" cmpd="sng" cap="flat">
            <a:noFill/>
            <a:prstDash val="solid"/>
            <a:round/>
          </a:ln>
        </p:spPr>
      </p:sp>
      <p:sp>
        <p:nvSpPr>
          <p:cNvPr id="168" name="矩形"/>
          <p:cNvSpPr>
            <a:spLocks/>
          </p:cNvSpPr>
          <p:nvPr/>
        </p:nvSpPr>
        <p:spPr>
          <a:xfrm rot="0">
            <a:off x="7123176" y="2029968"/>
            <a:ext cx="1143000" cy="1428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1" i="0" u="none" strike="noStrike" kern="1200" cap="none" spc="0" baseline="0">
                <a:solidFill>
                  <a:srgbClr val="E8639F"/>
                </a:solidFill>
                <a:latin typeface="Calibri" pitchFamily="0" charset="0"/>
                <a:ea typeface="等线" pitchFamily="0" charset="0"/>
                <a:cs typeface="Calibri" pitchFamily="0" charset="0"/>
              </a:rPr>
              <a:t>05</a:t>
            </a:r>
            <a:endParaRPr lang="zh-CN" altLang="en-US" sz="1000" b="1" i="0" u="none" strike="noStrike" kern="1200" cap="none" spc="0" baseline="0">
              <a:solidFill>
                <a:srgbClr val="E8639F"/>
              </a:solidFill>
              <a:latin typeface="Calibri" pitchFamily="0" charset="0"/>
              <a:ea typeface="等线" pitchFamily="0" charset="0"/>
              <a:cs typeface="Calibri" pitchFamily="0" charset="0"/>
            </a:endParaRPr>
          </a:p>
        </p:txBody>
      </p:sp>
      <p:sp>
        <p:nvSpPr>
          <p:cNvPr id="169" name="矩形"/>
          <p:cNvSpPr>
            <a:spLocks/>
          </p:cNvSpPr>
          <p:nvPr/>
        </p:nvSpPr>
        <p:spPr>
          <a:xfrm rot="0">
            <a:off x="7123176" y="2231136"/>
            <a:ext cx="1143000"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50" b="1" i="0" u="none" strike="noStrike" kern="1200" cap="none" spc="0" baseline="0">
                <a:solidFill>
                  <a:srgbClr val="FFFFFF"/>
                </a:solidFill>
                <a:latin typeface="Calibri" pitchFamily="0" charset="0"/>
                <a:ea typeface="等线" pitchFamily="0" charset="0"/>
                <a:cs typeface="Calibri" pitchFamily="0" charset="0"/>
              </a:rPr>
              <a:t>Best plan</a:t>
            </a:r>
            <a:endParaRPr lang="zh-CN" altLang="en-US" sz="1150" b="1" i="0" u="none" strike="noStrike" kern="1200" cap="none" spc="0" baseline="0">
              <a:solidFill>
                <a:srgbClr val="FFFFFF"/>
              </a:solidFill>
              <a:latin typeface="Calibri" pitchFamily="0" charset="0"/>
              <a:ea typeface="等线" pitchFamily="0" charset="0"/>
              <a:cs typeface="Calibri" pitchFamily="0" charset="0"/>
            </a:endParaRPr>
          </a:p>
        </p:txBody>
      </p:sp>
      <p:sp>
        <p:nvSpPr>
          <p:cNvPr id="170" name="矩形"/>
          <p:cNvSpPr>
            <a:spLocks/>
          </p:cNvSpPr>
          <p:nvPr/>
        </p:nvSpPr>
        <p:spPr>
          <a:xfrm rot="0">
            <a:off x="7123176" y="2505456"/>
            <a:ext cx="1143000" cy="2857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CBD1F5"/>
                </a:solidFill>
                <a:latin typeface="Calibri" pitchFamily="0" charset="0"/>
                <a:ea typeface="等线" pitchFamily="0" charset="0"/>
                <a:cs typeface="Calibri" pitchFamily="0" charset="0"/>
              </a:rPr>
              <a:t>checked against all 256</a:t>
            </a:r>
            <a:endParaRPr lang="zh-CN" altLang="en-US" sz="1000" b="0" i="0" u="none" strike="noStrike" kern="1200" cap="none" spc="0" baseline="0">
              <a:solidFill>
                <a:srgbClr val="CBD1F5"/>
              </a:solidFill>
              <a:latin typeface="Calibri" pitchFamily="0" charset="0"/>
              <a:ea typeface="等线" pitchFamily="0" charset="0"/>
              <a:cs typeface="Calibri" pitchFamily="0" charset="0"/>
            </a:endParaRPr>
          </a:p>
        </p:txBody>
      </p:sp>
      <p:sp>
        <p:nvSpPr>
          <p:cNvPr id="171" name="圆角矩形"/>
          <p:cNvSpPr>
            <a:spLocks/>
          </p:cNvSpPr>
          <p:nvPr/>
        </p:nvSpPr>
        <p:spPr>
          <a:xfrm rot="0">
            <a:off x="713232" y="3127248"/>
            <a:ext cx="2487167" cy="1325880"/>
          </a:xfrm>
          <a:prstGeom prst="roundRect">
            <a:avLst>
              <a:gd name="adj" fmla="val 8000"/>
            </a:avLst>
          </a:prstGeom>
          <a:solidFill>
            <a:srgbClr val="FFFFFF"/>
          </a:solidFill>
          <a:ln w="9525" cmpd="sng" cap="flat">
            <a:solidFill>
              <a:srgbClr val="B8BDEB"/>
            </a:solidFill>
            <a:prstDash val="solid"/>
            <a:round/>
          </a:ln>
        </p:spPr>
      </p:sp>
      <p:sp>
        <p:nvSpPr>
          <p:cNvPr id="172" name="椭圆"/>
          <p:cNvSpPr>
            <a:spLocks/>
          </p:cNvSpPr>
          <p:nvPr/>
        </p:nvSpPr>
        <p:spPr>
          <a:xfrm rot="0">
            <a:off x="868680" y="3264408"/>
            <a:ext cx="347472" cy="347472"/>
          </a:xfrm>
          <a:prstGeom prst="ellipse"/>
          <a:solidFill>
            <a:srgbClr val="2E1B5B"/>
          </a:solidFill>
          <a:ln w="6350" cmpd="sng" cap="flat">
            <a:noFill/>
            <a:prstDash val="solid"/>
            <a:round/>
          </a:ln>
        </p:spPr>
      </p:sp>
      <p:pic>
        <p:nvPicPr>
          <p:cNvPr id="173" name="图片" descr="shield_w.png"/>
          <p:cNvPicPr>
            <a:picLocks noChangeAspect="1"/>
          </p:cNvPicPr>
          <p:nvPr/>
        </p:nvPicPr>
        <p:blipFill>
          <a:blip r:embed="rId1" cstate="print"/>
          <a:stretch>
            <a:fillRect/>
          </a:stretch>
        </p:blipFill>
        <p:spPr>
          <a:xfrm rot="0">
            <a:off x="952073" y="3347801"/>
            <a:ext cx="180684" cy="180685"/>
          </a:xfrm>
          <a:prstGeom prst="rect"/>
          <a:noFill/>
          <a:ln w="12700" cmpd="sng" cap="flat">
            <a:noFill/>
            <a:prstDash val="solid"/>
            <a:miter/>
          </a:ln>
        </p:spPr>
      </p:pic>
      <p:sp>
        <p:nvSpPr>
          <p:cNvPr id="174" name="矩形"/>
          <p:cNvSpPr>
            <a:spLocks/>
          </p:cNvSpPr>
          <p:nvPr/>
        </p:nvSpPr>
        <p:spPr>
          <a:xfrm rot="0">
            <a:off x="1307592" y="3342894"/>
            <a:ext cx="1783079" cy="190500"/>
          </a:xfrm>
          <a:prstGeom prst="rect"/>
          <a:noFill/>
          <a:ln w="12700" cmpd="sng" cap="flat">
            <a:noFill/>
            <a:prstDash val="solid"/>
            <a:miter/>
          </a:ln>
        </p:spPr>
        <p:txBody>
          <a:bodyPr vert="horz" wrap="square" lIns="0" tIns="0" rIns="0" bIns="0" anchor="ctr" anchorCtr="0">
            <a:prstTxWarp prst="textNoShape"/>
            <a:spAutoFit/>
          </a:bodyPr>
          <a:lstStyle/>
          <a:p>
            <a:pPr marL="0" indent="0" algn="l">
              <a:lnSpc>
                <a:spcPct val="100000"/>
              </a:lnSpc>
              <a:spcBef>
                <a:spcPts val="0"/>
              </a:spcBef>
              <a:spcAft>
                <a:spcPts val="0"/>
              </a:spcAft>
              <a:buNone/>
            </a:pPr>
            <a:r>
              <a:rPr lang="en-US" altLang="zh-CN" sz="1250" b="1" i="0" u="none" strike="noStrike" kern="1200" cap="none" spc="0" baseline="0">
                <a:solidFill>
                  <a:srgbClr val="2E1B5B"/>
                </a:solidFill>
                <a:latin typeface="Calibri" pitchFamily="0" charset="0"/>
                <a:ea typeface="等线" pitchFamily="0" charset="0"/>
                <a:cs typeface="Calibri" pitchFamily="0" charset="0"/>
              </a:rPr>
              <a:t>Quantum advantage</a:t>
            </a:r>
            <a:endParaRPr lang="zh-CN" altLang="en-US" sz="1250" b="1" i="0" u="none" strike="noStrike" kern="1200" cap="none" spc="0" baseline="0">
              <a:solidFill>
                <a:srgbClr val="2E1B5B"/>
              </a:solidFill>
              <a:latin typeface="Calibri" pitchFamily="0" charset="0"/>
              <a:ea typeface="等线" pitchFamily="0" charset="0"/>
              <a:cs typeface="Calibri" pitchFamily="0" charset="0"/>
            </a:endParaRPr>
          </a:p>
        </p:txBody>
      </p:sp>
      <p:sp>
        <p:nvSpPr>
          <p:cNvPr id="175" name="矩形"/>
          <p:cNvSpPr>
            <a:spLocks/>
          </p:cNvSpPr>
          <p:nvPr/>
        </p:nvSpPr>
        <p:spPr>
          <a:xfrm rot="0">
            <a:off x="868680" y="3703319"/>
            <a:ext cx="2194560" cy="4857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6F7399"/>
                </a:solidFill>
                <a:latin typeface="Calibri" pitchFamily="0" charset="0"/>
                <a:ea typeface="等线" pitchFamily="0" charset="0"/>
                <a:cs typeface="Calibri" pitchFamily="0" charset="0"/>
              </a:rPr>
              <a:t>Not claimed at this size. A laptop checks all 256 plans in about 1 ms, so it is our referee.</a:t>
            </a:r>
            <a:endParaRPr lang="zh-CN" altLang="en-US" sz="1050" b="0" i="0" u="none" strike="noStrike" kern="1200" cap="none" spc="0" baseline="0">
              <a:solidFill>
                <a:srgbClr val="6F7399"/>
              </a:solidFill>
              <a:latin typeface="Calibri" pitchFamily="0" charset="0"/>
              <a:ea typeface="等线" pitchFamily="0" charset="0"/>
              <a:cs typeface="Calibri" pitchFamily="0" charset="0"/>
            </a:endParaRPr>
          </a:p>
        </p:txBody>
      </p:sp>
      <p:sp>
        <p:nvSpPr>
          <p:cNvPr id="176" name="圆角矩形"/>
          <p:cNvSpPr>
            <a:spLocks/>
          </p:cNvSpPr>
          <p:nvPr/>
        </p:nvSpPr>
        <p:spPr>
          <a:xfrm rot="0">
            <a:off x="3337560" y="3127248"/>
            <a:ext cx="2487167" cy="1325880"/>
          </a:xfrm>
          <a:prstGeom prst="roundRect">
            <a:avLst>
              <a:gd name="adj" fmla="val 8000"/>
            </a:avLst>
          </a:prstGeom>
          <a:solidFill>
            <a:srgbClr val="FFFFFF"/>
          </a:solidFill>
          <a:ln w="9525" cmpd="sng" cap="flat">
            <a:solidFill>
              <a:srgbClr val="B8BDEB"/>
            </a:solidFill>
            <a:prstDash val="solid"/>
            <a:round/>
          </a:ln>
        </p:spPr>
      </p:sp>
      <p:sp>
        <p:nvSpPr>
          <p:cNvPr id="177" name="矩形"/>
          <p:cNvSpPr>
            <a:spLocks/>
          </p:cNvSpPr>
          <p:nvPr/>
        </p:nvSpPr>
        <p:spPr>
          <a:xfrm rot="0">
            <a:off x="3493008" y="3200400"/>
            <a:ext cx="2194560" cy="3905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600" b="1" i="0" u="none" strike="noStrike" kern="1200" cap="none" spc="0" baseline="0">
                <a:solidFill>
                  <a:srgbClr val="E8639F"/>
                </a:solidFill>
                <a:latin typeface="Georgia" pitchFamily="0" charset="0"/>
                <a:ea typeface="等线" pitchFamily="0" charset="0"/>
                <a:cs typeface="Calibri" pitchFamily="0" charset="0"/>
              </a:rPr>
              <a:t>≈2×</a:t>
            </a:r>
            <a:endParaRPr lang="zh-CN" altLang="en-US" sz="2600" b="1" i="0" u="none" strike="noStrike" kern="1200" cap="none" spc="0" baseline="0">
              <a:solidFill>
                <a:srgbClr val="E8639F"/>
              </a:solidFill>
              <a:latin typeface="Georgia" pitchFamily="0" charset="0"/>
              <a:ea typeface="等线" pitchFamily="0" charset="0"/>
              <a:cs typeface="Calibri" pitchFamily="0" charset="0"/>
            </a:endParaRPr>
          </a:p>
        </p:txBody>
      </p:sp>
      <p:sp>
        <p:nvSpPr>
          <p:cNvPr id="178" name="矩形"/>
          <p:cNvSpPr>
            <a:spLocks/>
          </p:cNvSpPr>
          <p:nvPr/>
        </p:nvSpPr>
        <p:spPr>
          <a:xfrm rot="0">
            <a:off x="3493008" y="3703319"/>
            <a:ext cx="2194560" cy="4857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6F7399"/>
                </a:solidFill>
                <a:latin typeface="Calibri" pitchFamily="0" charset="0"/>
                <a:ea typeface="等线" pitchFamily="0" charset="0"/>
                <a:cs typeface="Calibri" pitchFamily="0" charset="0"/>
              </a:rPr>
              <a:t>more shots in the best 10% of plans than random guessing on ibm_marrakesh (18–23% vs 10%)</a:t>
            </a:r>
            <a:endParaRPr lang="zh-CN" altLang="en-US" sz="1050" b="0" i="0" u="none" strike="noStrike" kern="1200" cap="none" spc="0" baseline="0">
              <a:solidFill>
                <a:srgbClr val="6F7399"/>
              </a:solidFill>
              <a:latin typeface="Calibri" pitchFamily="0" charset="0"/>
              <a:ea typeface="等线" pitchFamily="0" charset="0"/>
              <a:cs typeface="Calibri" pitchFamily="0" charset="0"/>
            </a:endParaRPr>
          </a:p>
        </p:txBody>
      </p:sp>
      <p:sp>
        <p:nvSpPr>
          <p:cNvPr id="179" name="圆角矩形"/>
          <p:cNvSpPr>
            <a:spLocks/>
          </p:cNvSpPr>
          <p:nvPr/>
        </p:nvSpPr>
        <p:spPr>
          <a:xfrm rot="0">
            <a:off x="5961887" y="3127248"/>
            <a:ext cx="2487167" cy="1325880"/>
          </a:xfrm>
          <a:prstGeom prst="roundRect">
            <a:avLst>
              <a:gd name="adj" fmla="val 8000"/>
            </a:avLst>
          </a:prstGeom>
          <a:solidFill>
            <a:srgbClr val="FFFFFF"/>
          </a:solidFill>
          <a:ln w="9525" cmpd="sng" cap="flat">
            <a:solidFill>
              <a:srgbClr val="B8BDEB"/>
            </a:solidFill>
            <a:prstDash val="solid"/>
            <a:round/>
          </a:ln>
        </p:spPr>
      </p:sp>
      <p:sp>
        <p:nvSpPr>
          <p:cNvPr id="180" name="椭圆"/>
          <p:cNvSpPr>
            <a:spLocks/>
          </p:cNvSpPr>
          <p:nvPr/>
        </p:nvSpPr>
        <p:spPr>
          <a:xfrm rot="0">
            <a:off x="6117336" y="3264408"/>
            <a:ext cx="347471" cy="347472"/>
          </a:xfrm>
          <a:prstGeom prst="ellipse"/>
          <a:solidFill>
            <a:srgbClr val="5B3BA8"/>
          </a:solidFill>
          <a:ln w="6350" cmpd="sng" cap="flat">
            <a:noFill/>
            <a:prstDash val="solid"/>
            <a:round/>
          </a:ln>
        </p:spPr>
      </p:sp>
      <p:pic>
        <p:nvPicPr>
          <p:cNvPr id="181" name="图片" descr="layers_w.png"/>
          <p:cNvPicPr>
            <a:picLocks noChangeAspect="1"/>
          </p:cNvPicPr>
          <p:nvPr/>
        </p:nvPicPr>
        <p:blipFill>
          <a:blip r:embed="rId2" cstate="print"/>
          <a:stretch>
            <a:fillRect/>
          </a:stretch>
        </p:blipFill>
        <p:spPr>
          <a:xfrm rot="0">
            <a:off x="6200729" y="3347801"/>
            <a:ext cx="180685" cy="180685"/>
          </a:xfrm>
          <a:prstGeom prst="rect"/>
          <a:noFill/>
          <a:ln w="12700" cmpd="sng" cap="flat">
            <a:noFill/>
            <a:prstDash val="solid"/>
            <a:miter/>
          </a:ln>
        </p:spPr>
      </p:pic>
      <p:sp>
        <p:nvSpPr>
          <p:cNvPr id="182" name="矩形"/>
          <p:cNvSpPr>
            <a:spLocks/>
          </p:cNvSpPr>
          <p:nvPr/>
        </p:nvSpPr>
        <p:spPr>
          <a:xfrm rot="0">
            <a:off x="6556248" y="3342894"/>
            <a:ext cx="1783080" cy="190500"/>
          </a:xfrm>
          <a:prstGeom prst="rect"/>
          <a:noFill/>
          <a:ln w="12700" cmpd="sng" cap="flat">
            <a:noFill/>
            <a:prstDash val="solid"/>
            <a:miter/>
          </a:ln>
        </p:spPr>
        <p:txBody>
          <a:bodyPr vert="horz" wrap="square" lIns="0" tIns="0" rIns="0" bIns="0" anchor="ctr" anchorCtr="0">
            <a:prstTxWarp prst="textNoShape"/>
            <a:spAutoFit/>
          </a:bodyPr>
          <a:lstStyle/>
          <a:p>
            <a:pPr marL="0" indent="0" algn="l">
              <a:lnSpc>
                <a:spcPct val="100000"/>
              </a:lnSpc>
              <a:spcBef>
                <a:spcPts val="0"/>
              </a:spcBef>
              <a:spcAft>
                <a:spcPts val="0"/>
              </a:spcAft>
              <a:buNone/>
            </a:pPr>
            <a:r>
              <a:rPr lang="en-US" altLang="zh-CN" sz="1250" b="1" i="0" u="none" strike="noStrike" kern="1200" cap="none" spc="0" baseline="0">
                <a:solidFill>
                  <a:srgbClr val="2E1B5B"/>
                </a:solidFill>
                <a:latin typeface="Calibri" pitchFamily="0" charset="0"/>
                <a:ea typeface="等线" pitchFamily="0" charset="0"/>
                <a:cs typeface="Calibri" pitchFamily="0" charset="0"/>
              </a:rPr>
              <a:t>Path to scale</a:t>
            </a:r>
            <a:endParaRPr lang="zh-CN" altLang="en-US" sz="1250" b="1" i="0" u="none" strike="noStrike" kern="1200" cap="none" spc="0" baseline="0">
              <a:solidFill>
                <a:srgbClr val="2E1B5B"/>
              </a:solidFill>
              <a:latin typeface="Calibri" pitchFamily="0" charset="0"/>
              <a:ea typeface="等线" pitchFamily="0" charset="0"/>
              <a:cs typeface="Calibri" pitchFamily="0" charset="0"/>
            </a:endParaRPr>
          </a:p>
        </p:txBody>
      </p:sp>
      <p:sp>
        <p:nvSpPr>
          <p:cNvPr id="183" name="矩形"/>
          <p:cNvSpPr>
            <a:spLocks/>
          </p:cNvSpPr>
          <p:nvPr/>
        </p:nvSpPr>
        <p:spPr>
          <a:xfrm rot="0">
            <a:off x="6117336" y="3703319"/>
            <a:ext cx="2194560" cy="3238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6F7399"/>
                </a:solidFill>
                <a:latin typeface="Calibri" pitchFamily="0" charset="0"/>
                <a:ea typeface="等线" pitchFamily="0" charset="0"/>
                <a:cs typeface="Calibri" pitchFamily="0" charset="0"/>
              </a:rPr>
              <a:t>Qubits grow linearly: 2 per job. Bigger fleets need better hardware.</a:t>
            </a:r>
            <a:endParaRPr lang="zh-CN" altLang="en-US" sz="1050" b="0" i="0" u="none" strike="noStrike" kern="1200" cap="none" spc="0" baseline="0">
              <a:solidFill>
                <a:srgbClr val="6F739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347535783"/>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rgbClr val="DDE2FC"/>
        </a:solidFill>
      </p:bgPr>
    </p:bg>
    <p:spTree>
      <p:nvGrpSpPr>
        <p:cNvPr id="1" name=""/>
        <p:cNvGrpSpPr/>
        <p:nvPr/>
      </p:nvGrpSpPr>
      <p:grpSpPr>
        <a:xfrm>
          <a:off x="0" y="0"/>
          <a:ext cx="0" cy="0"/>
          <a:chOff x="0" y="0"/>
          <a:chExt cx="0" cy="0"/>
        </a:xfrm>
      </p:grpSpPr>
      <p:sp>
        <p:nvSpPr>
          <p:cNvPr id="186" name="文本框"/>
          <p:cNvSpPr>
            <a:spLocks noGrp="1"/>
          </p:cNvSpPr>
          <p:nvPr>
            <p:ph type="title"/>
          </p:nvPr>
        </p:nvSpPr>
        <p:spPr>
          <a:xfrm rot="0">
            <a:off x="457200" y="841248"/>
            <a:ext cx="630936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600" b="1" i="0" u="none" strike="noStrike" kern="1200" cap="none" spc="0" baseline="0">
                <a:solidFill>
                  <a:srgbClr val="2E1B5B"/>
                </a:solidFill>
                <a:latin typeface="Georgia" pitchFamily="0" charset="0"/>
                <a:ea typeface="Georgia" pitchFamily="0" charset="0"/>
                <a:cs typeface="Georgia" pitchFamily="0" charset="0"/>
              </a:rPr>
              <a:t>Algorithm &amp; Circuit Design</a:t>
            </a:r>
            <a:endParaRPr lang="zh-CN" altLang="en-US" sz="2600" b="1" i="0" u="none" strike="noStrike" kern="1200" cap="none" spc="0" baseline="0">
              <a:solidFill>
                <a:srgbClr val="2E1B5B"/>
              </a:solidFill>
              <a:latin typeface="Georgia" pitchFamily="0" charset="0"/>
              <a:ea typeface="Georgia" pitchFamily="0" charset="0"/>
              <a:cs typeface="Georgia" pitchFamily="0" charset="0"/>
            </a:endParaRPr>
          </a:p>
        </p:txBody>
      </p:sp>
      <p:sp>
        <p:nvSpPr>
          <p:cNvPr id="187" name="矩形"/>
          <p:cNvSpPr>
            <a:spLocks/>
          </p:cNvSpPr>
          <p:nvPr/>
        </p:nvSpPr>
        <p:spPr>
          <a:xfrm rot="0">
            <a:off x="457200" y="1463040"/>
            <a:ext cx="256031" cy="45720"/>
          </a:xfrm>
          <a:prstGeom prst="rect"/>
          <a:solidFill>
            <a:srgbClr val="7C93F0"/>
          </a:solidFill>
          <a:ln w="12700" cmpd="sng" cap="flat">
            <a:solidFill>
              <a:srgbClr val="7C93F0"/>
            </a:solidFill>
            <a:prstDash val="solid"/>
            <a:round/>
          </a:ln>
        </p:spPr>
      </p:sp>
      <p:sp>
        <p:nvSpPr>
          <p:cNvPr id="188" name="矩形"/>
          <p:cNvSpPr>
            <a:spLocks/>
          </p:cNvSpPr>
          <p:nvPr/>
        </p:nvSpPr>
        <p:spPr>
          <a:xfrm rot="0">
            <a:off x="731520" y="1463040"/>
            <a:ext cx="256031" cy="45720"/>
          </a:xfrm>
          <a:prstGeom prst="rect"/>
          <a:solidFill>
            <a:srgbClr val="E8639F"/>
          </a:solidFill>
          <a:ln w="12700" cmpd="sng" cap="flat">
            <a:solidFill>
              <a:srgbClr val="E8639F"/>
            </a:solidFill>
            <a:prstDash val="solid"/>
            <a:round/>
          </a:ln>
        </p:spPr>
      </p:sp>
      <p:sp>
        <p:nvSpPr>
          <p:cNvPr id="189" name="矩形"/>
          <p:cNvSpPr>
            <a:spLocks/>
          </p:cNvSpPr>
          <p:nvPr/>
        </p:nvSpPr>
        <p:spPr>
          <a:xfrm rot="0">
            <a:off x="1005839" y="1463040"/>
            <a:ext cx="256031" cy="45720"/>
          </a:xfrm>
          <a:prstGeom prst="rect"/>
          <a:solidFill>
            <a:srgbClr val="5B3BA8"/>
          </a:solidFill>
          <a:ln w="12700" cmpd="sng" cap="flat">
            <a:solidFill>
              <a:srgbClr val="5B3BA8"/>
            </a:solidFill>
            <a:prstDash val="solid"/>
            <a:round/>
          </a:ln>
        </p:spPr>
      </p:sp>
      <p:sp>
        <p:nvSpPr>
          <p:cNvPr id="190" name="圆角矩形"/>
          <p:cNvSpPr>
            <a:spLocks/>
          </p:cNvSpPr>
          <p:nvPr/>
        </p:nvSpPr>
        <p:spPr>
          <a:xfrm rot="0">
            <a:off x="457200" y="1691639"/>
            <a:ext cx="4937760" cy="2926080"/>
          </a:xfrm>
          <a:prstGeom prst="roundRect">
            <a:avLst>
              <a:gd name="adj" fmla="val 2500"/>
            </a:avLst>
          </a:prstGeom>
          <a:solidFill>
            <a:srgbClr val="FFFFFF"/>
          </a:solidFill>
          <a:ln w="9525" cmpd="sng" cap="flat">
            <a:solidFill>
              <a:srgbClr val="B8BDEB"/>
            </a:solidFill>
            <a:prstDash val="solid"/>
            <a:round/>
          </a:ln>
        </p:spPr>
      </p:sp>
      <p:sp>
        <p:nvSpPr>
          <p:cNvPr id="191" name="圆角矩形"/>
          <p:cNvSpPr>
            <a:spLocks/>
          </p:cNvSpPr>
          <p:nvPr/>
        </p:nvSpPr>
        <p:spPr>
          <a:xfrm rot="0">
            <a:off x="5577840" y="1691639"/>
            <a:ext cx="3108960" cy="2926080"/>
          </a:xfrm>
          <a:prstGeom prst="roundRect">
            <a:avLst>
              <a:gd name="adj" fmla="val 2500"/>
            </a:avLst>
          </a:prstGeom>
          <a:solidFill>
            <a:srgbClr val="FFFFFF"/>
          </a:solidFill>
          <a:ln w="9525" cmpd="sng" cap="flat">
            <a:solidFill>
              <a:srgbClr val="B8BDEB"/>
            </a:solidFill>
            <a:prstDash val="solid"/>
            <a:round/>
          </a:ln>
        </p:spPr>
      </p:sp>
      <p:sp>
        <p:nvSpPr>
          <p:cNvPr id="192" name="矩形"/>
          <p:cNvSpPr>
            <a:spLocks/>
          </p:cNvSpPr>
          <p:nvPr/>
        </p:nvSpPr>
        <p:spPr>
          <a:xfrm rot="0">
            <a:off x="5806440" y="1691639"/>
            <a:ext cx="822959" cy="54863"/>
          </a:xfrm>
          <a:prstGeom prst="rect"/>
          <a:solidFill>
            <a:srgbClr val="7C93F0"/>
          </a:solidFill>
          <a:ln w="12700" cmpd="sng" cap="flat">
            <a:solidFill>
              <a:srgbClr val="7C93F0"/>
            </a:solidFill>
            <a:prstDash val="solid"/>
            <a:round/>
          </a:ln>
        </p:spPr>
      </p:sp>
      <p:sp>
        <p:nvSpPr>
          <p:cNvPr id="193" name="文本框"/>
          <p:cNvSpPr>
            <a:spLocks noGrp="1"/>
          </p:cNvSpPr>
          <p:nvPr>
            <p:ph type="sldNum"/>
          </p:nvPr>
        </p:nvSpPr>
        <p:spPr>
          <a:xfrm rot="0">
            <a:off x="8321040" y="4864608"/>
            <a:ext cx="365759" cy="274319"/>
          </a:xfrm>
          <a:prstGeom prst="rect"/>
          <a:noFill/>
          <a:ln cmpd="sng" cap="flat">
            <a:noFill/>
            <a:prstDash val="solid"/>
            <a:miter/>
          </a:ln>
        </p:spPr>
        <p:txBody>
          <a:bodyPr vert="horz" wrap="non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900" b="1" i="0" u="none" strike="noStrike" kern="1200" cap="none" spc="0" baseline="0">
                <a:solidFill>
                  <a:srgbClr val="2E1B5B"/>
                </a:solidFill>
                <a:latin typeface="Calibri" pitchFamily="0" charset="0"/>
                <a:ea typeface="等线" pitchFamily="0" charset="0"/>
                <a:cs typeface="Calibri" pitchFamily="0" charset="0"/>
              </a:rPr>
              <a:t>5</a:t>
            </a:fld>
            <a:endParaRPr lang="zh-CN" altLang="en-US" sz="900" b="0" i="0" u="none" strike="noStrike" kern="1200" cap="none" spc="0" baseline="0">
              <a:solidFill>
                <a:srgbClr val="2E1B5B"/>
              </a:solidFill>
              <a:latin typeface="Calibri" pitchFamily="0" charset="0"/>
              <a:ea typeface="等线" pitchFamily="0" charset="0"/>
              <a:cs typeface="Calibri" pitchFamily="0" charset="0"/>
            </a:endParaRPr>
          </a:p>
        </p:txBody>
      </p:sp>
      <p:pic>
        <p:nvPicPr>
          <p:cNvPr id="194" name="图片" descr="circuit.png"/>
          <p:cNvPicPr>
            <a:picLocks noChangeAspect="1"/>
          </p:cNvPicPr>
          <p:nvPr/>
        </p:nvPicPr>
        <p:blipFill>
          <a:blip r:embed="rId1" cstate="print"/>
          <a:stretch>
            <a:fillRect/>
          </a:stretch>
        </p:blipFill>
        <p:spPr>
          <a:xfrm rot="0">
            <a:off x="640080" y="1901951"/>
            <a:ext cx="4572000" cy="1939459"/>
          </a:xfrm>
          <a:prstGeom prst="rect"/>
          <a:noFill/>
          <a:ln w="12700" cmpd="sng" cap="flat">
            <a:noFill/>
            <a:prstDash val="solid"/>
            <a:miter/>
          </a:ln>
        </p:spPr>
      </p:pic>
      <p:sp>
        <p:nvSpPr>
          <p:cNvPr id="195" name="矩形"/>
          <p:cNvSpPr>
            <a:spLocks/>
          </p:cNvSpPr>
          <p:nvPr/>
        </p:nvSpPr>
        <p:spPr>
          <a:xfrm rot="0">
            <a:off x="640080" y="4005072"/>
            <a:ext cx="4572000" cy="2857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The real 8-qubit QAOA circuit (p = 1): Hadamards → cost layer e^(−iγH) → mixer Rx(2β) → measure. Two qubits per job.</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196" name="矩形"/>
          <p:cNvSpPr>
            <a:spLocks/>
          </p:cNvSpPr>
          <p:nvPr/>
        </p:nvSpPr>
        <p:spPr>
          <a:xfrm rot="0">
            <a:off x="5806440" y="1901951"/>
            <a:ext cx="2697479" cy="1143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850" b="1" i="0" u="none" strike="noStrike" kern="1200" cap="none" spc="80" baseline="0">
                <a:solidFill>
                  <a:srgbClr val="5B3BA8"/>
                </a:solidFill>
                <a:latin typeface="Calibri" pitchFamily="0" charset="0"/>
                <a:ea typeface="等线" pitchFamily="0" charset="0"/>
                <a:cs typeface="Calibri" pitchFamily="0" charset="0"/>
              </a:rPr>
              <a:t>QUBITS</a:t>
            </a:r>
            <a:endParaRPr lang="zh-CN" altLang="en-US" sz="850" b="1" i="0" u="none" strike="noStrike" kern="1200" cap="none" spc="80" baseline="0">
              <a:solidFill>
                <a:srgbClr val="5B3BA8"/>
              </a:solidFill>
              <a:latin typeface="Calibri" pitchFamily="0" charset="0"/>
              <a:ea typeface="等线" pitchFamily="0" charset="0"/>
              <a:cs typeface="Calibri" pitchFamily="0" charset="0"/>
            </a:endParaRPr>
          </a:p>
        </p:txBody>
      </p:sp>
      <p:sp>
        <p:nvSpPr>
          <p:cNvPr id="197" name="矩形"/>
          <p:cNvSpPr>
            <a:spLocks/>
          </p:cNvSpPr>
          <p:nvPr/>
        </p:nvSpPr>
        <p:spPr>
          <a:xfrm rot="0">
            <a:off x="5806440" y="2075688"/>
            <a:ext cx="2697479"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50" b="0" i="0" u="none" strike="noStrike" kern="1200" cap="none" spc="0" baseline="0">
                <a:solidFill>
                  <a:srgbClr val="2E1B5B"/>
                </a:solidFill>
                <a:latin typeface="Calibri" pitchFamily="0" charset="0"/>
                <a:ea typeface="等线" pitchFamily="0" charset="0"/>
                <a:cs typeface="Calibri" pitchFamily="0" charset="0"/>
              </a:rPr>
              <a:t>8 · a where + when bit per job</a:t>
            </a:r>
            <a:endParaRPr lang="zh-CN" altLang="en-US" sz="1150" b="0" i="0" u="none" strike="noStrike" kern="1200" cap="none" spc="0" baseline="0">
              <a:solidFill>
                <a:srgbClr val="2E1B5B"/>
              </a:solidFill>
              <a:latin typeface="Calibri" pitchFamily="0" charset="0"/>
              <a:ea typeface="等线" pitchFamily="0" charset="0"/>
              <a:cs typeface="Calibri" pitchFamily="0" charset="0"/>
            </a:endParaRPr>
          </a:p>
        </p:txBody>
      </p:sp>
      <p:sp>
        <p:nvSpPr>
          <p:cNvPr id="198" name="矩形"/>
          <p:cNvSpPr>
            <a:spLocks/>
          </p:cNvSpPr>
          <p:nvPr/>
        </p:nvSpPr>
        <p:spPr>
          <a:xfrm rot="0">
            <a:off x="5806440" y="2331720"/>
            <a:ext cx="2697479" cy="114299"/>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850" b="1" i="0" u="none" strike="noStrike" kern="1200" cap="none" spc="80" baseline="0">
                <a:solidFill>
                  <a:srgbClr val="5B3BA8"/>
                </a:solidFill>
                <a:latin typeface="Calibri" pitchFamily="0" charset="0"/>
                <a:ea typeface="等线" pitchFamily="0" charset="0"/>
                <a:cs typeface="Calibri" pitchFamily="0" charset="0"/>
              </a:rPr>
              <a:t>COST HAMILTONIAN</a:t>
            </a:r>
            <a:endParaRPr lang="zh-CN" altLang="en-US" sz="850" b="1" i="0" u="none" strike="noStrike" kern="1200" cap="none" spc="80" baseline="0">
              <a:solidFill>
                <a:srgbClr val="5B3BA8"/>
              </a:solidFill>
              <a:latin typeface="Calibri" pitchFamily="0" charset="0"/>
              <a:ea typeface="等线" pitchFamily="0" charset="0"/>
              <a:cs typeface="Calibri" pitchFamily="0" charset="0"/>
            </a:endParaRPr>
          </a:p>
        </p:txBody>
      </p:sp>
      <p:sp>
        <p:nvSpPr>
          <p:cNvPr id="199" name="矩形"/>
          <p:cNvSpPr>
            <a:spLocks/>
          </p:cNvSpPr>
          <p:nvPr/>
        </p:nvSpPr>
        <p:spPr>
          <a:xfrm rot="0">
            <a:off x="5806440" y="2505456"/>
            <a:ext cx="2697479"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50" b="0" i="0" u="none" strike="noStrike" kern="1200" cap="none" spc="0" baseline="0">
                <a:solidFill>
                  <a:srgbClr val="2E1B5B"/>
                </a:solidFill>
                <a:latin typeface="Calibri" pitchFamily="0" charset="0"/>
                <a:ea typeface="等线" pitchFamily="0" charset="0"/>
                <a:cs typeface="Calibri" pitchFamily="0" charset="0"/>
              </a:rPr>
              <a:t>31 Pauli terms, tested on all 256</a:t>
            </a:r>
            <a:endParaRPr lang="zh-CN" altLang="en-US" sz="1150" b="0" i="0" u="none" strike="noStrike" kern="1200" cap="none" spc="0" baseline="0">
              <a:solidFill>
                <a:srgbClr val="2E1B5B"/>
              </a:solidFill>
              <a:latin typeface="Calibri" pitchFamily="0" charset="0"/>
              <a:ea typeface="等线" pitchFamily="0" charset="0"/>
              <a:cs typeface="Calibri" pitchFamily="0" charset="0"/>
            </a:endParaRPr>
          </a:p>
        </p:txBody>
      </p:sp>
      <p:sp>
        <p:nvSpPr>
          <p:cNvPr id="200" name="矩形"/>
          <p:cNvSpPr>
            <a:spLocks/>
          </p:cNvSpPr>
          <p:nvPr/>
        </p:nvSpPr>
        <p:spPr>
          <a:xfrm rot="0">
            <a:off x="5806440" y="2761488"/>
            <a:ext cx="2697479" cy="1143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850" b="1" i="0" u="none" strike="noStrike" kern="1200" cap="none" spc="80" baseline="0">
                <a:solidFill>
                  <a:srgbClr val="5B3BA8"/>
                </a:solidFill>
                <a:latin typeface="Calibri" pitchFamily="0" charset="0"/>
                <a:ea typeface="等线" pitchFamily="0" charset="0"/>
                <a:cs typeface="Calibri" pitchFamily="0" charset="0"/>
              </a:rPr>
              <a:t>TRAINING</a:t>
            </a:r>
            <a:endParaRPr lang="zh-CN" altLang="en-US" sz="850" b="1" i="0" u="none" strike="noStrike" kern="1200" cap="none" spc="80" baseline="0">
              <a:solidFill>
                <a:srgbClr val="5B3BA8"/>
              </a:solidFill>
              <a:latin typeface="Calibri" pitchFamily="0" charset="0"/>
              <a:ea typeface="等线" pitchFamily="0" charset="0"/>
              <a:cs typeface="Calibri" pitchFamily="0" charset="0"/>
            </a:endParaRPr>
          </a:p>
        </p:txBody>
      </p:sp>
      <p:sp>
        <p:nvSpPr>
          <p:cNvPr id="201" name="矩形"/>
          <p:cNvSpPr>
            <a:spLocks/>
          </p:cNvSpPr>
          <p:nvPr/>
        </p:nvSpPr>
        <p:spPr>
          <a:xfrm rot="0">
            <a:off x="5806440" y="2935223"/>
            <a:ext cx="2697479"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50" b="0" i="0" u="none" strike="noStrike" kern="1200" cap="none" spc="0" baseline="0">
                <a:solidFill>
                  <a:srgbClr val="2E1B5B"/>
                </a:solidFill>
                <a:latin typeface="Calibri" pitchFamily="0" charset="0"/>
                <a:ea typeface="等线" pitchFamily="0" charset="0"/>
                <a:cs typeface="Calibri" pitchFamily="0" charset="0"/>
              </a:rPr>
              <a:t>CVaR + COBYLA on a simulator</a:t>
            </a:r>
            <a:endParaRPr lang="zh-CN" altLang="en-US" sz="1150" b="0" i="0" u="none" strike="noStrike" kern="1200" cap="none" spc="0" baseline="0">
              <a:solidFill>
                <a:srgbClr val="2E1B5B"/>
              </a:solidFill>
              <a:latin typeface="Calibri" pitchFamily="0" charset="0"/>
              <a:ea typeface="等线" pitchFamily="0" charset="0"/>
              <a:cs typeface="Calibri" pitchFamily="0" charset="0"/>
            </a:endParaRPr>
          </a:p>
        </p:txBody>
      </p:sp>
      <p:sp>
        <p:nvSpPr>
          <p:cNvPr id="202" name="矩形"/>
          <p:cNvSpPr>
            <a:spLocks/>
          </p:cNvSpPr>
          <p:nvPr/>
        </p:nvSpPr>
        <p:spPr>
          <a:xfrm rot="0">
            <a:off x="5806440" y="3191256"/>
            <a:ext cx="2697479" cy="1143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850" b="1" i="0" u="none" strike="noStrike" kern="1200" cap="none" spc="80" baseline="0">
                <a:solidFill>
                  <a:srgbClr val="5B3BA8"/>
                </a:solidFill>
                <a:latin typeface="Calibri" pitchFamily="0" charset="0"/>
                <a:ea typeface="等线" pitchFamily="0" charset="0"/>
                <a:cs typeface="Calibri" pitchFamily="0" charset="0"/>
              </a:rPr>
              <a:t>ANGLES (BALANCED)</a:t>
            </a:r>
            <a:endParaRPr lang="zh-CN" altLang="en-US" sz="850" b="1" i="0" u="none" strike="noStrike" kern="1200" cap="none" spc="80" baseline="0">
              <a:solidFill>
                <a:srgbClr val="5B3BA8"/>
              </a:solidFill>
              <a:latin typeface="Calibri" pitchFamily="0" charset="0"/>
              <a:ea typeface="等线" pitchFamily="0" charset="0"/>
              <a:cs typeface="Calibri" pitchFamily="0" charset="0"/>
            </a:endParaRPr>
          </a:p>
        </p:txBody>
      </p:sp>
      <p:sp>
        <p:nvSpPr>
          <p:cNvPr id="203" name="矩形"/>
          <p:cNvSpPr>
            <a:spLocks/>
          </p:cNvSpPr>
          <p:nvPr/>
        </p:nvSpPr>
        <p:spPr>
          <a:xfrm rot="0">
            <a:off x="5806440" y="3364992"/>
            <a:ext cx="2697479"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50" b="0" i="0" u="none" strike="noStrike" kern="1200" cap="none" spc="0" baseline="0">
                <a:solidFill>
                  <a:srgbClr val="2E1B5B"/>
                </a:solidFill>
                <a:latin typeface="Calibri" pitchFamily="0" charset="0"/>
                <a:ea typeface="等线" pitchFamily="0" charset="0"/>
                <a:cs typeface="Calibri" pitchFamily="0" charset="0"/>
              </a:rPr>
              <a:t>γ = 0.321 · β = 2.877</a:t>
            </a:r>
            <a:endParaRPr lang="zh-CN" altLang="en-US" sz="1150" b="0" i="0" u="none" strike="noStrike" kern="1200" cap="none" spc="0" baseline="0">
              <a:solidFill>
                <a:srgbClr val="2E1B5B"/>
              </a:solidFill>
              <a:latin typeface="Calibri" pitchFamily="0" charset="0"/>
              <a:ea typeface="等线" pitchFamily="0" charset="0"/>
              <a:cs typeface="Calibri" pitchFamily="0" charset="0"/>
            </a:endParaRPr>
          </a:p>
        </p:txBody>
      </p:sp>
      <p:sp>
        <p:nvSpPr>
          <p:cNvPr id="204" name="矩形"/>
          <p:cNvSpPr>
            <a:spLocks/>
          </p:cNvSpPr>
          <p:nvPr/>
        </p:nvSpPr>
        <p:spPr>
          <a:xfrm rot="0">
            <a:off x="5806440" y="3621024"/>
            <a:ext cx="2697479" cy="1143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850" b="1" i="0" u="none" strike="noStrike" kern="1200" cap="none" spc="80" baseline="0">
                <a:solidFill>
                  <a:srgbClr val="5B3BA8"/>
                </a:solidFill>
                <a:latin typeface="Calibri" pitchFamily="0" charset="0"/>
                <a:ea typeface="等线" pitchFamily="0" charset="0"/>
                <a:cs typeface="Calibri" pitchFamily="0" charset="0"/>
              </a:rPr>
              <a:t>ON IBM_MARRAKESH</a:t>
            </a:r>
            <a:endParaRPr lang="zh-CN" altLang="en-US" sz="850" b="1" i="0" u="none" strike="noStrike" kern="1200" cap="none" spc="80" baseline="0">
              <a:solidFill>
                <a:srgbClr val="5B3BA8"/>
              </a:solidFill>
              <a:latin typeface="Calibri" pitchFamily="0" charset="0"/>
              <a:ea typeface="等线" pitchFamily="0" charset="0"/>
              <a:cs typeface="Calibri" pitchFamily="0" charset="0"/>
            </a:endParaRPr>
          </a:p>
        </p:txBody>
      </p:sp>
      <p:sp>
        <p:nvSpPr>
          <p:cNvPr id="205" name="矩形"/>
          <p:cNvSpPr>
            <a:spLocks/>
          </p:cNvSpPr>
          <p:nvPr/>
        </p:nvSpPr>
        <p:spPr>
          <a:xfrm rot="0">
            <a:off x="5806440" y="3794760"/>
            <a:ext cx="2697479"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50" b="0" i="0" u="none" strike="noStrike" kern="1200" cap="none" spc="0" baseline="0">
                <a:solidFill>
                  <a:srgbClr val="2E1B5B"/>
                </a:solidFill>
                <a:latin typeface="Calibri" pitchFamily="0" charset="0"/>
                <a:ea typeface="等线" pitchFamily="0" charset="0"/>
                <a:cs typeface="Calibri" pitchFamily="0" charset="0"/>
              </a:rPr>
              <a:t>114 two-qubit gates · depth 247</a:t>
            </a:r>
            <a:endParaRPr lang="zh-CN" altLang="en-US" sz="1150" b="0" i="0" u="none" strike="noStrike" kern="1200" cap="none" spc="0" baseline="0">
              <a:solidFill>
                <a:srgbClr val="2E1B5B"/>
              </a:solidFill>
              <a:latin typeface="Calibri" pitchFamily="0" charset="0"/>
              <a:ea typeface="等线" pitchFamily="0" charset="0"/>
              <a:cs typeface="Calibri" pitchFamily="0" charset="0"/>
            </a:endParaRPr>
          </a:p>
        </p:txBody>
      </p:sp>
      <p:sp>
        <p:nvSpPr>
          <p:cNvPr id="206" name="矩形"/>
          <p:cNvSpPr>
            <a:spLocks/>
          </p:cNvSpPr>
          <p:nvPr/>
        </p:nvSpPr>
        <p:spPr>
          <a:xfrm rot="0">
            <a:off x="5806440" y="4050791"/>
            <a:ext cx="2697479" cy="1143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850" b="1" i="0" u="none" strike="noStrike" kern="1200" cap="none" spc="80" baseline="0">
                <a:solidFill>
                  <a:srgbClr val="5B3BA8"/>
                </a:solidFill>
                <a:latin typeface="Calibri" pitchFamily="0" charset="0"/>
                <a:ea typeface="等线" pitchFamily="0" charset="0"/>
                <a:cs typeface="Calibri" pitchFamily="0" charset="0"/>
              </a:rPr>
              <a:t>SHOTS</a:t>
            </a:r>
            <a:endParaRPr lang="zh-CN" altLang="en-US" sz="850" b="1" i="0" u="none" strike="noStrike" kern="1200" cap="none" spc="80" baseline="0">
              <a:solidFill>
                <a:srgbClr val="5B3BA8"/>
              </a:solidFill>
              <a:latin typeface="Calibri" pitchFamily="0" charset="0"/>
              <a:ea typeface="等线" pitchFamily="0" charset="0"/>
              <a:cs typeface="Calibri" pitchFamily="0" charset="0"/>
            </a:endParaRPr>
          </a:p>
        </p:txBody>
      </p:sp>
      <p:sp>
        <p:nvSpPr>
          <p:cNvPr id="207" name="矩形"/>
          <p:cNvSpPr>
            <a:spLocks/>
          </p:cNvSpPr>
          <p:nvPr/>
        </p:nvSpPr>
        <p:spPr>
          <a:xfrm rot="0">
            <a:off x="5806440" y="4224528"/>
            <a:ext cx="2697479"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50" b="0" i="0" u="none" strike="noStrike" kern="1200" cap="none" spc="0" baseline="0">
                <a:solidFill>
                  <a:srgbClr val="2E1B5B"/>
                </a:solidFill>
                <a:latin typeface="Calibri" pitchFamily="0" charset="0"/>
                <a:ea typeface="等线" pitchFamily="0" charset="0"/>
                <a:cs typeface="Calibri" pitchFamily="0" charset="0"/>
              </a:rPr>
              <a:t>4,000 per run · 7 runs</a:t>
            </a:r>
            <a:endParaRPr lang="zh-CN" altLang="en-US" sz="1150" b="0" i="0" u="none" strike="noStrike" kern="1200" cap="none" spc="0" baseline="0">
              <a:solidFill>
                <a:srgbClr val="2E1B5B"/>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603372510"/>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bg>
      <p:bgPr>
        <a:solidFill>
          <a:srgbClr val="DDE2FC"/>
        </a:solidFill>
      </p:bgPr>
    </p:bg>
    <p:spTree>
      <p:nvGrpSpPr>
        <p:cNvPr id="1" name=""/>
        <p:cNvGrpSpPr/>
        <p:nvPr/>
      </p:nvGrpSpPr>
      <p:grpSpPr>
        <a:xfrm>
          <a:off x="0" y="0"/>
          <a:ext cx="0" cy="0"/>
          <a:chOff x="0" y="0"/>
          <a:chExt cx="0" cy="0"/>
        </a:xfrm>
      </p:grpSpPr>
      <p:sp>
        <p:nvSpPr>
          <p:cNvPr id="210" name="文本框"/>
          <p:cNvSpPr>
            <a:spLocks noGrp="1"/>
          </p:cNvSpPr>
          <p:nvPr>
            <p:ph type="title"/>
          </p:nvPr>
        </p:nvSpPr>
        <p:spPr>
          <a:xfrm rot="0">
            <a:off x="457200" y="841248"/>
            <a:ext cx="630936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600" b="1" i="0" u="none" strike="noStrike" kern="1200" cap="none" spc="0" baseline="0">
                <a:solidFill>
                  <a:srgbClr val="2E1B5B"/>
                </a:solidFill>
                <a:latin typeface="Georgia" pitchFamily="0" charset="0"/>
                <a:ea typeface="Georgia" pitchFamily="0" charset="0"/>
                <a:cs typeface="Georgia" pitchFamily="0" charset="0"/>
              </a:rPr>
              <a:t>Implementation &amp; Tech Stack</a:t>
            </a:r>
            <a:endParaRPr lang="zh-CN" altLang="en-US" sz="2600" b="1" i="0" u="none" strike="noStrike" kern="1200" cap="none" spc="0" baseline="0">
              <a:solidFill>
                <a:srgbClr val="2E1B5B"/>
              </a:solidFill>
              <a:latin typeface="Georgia" pitchFamily="0" charset="0"/>
              <a:ea typeface="Georgia" pitchFamily="0" charset="0"/>
              <a:cs typeface="Georgia" pitchFamily="0" charset="0"/>
            </a:endParaRPr>
          </a:p>
        </p:txBody>
      </p:sp>
      <p:sp>
        <p:nvSpPr>
          <p:cNvPr id="211" name="矩形"/>
          <p:cNvSpPr>
            <a:spLocks/>
          </p:cNvSpPr>
          <p:nvPr/>
        </p:nvSpPr>
        <p:spPr>
          <a:xfrm rot="0">
            <a:off x="457200" y="1463040"/>
            <a:ext cx="256031" cy="45720"/>
          </a:xfrm>
          <a:prstGeom prst="rect"/>
          <a:solidFill>
            <a:srgbClr val="7C93F0"/>
          </a:solidFill>
          <a:ln w="12700" cmpd="sng" cap="flat">
            <a:solidFill>
              <a:srgbClr val="7C93F0"/>
            </a:solidFill>
            <a:prstDash val="solid"/>
            <a:round/>
          </a:ln>
        </p:spPr>
      </p:sp>
      <p:sp>
        <p:nvSpPr>
          <p:cNvPr id="212" name="矩形"/>
          <p:cNvSpPr>
            <a:spLocks/>
          </p:cNvSpPr>
          <p:nvPr/>
        </p:nvSpPr>
        <p:spPr>
          <a:xfrm rot="0">
            <a:off x="731520" y="1463040"/>
            <a:ext cx="256031" cy="45720"/>
          </a:xfrm>
          <a:prstGeom prst="rect"/>
          <a:solidFill>
            <a:srgbClr val="E8639F"/>
          </a:solidFill>
          <a:ln w="12700" cmpd="sng" cap="flat">
            <a:solidFill>
              <a:srgbClr val="E8639F"/>
            </a:solidFill>
            <a:prstDash val="solid"/>
            <a:round/>
          </a:ln>
        </p:spPr>
      </p:sp>
      <p:sp>
        <p:nvSpPr>
          <p:cNvPr id="213" name="矩形"/>
          <p:cNvSpPr>
            <a:spLocks/>
          </p:cNvSpPr>
          <p:nvPr/>
        </p:nvSpPr>
        <p:spPr>
          <a:xfrm rot="0">
            <a:off x="1005839" y="1463040"/>
            <a:ext cx="256031" cy="45720"/>
          </a:xfrm>
          <a:prstGeom prst="rect"/>
          <a:solidFill>
            <a:srgbClr val="5B3BA8"/>
          </a:solidFill>
          <a:ln w="12700" cmpd="sng" cap="flat">
            <a:solidFill>
              <a:srgbClr val="5B3BA8"/>
            </a:solidFill>
            <a:prstDash val="solid"/>
            <a:round/>
          </a:ln>
        </p:spPr>
      </p:sp>
      <p:sp>
        <p:nvSpPr>
          <p:cNvPr id="214" name="圆角矩形"/>
          <p:cNvSpPr>
            <a:spLocks/>
          </p:cNvSpPr>
          <p:nvPr/>
        </p:nvSpPr>
        <p:spPr>
          <a:xfrm rot="0">
            <a:off x="457200" y="1691639"/>
            <a:ext cx="8229600" cy="2926080"/>
          </a:xfrm>
          <a:prstGeom prst="roundRect">
            <a:avLst>
              <a:gd name="adj" fmla="val 2500"/>
            </a:avLst>
          </a:prstGeom>
          <a:solidFill>
            <a:srgbClr val="FFFFFF"/>
          </a:solidFill>
          <a:ln w="9525" cmpd="sng" cap="flat">
            <a:solidFill>
              <a:srgbClr val="B8BDEB"/>
            </a:solidFill>
            <a:prstDash val="solid"/>
            <a:round/>
          </a:ln>
        </p:spPr>
      </p:sp>
      <p:sp>
        <p:nvSpPr>
          <p:cNvPr id="215" name="矩形"/>
          <p:cNvSpPr>
            <a:spLocks/>
          </p:cNvSpPr>
          <p:nvPr/>
        </p:nvSpPr>
        <p:spPr>
          <a:xfrm rot="0">
            <a:off x="685800" y="1691639"/>
            <a:ext cx="822960" cy="54863"/>
          </a:xfrm>
          <a:prstGeom prst="rect"/>
          <a:solidFill>
            <a:srgbClr val="E8639F"/>
          </a:solidFill>
          <a:ln w="12700" cmpd="sng" cap="flat">
            <a:solidFill>
              <a:srgbClr val="E8639F"/>
            </a:solidFill>
            <a:prstDash val="solid"/>
            <a:round/>
          </a:ln>
        </p:spPr>
      </p:sp>
      <p:sp>
        <p:nvSpPr>
          <p:cNvPr id="216" name="文本框"/>
          <p:cNvSpPr>
            <a:spLocks noGrp="1"/>
          </p:cNvSpPr>
          <p:nvPr>
            <p:ph type="sldNum"/>
          </p:nvPr>
        </p:nvSpPr>
        <p:spPr>
          <a:xfrm rot="0">
            <a:off x="8321040" y="4864608"/>
            <a:ext cx="365759" cy="274319"/>
          </a:xfrm>
          <a:prstGeom prst="rect"/>
          <a:noFill/>
          <a:ln cmpd="sng" cap="flat">
            <a:noFill/>
            <a:prstDash val="solid"/>
            <a:miter/>
          </a:ln>
        </p:spPr>
        <p:txBody>
          <a:bodyPr vert="horz" wrap="non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900" b="1" i="0" u="none" strike="noStrike" kern="1200" cap="none" spc="0" baseline="0">
                <a:solidFill>
                  <a:srgbClr val="2E1B5B"/>
                </a:solidFill>
                <a:latin typeface="Calibri" pitchFamily="0" charset="0"/>
                <a:ea typeface="等线" pitchFamily="0" charset="0"/>
                <a:cs typeface="Calibri" pitchFamily="0" charset="0"/>
              </a:rPr>
              <a:t>6</a:t>
            </a:fld>
            <a:endParaRPr lang="zh-CN" altLang="en-US" sz="900" b="0" i="0" u="none" strike="noStrike" kern="1200" cap="none" spc="0" baseline="0">
              <a:solidFill>
                <a:srgbClr val="2E1B5B"/>
              </a:solidFill>
              <a:latin typeface="Calibri" pitchFamily="0" charset="0"/>
              <a:ea typeface="等线" pitchFamily="0" charset="0"/>
              <a:cs typeface="Calibri" pitchFamily="0" charset="0"/>
            </a:endParaRPr>
          </a:p>
        </p:txBody>
      </p:sp>
      <p:sp>
        <p:nvSpPr>
          <p:cNvPr id="217" name="矩形"/>
          <p:cNvSpPr>
            <a:spLocks/>
          </p:cNvSpPr>
          <p:nvPr/>
        </p:nvSpPr>
        <p:spPr>
          <a:xfrm rot="0">
            <a:off x="731520" y="1901951"/>
            <a:ext cx="2743200" cy="1238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1" i="0" u="none" strike="noStrike" kern="1200" cap="none" spc="100" baseline="0">
                <a:solidFill>
                  <a:srgbClr val="5B3BA8"/>
                </a:solidFill>
                <a:latin typeface="Calibri" pitchFamily="0" charset="0"/>
                <a:ea typeface="等线" pitchFamily="0" charset="0"/>
                <a:cs typeface="Calibri" pitchFamily="0" charset="0"/>
              </a:rPr>
              <a:t>HOW IT IS BUILT</a:t>
            </a:r>
            <a:endParaRPr lang="zh-CN" altLang="en-US" sz="900" b="1" i="0" u="none" strike="noStrike" kern="1200" cap="none" spc="100" baseline="0">
              <a:solidFill>
                <a:srgbClr val="5B3BA8"/>
              </a:solidFill>
              <a:latin typeface="Calibri" pitchFamily="0" charset="0"/>
              <a:ea typeface="等线" pitchFamily="0" charset="0"/>
              <a:cs typeface="Calibri" pitchFamily="0" charset="0"/>
            </a:endParaRPr>
          </a:p>
        </p:txBody>
      </p:sp>
      <p:sp>
        <p:nvSpPr>
          <p:cNvPr id="218" name="圆角矩形"/>
          <p:cNvSpPr>
            <a:spLocks/>
          </p:cNvSpPr>
          <p:nvPr/>
        </p:nvSpPr>
        <p:spPr>
          <a:xfrm rot="0">
            <a:off x="731520" y="2194560"/>
            <a:ext cx="3429000" cy="603503"/>
          </a:xfrm>
          <a:prstGeom prst="roundRect">
            <a:avLst>
              <a:gd name="adj" fmla="val 8000"/>
            </a:avLst>
          </a:prstGeom>
          <a:solidFill>
            <a:srgbClr val="2E1B5B"/>
          </a:solidFill>
          <a:ln w="6350" cmpd="sng" cap="flat">
            <a:noFill/>
            <a:prstDash val="solid"/>
            <a:round/>
          </a:ln>
        </p:spPr>
      </p:sp>
      <p:sp>
        <p:nvSpPr>
          <p:cNvPr id="219" name="椭圆"/>
          <p:cNvSpPr>
            <a:spLocks/>
          </p:cNvSpPr>
          <p:nvPr/>
        </p:nvSpPr>
        <p:spPr>
          <a:xfrm rot="0">
            <a:off x="868680" y="2322576"/>
            <a:ext cx="347472" cy="347472"/>
          </a:xfrm>
          <a:prstGeom prst="ellipse"/>
          <a:solidFill>
            <a:srgbClr val="2E1B5B"/>
          </a:solidFill>
          <a:ln w="6350" cmpd="sng" cap="flat">
            <a:noFill/>
            <a:prstDash val="solid"/>
            <a:round/>
          </a:ln>
        </p:spPr>
      </p:sp>
      <p:pic>
        <p:nvPicPr>
          <p:cNvPr id="220" name="图片" descr="layers_w.png"/>
          <p:cNvPicPr>
            <a:picLocks noChangeAspect="1"/>
          </p:cNvPicPr>
          <p:nvPr/>
        </p:nvPicPr>
        <p:blipFill>
          <a:blip r:embed="rId1" cstate="print"/>
          <a:stretch>
            <a:fillRect/>
          </a:stretch>
        </p:blipFill>
        <p:spPr>
          <a:xfrm rot="0">
            <a:off x="952073" y="2405969"/>
            <a:ext cx="180684" cy="180684"/>
          </a:xfrm>
          <a:prstGeom prst="rect"/>
          <a:noFill/>
          <a:ln w="12700" cmpd="sng" cap="flat">
            <a:noFill/>
            <a:prstDash val="solid"/>
            <a:miter/>
          </a:ln>
        </p:spPr>
      </p:pic>
      <p:sp>
        <p:nvSpPr>
          <p:cNvPr id="221" name="矩形"/>
          <p:cNvSpPr>
            <a:spLocks/>
          </p:cNvSpPr>
          <p:nvPr/>
        </p:nvSpPr>
        <p:spPr>
          <a:xfrm rot="0">
            <a:off x="1325880" y="2276856"/>
            <a:ext cx="274320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1" i="0" u="none" strike="noStrike" kern="1200" cap="none" spc="0" baseline="0">
                <a:solidFill>
                  <a:srgbClr val="FFFFFF"/>
                </a:solidFill>
                <a:latin typeface="Calibri" pitchFamily="0" charset="0"/>
                <a:ea typeface="等线" pitchFamily="0" charset="0"/>
                <a:cs typeface="Calibri" pitchFamily="0" charset="0"/>
              </a:rPr>
              <a:t>Web app</a:t>
            </a:r>
            <a:endParaRPr lang="zh-CN" altLang="en-US" sz="1200" b="1" i="0" u="none" strike="noStrike" kern="1200" cap="none" spc="0" baseline="0">
              <a:solidFill>
                <a:srgbClr val="FFFFFF"/>
              </a:solidFill>
              <a:latin typeface="Calibri" pitchFamily="0" charset="0"/>
              <a:ea typeface="等线" pitchFamily="0" charset="0"/>
              <a:cs typeface="Calibri" pitchFamily="0" charset="0"/>
            </a:endParaRPr>
          </a:p>
        </p:txBody>
      </p:sp>
      <p:sp>
        <p:nvSpPr>
          <p:cNvPr id="222" name="矩形"/>
          <p:cNvSpPr>
            <a:spLocks/>
          </p:cNvSpPr>
          <p:nvPr/>
        </p:nvSpPr>
        <p:spPr>
          <a:xfrm rot="0">
            <a:off x="1325880" y="2514600"/>
            <a:ext cx="2743200" cy="1428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CBD1F5"/>
                </a:solidFill>
                <a:latin typeface="Calibri" pitchFamily="0" charset="0"/>
                <a:ea typeface="等线" pitchFamily="0" charset="0"/>
                <a:cs typeface="Calibri" pitchFamily="0" charset="0"/>
              </a:rPr>
              <a:t>React + Vite · Motion · Dewy, the guide</a:t>
            </a:r>
            <a:endParaRPr lang="zh-CN" altLang="en-US" sz="1000" b="0" i="0" u="none" strike="noStrike" kern="1200" cap="none" spc="0" baseline="0">
              <a:solidFill>
                <a:srgbClr val="CBD1F5"/>
              </a:solidFill>
              <a:latin typeface="Calibri" pitchFamily="0" charset="0"/>
              <a:ea typeface="等线" pitchFamily="0" charset="0"/>
              <a:cs typeface="Calibri" pitchFamily="0" charset="0"/>
            </a:endParaRPr>
          </a:p>
        </p:txBody>
      </p:sp>
      <p:sp>
        <p:nvSpPr>
          <p:cNvPr id="223" name="圆角矩形"/>
          <p:cNvSpPr>
            <a:spLocks/>
          </p:cNvSpPr>
          <p:nvPr/>
        </p:nvSpPr>
        <p:spPr>
          <a:xfrm rot="0">
            <a:off x="731520" y="2907791"/>
            <a:ext cx="3429000" cy="603503"/>
          </a:xfrm>
          <a:prstGeom prst="roundRect">
            <a:avLst>
              <a:gd name="adj" fmla="val 8000"/>
            </a:avLst>
          </a:prstGeom>
          <a:solidFill>
            <a:srgbClr val="5B3BA8"/>
          </a:solidFill>
          <a:ln w="6350" cmpd="sng" cap="flat">
            <a:noFill/>
            <a:prstDash val="solid"/>
            <a:round/>
          </a:ln>
        </p:spPr>
      </p:sp>
      <p:sp>
        <p:nvSpPr>
          <p:cNvPr id="224" name="椭圆"/>
          <p:cNvSpPr>
            <a:spLocks/>
          </p:cNvSpPr>
          <p:nvPr/>
        </p:nvSpPr>
        <p:spPr>
          <a:xfrm rot="0">
            <a:off x="868680" y="3035808"/>
            <a:ext cx="347472" cy="347472"/>
          </a:xfrm>
          <a:prstGeom prst="ellipse"/>
          <a:solidFill>
            <a:srgbClr val="5B3BA8"/>
          </a:solidFill>
          <a:ln w="6350" cmpd="sng" cap="flat">
            <a:noFill/>
            <a:prstDash val="solid"/>
            <a:round/>
          </a:ln>
        </p:spPr>
      </p:sp>
      <p:pic>
        <p:nvPicPr>
          <p:cNvPr id="225" name="图片" descr="chat_w.png"/>
          <p:cNvPicPr>
            <a:picLocks noChangeAspect="1"/>
          </p:cNvPicPr>
          <p:nvPr/>
        </p:nvPicPr>
        <p:blipFill>
          <a:blip r:embed="rId2" cstate="print"/>
          <a:stretch>
            <a:fillRect/>
          </a:stretch>
        </p:blipFill>
        <p:spPr>
          <a:xfrm rot="0">
            <a:off x="952073" y="3119201"/>
            <a:ext cx="180684" cy="180685"/>
          </a:xfrm>
          <a:prstGeom prst="rect"/>
          <a:noFill/>
          <a:ln w="12700" cmpd="sng" cap="flat">
            <a:noFill/>
            <a:prstDash val="solid"/>
            <a:miter/>
          </a:ln>
        </p:spPr>
      </p:pic>
      <p:sp>
        <p:nvSpPr>
          <p:cNvPr id="226" name="矩形"/>
          <p:cNvSpPr>
            <a:spLocks/>
          </p:cNvSpPr>
          <p:nvPr/>
        </p:nvSpPr>
        <p:spPr>
          <a:xfrm rot="0">
            <a:off x="1325880" y="2990087"/>
            <a:ext cx="274320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1" i="0" u="none" strike="noStrike" kern="1200" cap="none" spc="0" baseline="0">
                <a:solidFill>
                  <a:srgbClr val="FFFFFF"/>
                </a:solidFill>
                <a:latin typeface="Calibri" pitchFamily="0" charset="0"/>
                <a:ea typeface="等线" pitchFamily="0" charset="0"/>
                <a:cs typeface="Calibri" pitchFamily="0" charset="0"/>
              </a:rPr>
              <a:t>API + AI layer</a:t>
            </a:r>
            <a:endParaRPr lang="zh-CN" altLang="en-US" sz="1200" b="1" i="0" u="none" strike="noStrike" kern="1200" cap="none" spc="0" baseline="0">
              <a:solidFill>
                <a:srgbClr val="FFFFFF"/>
              </a:solidFill>
              <a:latin typeface="Calibri" pitchFamily="0" charset="0"/>
              <a:ea typeface="等线" pitchFamily="0" charset="0"/>
              <a:cs typeface="Calibri" pitchFamily="0" charset="0"/>
            </a:endParaRPr>
          </a:p>
        </p:txBody>
      </p:sp>
      <p:sp>
        <p:nvSpPr>
          <p:cNvPr id="227" name="矩形"/>
          <p:cNvSpPr>
            <a:spLocks/>
          </p:cNvSpPr>
          <p:nvPr/>
        </p:nvSpPr>
        <p:spPr>
          <a:xfrm rot="0">
            <a:off x="1325880" y="3227832"/>
            <a:ext cx="2743200" cy="1428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CBD1F5"/>
                </a:solidFill>
                <a:latin typeface="Calibri" pitchFamily="0" charset="0"/>
                <a:ea typeface="等线" pitchFamily="0" charset="0"/>
                <a:cs typeface="Calibri" pitchFamily="0" charset="0"/>
              </a:rPr>
              <a:t>FastAPI · Groq LLM explains, never decides</a:t>
            </a:r>
            <a:endParaRPr lang="zh-CN" altLang="en-US" sz="1000" b="0" i="0" u="none" strike="noStrike" kern="1200" cap="none" spc="0" baseline="0">
              <a:solidFill>
                <a:srgbClr val="CBD1F5"/>
              </a:solidFill>
              <a:latin typeface="Calibri" pitchFamily="0" charset="0"/>
              <a:ea typeface="等线" pitchFamily="0" charset="0"/>
              <a:cs typeface="Calibri" pitchFamily="0" charset="0"/>
            </a:endParaRPr>
          </a:p>
        </p:txBody>
      </p:sp>
      <p:sp>
        <p:nvSpPr>
          <p:cNvPr id="228" name="圆角矩形"/>
          <p:cNvSpPr>
            <a:spLocks/>
          </p:cNvSpPr>
          <p:nvPr/>
        </p:nvSpPr>
        <p:spPr>
          <a:xfrm rot="0">
            <a:off x="731520" y="3621024"/>
            <a:ext cx="3429000" cy="603503"/>
          </a:xfrm>
          <a:prstGeom prst="roundRect">
            <a:avLst>
              <a:gd name="adj" fmla="val 8000"/>
            </a:avLst>
          </a:prstGeom>
          <a:solidFill>
            <a:srgbClr val="EEF0FE"/>
          </a:solidFill>
          <a:ln w="6350" cmpd="sng" cap="flat">
            <a:noFill/>
            <a:prstDash val="solid"/>
            <a:round/>
          </a:ln>
        </p:spPr>
      </p:sp>
      <p:sp>
        <p:nvSpPr>
          <p:cNvPr id="229" name="椭圆"/>
          <p:cNvSpPr>
            <a:spLocks/>
          </p:cNvSpPr>
          <p:nvPr/>
        </p:nvSpPr>
        <p:spPr>
          <a:xfrm rot="0">
            <a:off x="868680" y="3749039"/>
            <a:ext cx="347472" cy="347472"/>
          </a:xfrm>
          <a:prstGeom prst="ellipse"/>
          <a:solidFill>
            <a:srgbClr val="E8639F"/>
          </a:solidFill>
          <a:ln w="6350" cmpd="sng" cap="flat">
            <a:noFill/>
            <a:prstDash val="solid"/>
            <a:round/>
          </a:ln>
        </p:spPr>
      </p:sp>
      <p:pic>
        <p:nvPicPr>
          <p:cNvPr id="230" name="图片" descr="atom_w.png"/>
          <p:cNvPicPr>
            <a:picLocks noChangeAspect="1"/>
          </p:cNvPicPr>
          <p:nvPr/>
        </p:nvPicPr>
        <p:blipFill>
          <a:blip r:embed="rId3" cstate="print"/>
          <a:stretch>
            <a:fillRect/>
          </a:stretch>
        </p:blipFill>
        <p:spPr>
          <a:xfrm rot="0">
            <a:off x="952073" y="3832433"/>
            <a:ext cx="180684" cy="180685"/>
          </a:xfrm>
          <a:prstGeom prst="rect"/>
          <a:noFill/>
          <a:ln w="12700" cmpd="sng" cap="flat">
            <a:noFill/>
            <a:prstDash val="solid"/>
            <a:miter/>
          </a:ln>
        </p:spPr>
      </p:pic>
      <p:sp>
        <p:nvSpPr>
          <p:cNvPr id="231" name="矩形"/>
          <p:cNvSpPr>
            <a:spLocks/>
          </p:cNvSpPr>
          <p:nvPr/>
        </p:nvSpPr>
        <p:spPr>
          <a:xfrm rot="0">
            <a:off x="1325880" y="3703319"/>
            <a:ext cx="274320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1" i="0" u="none" strike="noStrike" kern="1200" cap="none" spc="0" baseline="0">
                <a:solidFill>
                  <a:srgbClr val="2E1B5B"/>
                </a:solidFill>
                <a:latin typeface="Calibri" pitchFamily="0" charset="0"/>
                <a:ea typeface="等线" pitchFamily="0" charset="0"/>
                <a:cs typeface="Calibri" pitchFamily="0" charset="0"/>
              </a:rPr>
              <a:t>Quantum core</a:t>
            </a:r>
            <a:endParaRPr lang="zh-CN" altLang="en-US" sz="1200" b="1" i="0" u="none" strike="noStrike" kern="1200" cap="none" spc="0" baseline="0">
              <a:solidFill>
                <a:srgbClr val="2E1B5B"/>
              </a:solidFill>
              <a:latin typeface="Calibri" pitchFamily="0" charset="0"/>
              <a:ea typeface="等线" pitchFamily="0" charset="0"/>
              <a:cs typeface="Calibri" pitchFamily="0" charset="0"/>
            </a:endParaRPr>
          </a:p>
        </p:txBody>
      </p:sp>
      <p:sp>
        <p:nvSpPr>
          <p:cNvPr id="232" name="矩形"/>
          <p:cNvSpPr>
            <a:spLocks/>
          </p:cNvSpPr>
          <p:nvPr/>
        </p:nvSpPr>
        <p:spPr>
          <a:xfrm rot="0">
            <a:off x="1325880" y="3941062"/>
            <a:ext cx="2743200" cy="1428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Qiskit 2.6 · QAOAAnsatz · Aer · Runtime</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233" name="右箭头"/>
          <p:cNvSpPr>
            <a:spLocks/>
          </p:cNvSpPr>
          <p:nvPr/>
        </p:nvSpPr>
        <p:spPr>
          <a:xfrm rot="0">
            <a:off x="4206240" y="3730752"/>
            <a:ext cx="182879" cy="201168"/>
          </a:xfrm>
          <a:prstGeom prst="rightArrow">
            <a:avLst>
              <a:gd name="adj1" fmla="val 50000"/>
              <a:gd name="adj2" fmla="val 45454"/>
            </a:avLst>
          </a:prstGeom>
          <a:solidFill>
            <a:srgbClr val="E8639F"/>
          </a:solidFill>
          <a:ln w="6350" cmpd="sng" cap="flat">
            <a:noFill/>
            <a:prstDash val="solid"/>
            <a:round/>
          </a:ln>
        </p:spPr>
      </p:sp>
      <p:sp>
        <p:nvSpPr>
          <p:cNvPr id="234" name="圆角矩形"/>
          <p:cNvSpPr>
            <a:spLocks/>
          </p:cNvSpPr>
          <p:nvPr/>
        </p:nvSpPr>
        <p:spPr>
          <a:xfrm rot="0">
            <a:off x="4434840" y="3621024"/>
            <a:ext cx="777239" cy="603503"/>
          </a:xfrm>
          <a:prstGeom prst="roundRect">
            <a:avLst>
              <a:gd name="adj" fmla="val 8000"/>
            </a:avLst>
          </a:prstGeom>
          <a:solidFill>
            <a:srgbClr val="E8639F"/>
          </a:solidFill>
          <a:ln w="6350" cmpd="sng" cap="flat">
            <a:noFill/>
            <a:prstDash val="solid"/>
            <a:round/>
          </a:ln>
        </p:spPr>
      </p:sp>
      <p:sp>
        <p:nvSpPr>
          <p:cNvPr id="235" name="矩形"/>
          <p:cNvSpPr>
            <a:spLocks/>
          </p:cNvSpPr>
          <p:nvPr/>
        </p:nvSpPr>
        <p:spPr>
          <a:xfrm rot="0">
            <a:off x="4434840" y="3779901"/>
            <a:ext cx="777239" cy="285750"/>
          </a:xfrm>
          <a:prstGeom prst="rect"/>
          <a:noFill/>
          <a:ln w="12700" cmpd="sng" cap="flat">
            <a:noFill/>
            <a:prstDash val="solid"/>
            <a:miter/>
          </a:ln>
        </p:spPr>
        <p:txBody>
          <a:bodyPr vert="horz" wrap="square" lIns="0" tIns="0" rIns="0" bIns="0" anchor="ctr" anchorCtr="0">
            <a:prstTxWarp prst="textNoShape"/>
            <a:spAutoFit/>
          </a:bodyPr>
          <a:lstStyle/>
          <a:p>
            <a:pPr marL="0" indent="0" algn="ctr">
              <a:lnSpc>
                <a:spcPct val="100000"/>
              </a:lnSpc>
              <a:spcBef>
                <a:spcPts val="0"/>
              </a:spcBef>
              <a:spcAft>
                <a:spcPts val="0"/>
              </a:spcAft>
              <a:buNone/>
            </a:pPr>
            <a:r>
              <a:rPr lang="en-US" altLang="zh-CN" sz="1100" b="1" i="0" u="none" strike="noStrike" kern="1200" cap="none" spc="0" baseline="0">
                <a:solidFill>
                  <a:srgbClr val="FFFFFF"/>
                </a:solidFill>
                <a:latin typeface="Calibri" pitchFamily="0" charset="0"/>
                <a:ea typeface="等线" pitchFamily="0" charset="0"/>
                <a:cs typeface="Calibri" pitchFamily="0" charset="0"/>
              </a:rPr>
              <a:t>IBM</a:t>
            </a:r>
            <a:endParaRPr lang="en-US" altLang="zh-CN" sz="1100" b="1" i="0" u="none" strike="noStrike" kern="1200" cap="none" spc="0" baseline="0">
              <a:solidFill>
                <a:srgbClr val="FFFFFF"/>
              </a:solidFill>
              <a:latin typeface="Calibri" pitchFamily="0" charset="0"/>
              <a:ea typeface="等线" pitchFamily="0" charset="0"/>
              <a:cs typeface="Calibri" pitchFamily="0" charset="0"/>
            </a:endParaRPr>
          </a:p>
          <a:p>
            <a:pPr marL="0" indent="0" algn="ctr">
              <a:lnSpc>
                <a:spcPct val="100000"/>
              </a:lnSpc>
              <a:spcBef>
                <a:spcPts val="0"/>
              </a:spcBef>
              <a:spcAft>
                <a:spcPts val="0"/>
              </a:spcAft>
              <a:buNone/>
            </a:pPr>
            <a:r>
              <a:rPr lang="en-US" altLang="zh-CN" sz="900" b="0" i="0" u="none" strike="noStrike" kern="1200" cap="none" spc="0" baseline="0">
                <a:solidFill>
                  <a:srgbClr val="FFFFFF"/>
                </a:solidFill>
                <a:latin typeface="Calibri" pitchFamily="0" charset="0"/>
                <a:ea typeface="等线" pitchFamily="0" charset="0"/>
                <a:cs typeface="Calibri" pitchFamily="0" charset="0"/>
              </a:rPr>
              <a:t>marrakesh</a:t>
            </a:r>
            <a:endParaRPr lang="zh-CN" altLang="en-US" sz="900" b="0" i="0" u="none" strike="noStrike" kern="1200" cap="none" spc="0" baseline="0">
              <a:solidFill>
                <a:srgbClr val="FFFFFF"/>
              </a:solidFill>
              <a:latin typeface="Calibri" pitchFamily="0" charset="0"/>
              <a:ea typeface="等线" pitchFamily="0" charset="0"/>
              <a:cs typeface="Calibri" pitchFamily="0" charset="0"/>
            </a:endParaRPr>
          </a:p>
        </p:txBody>
      </p:sp>
      <p:sp>
        <p:nvSpPr>
          <p:cNvPr id="236" name="矩形"/>
          <p:cNvSpPr>
            <a:spLocks/>
          </p:cNvSpPr>
          <p:nvPr/>
        </p:nvSpPr>
        <p:spPr>
          <a:xfrm rot="0">
            <a:off x="731520" y="4334256"/>
            <a:ext cx="4480559" cy="1428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One command: python -m server · runs offline from saved results · pytest suite</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pic>
        <p:nvPicPr>
          <p:cNvPr id="237" name="图片" descr="app_schedule.png"/>
          <p:cNvPicPr>
            <a:picLocks noChangeAspect="1"/>
          </p:cNvPicPr>
          <p:nvPr/>
        </p:nvPicPr>
        <p:blipFill>
          <a:blip r:embed="rId4" cstate="print"/>
          <a:stretch>
            <a:fillRect/>
          </a:stretch>
        </p:blipFill>
        <p:spPr>
          <a:xfrm rot="0">
            <a:off x="5440679" y="1938527"/>
            <a:ext cx="3017519" cy="1967948"/>
          </a:xfrm>
          <a:prstGeom prst="rect"/>
          <a:noFill/>
          <a:ln w="9525" cmpd="sng" cap="flat">
            <a:solidFill>
              <a:srgbClr val="B8BDEB"/>
            </a:solidFill>
            <a:prstDash val="solid"/>
            <a:round/>
          </a:ln>
        </p:spPr>
      </p:pic>
      <p:sp>
        <p:nvSpPr>
          <p:cNvPr id="238" name="矩形"/>
          <p:cNvSpPr>
            <a:spLocks/>
          </p:cNvSpPr>
          <p:nvPr/>
        </p:nvSpPr>
        <p:spPr>
          <a:xfrm rot="0">
            <a:off x="5440679" y="3950207"/>
            <a:ext cx="3017519" cy="1428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The demo app: six screens, real saved results, an AI guide</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760848963"/>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rgbClr val="DDE2FC"/>
        </a:solidFill>
      </p:bgPr>
    </p:bg>
    <p:spTree>
      <p:nvGrpSpPr>
        <p:cNvPr id="1" name=""/>
        <p:cNvGrpSpPr/>
        <p:nvPr/>
      </p:nvGrpSpPr>
      <p:grpSpPr>
        <a:xfrm>
          <a:off x="0" y="0"/>
          <a:ext cx="0" cy="0"/>
          <a:chOff x="0" y="0"/>
          <a:chExt cx="0" cy="0"/>
        </a:xfrm>
      </p:grpSpPr>
      <p:sp>
        <p:nvSpPr>
          <p:cNvPr id="241" name="文本框"/>
          <p:cNvSpPr>
            <a:spLocks noGrp="1"/>
          </p:cNvSpPr>
          <p:nvPr>
            <p:ph type="title"/>
          </p:nvPr>
        </p:nvSpPr>
        <p:spPr>
          <a:xfrm rot="0">
            <a:off x="457200" y="841248"/>
            <a:ext cx="630936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600" b="1" i="0" u="none" strike="noStrike" kern="1200" cap="none" spc="0" baseline="0">
                <a:solidFill>
                  <a:srgbClr val="2E1B5B"/>
                </a:solidFill>
                <a:latin typeface="Georgia" pitchFamily="0" charset="0"/>
                <a:ea typeface="Georgia" pitchFamily="0" charset="0"/>
                <a:cs typeface="Georgia" pitchFamily="0" charset="0"/>
              </a:rPr>
              <a:t>Results &amp; Analysis</a:t>
            </a:r>
            <a:endParaRPr lang="zh-CN" altLang="en-US" sz="2600" b="1" i="0" u="none" strike="noStrike" kern="1200" cap="none" spc="0" baseline="0">
              <a:solidFill>
                <a:srgbClr val="2E1B5B"/>
              </a:solidFill>
              <a:latin typeface="Georgia" pitchFamily="0" charset="0"/>
              <a:ea typeface="Georgia" pitchFamily="0" charset="0"/>
              <a:cs typeface="Georgia" pitchFamily="0" charset="0"/>
            </a:endParaRPr>
          </a:p>
        </p:txBody>
      </p:sp>
      <p:sp>
        <p:nvSpPr>
          <p:cNvPr id="242" name="矩形"/>
          <p:cNvSpPr>
            <a:spLocks/>
          </p:cNvSpPr>
          <p:nvPr/>
        </p:nvSpPr>
        <p:spPr>
          <a:xfrm rot="0">
            <a:off x="457200" y="1463040"/>
            <a:ext cx="256031" cy="45720"/>
          </a:xfrm>
          <a:prstGeom prst="rect"/>
          <a:solidFill>
            <a:srgbClr val="7C93F0"/>
          </a:solidFill>
          <a:ln w="12700" cmpd="sng" cap="flat">
            <a:solidFill>
              <a:srgbClr val="7C93F0"/>
            </a:solidFill>
            <a:prstDash val="solid"/>
            <a:round/>
          </a:ln>
        </p:spPr>
      </p:sp>
      <p:sp>
        <p:nvSpPr>
          <p:cNvPr id="243" name="矩形"/>
          <p:cNvSpPr>
            <a:spLocks/>
          </p:cNvSpPr>
          <p:nvPr/>
        </p:nvSpPr>
        <p:spPr>
          <a:xfrm rot="0">
            <a:off x="731520" y="1463040"/>
            <a:ext cx="256031" cy="45720"/>
          </a:xfrm>
          <a:prstGeom prst="rect"/>
          <a:solidFill>
            <a:srgbClr val="E8639F"/>
          </a:solidFill>
          <a:ln w="12700" cmpd="sng" cap="flat">
            <a:solidFill>
              <a:srgbClr val="E8639F"/>
            </a:solidFill>
            <a:prstDash val="solid"/>
            <a:round/>
          </a:ln>
        </p:spPr>
      </p:sp>
      <p:sp>
        <p:nvSpPr>
          <p:cNvPr id="244" name="矩形"/>
          <p:cNvSpPr>
            <a:spLocks/>
          </p:cNvSpPr>
          <p:nvPr/>
        </p:nvSpPr>
        <p:spPr>
          <a:xfrm rot="0">
            <a:off x="1005839" y="1463040"/>
            <a:ext cx="256031" cy="45720"/>
          </a:xfrm>
          <a:prstGeom prst="rect"/>
          <a:solidFill>
            <a:srgbClr val="5B3BA8"/>
          </a:solidFill>
          <a:ln w="12700" cmpd="sng" cap="flat">
            <a:solidFill>
              <a:srgbClr val="5B3BA8"/>
            </a:solidFill>
            <a:prstDash val="solid"/>
            <a:round/>
          </a:ln>
        </p:spPr>
      </p:sp>
      <p:sp>
        <p:nvSpPr>
          <p:cNvPr id="245" name="圆角矩形"/>
          <p:cNvSpPr>
            <a:spLocks/>
          </p:cNvSpPr>
          <p:nvPr/>
        </p:nvSpPr>
        <p:spPr>
          <a:xfrm rot="0">
            <a:off x="457200" y="1691639"/>
            <a:ext cx="4937760" cy="2926080"/>
          </a:xfrm>
          <a:prstGeom prst="roundRect">
            <a:avLst>
              <a:gd name="adj" fmla="val 2500"/>
            </a:avLst>
          </a:prstGeom>
          <a:solidFill>
            <a:srgbClr val="FFFFFF"/>
          </a:solidFill>
          <a:ln w="9525" cmpd="sng" cap="flat">
            <a:solidFill>
              <a:srgbClr val="B8BDEB"/>
            </a:solidFill>
            <a:prstDash val="solid"/>
            <a:round/>
          </a:ln>
        </p:spPr>
      </p:sp>
      <p:sp>
        <p:nvSpPr>
          <p:cNvPr id="246" name="圆角矩形"/>
          <p:cNvSpPr>
            <a:spLocks/>
          </p:cNvSpPr>
          <p:nvPr/>
        </p:nvSpPr>
        <p:spPr>
          <a:xfrm rot="0">
            <a:off x="5577840" y="1691639"/>
            <a:ext cx="3108960" cy="2926080"/>
          </a:xfrm>
          <a:prstGeom prst="roundRect">
            <a:avLst>
              <a:gd name="adj" fmla="val 2500"/>
            </a:avLst>
          </a:prstGeom>
          <a:solidFill>
            <a:srgbClr val="FFFFFF"/>
          </a:solidFill>
          <a:ln w="9525" cmpd="sng" cap="flat">
            <a:solidFill>
              <a:srgbClr val="B8BDEB"/>
            </a:solidFill>
            <a:prstDash val="solid"/>
            <a:round/>
          </a:ln>
        </p:spPr>
      </p:sp>
      <p:sp>
        <p:nvSpPr>
          <p:cNvPr id="247" name="矩形"/>
          <p:cNvSpPr>
            <a:spLocks/>
          </p:cNvSpPr>
          <p:nvPr/>
        </p:nvSpPr>
        <p:spPr>
          <a:xfrm rot="0">
            <a:off x="5806440" y="1691639"/>
            <a:ext cx="822959" cy="54863"/>
          </a:xfrm>
          <a:prstGeom prst="rect"/>
          <a:solidFill>
            <a:srgbClr val="5B3BA8"/>
          </a:solidFill>
          <a:ln w="12700" cmpd="sng" cap="flat">
            <a:solidFill>
              <a:srgbClr val="5B3BA8"/>
            </a:solidFill>
            <a:prstDash val="solid"/>
            <a:round/>
          </a:ln>
        </p:spPr>
      </p:sp>
      <p:sp>
        <p:nvSpPr>
          <p:cNvPr id="248" name="文本框"/>
          <p:cNvSpPr>
            <a:spLocks noGrp="1"/>
          </p:cNvSpPr>
          <p:nvPr>
            <p:ph type="sldNum"/>
          </p:nvPr>
        </p:nvSpPr>
        <p:spPr>
          <a:xfrm rot="0">
            <a:off x="8321040" y="4864608"/>
            <a:ext cx="365759" cy="274319"/>
          </a:xfrm>
          <a:prstGeom prst="rect"/>
          <a:noFill/>
          <a:ln cmpd="sng" cap="flat">
            <a:noFill/>
            <a:prstDash val="solid"/>
            <a:miter/>
          </a:ln>
        </p:spPr>
        <p:txBody>
          <a:bodyPr vert="horz" wrap="non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900" b="1" i="0" u="none" strike="noStrike" kern="1200" cap="none" spc="0" baseline="0">
                <a:solidFill>
                  <a:srgbClr val="2E1B5B"/>
                </a:solidFill>
                <a:latin typeface="Calibri" pitchFamily="0" charset="0"/>
                <a:ea typeface="等线" pitchFamily="0" charset="0"/>
                <a:cs typeface="Calibri" pitchFamily="0" charset="0"/>
              </a:rPr>
              <a:t>7</a:t>
            </a:fld>
            <a:endParaRPr lang="zh-CN" altLang="en-US" sz="900" b="0" i="0" u="none" strike="noStrike" kern="1200" cap="none" spc="0" baseline="0">
              <a:solidFill>
                <a:srgbClr val="2E1B5B"/>
              </a:solidFill>
              <a:latin typeface="Calibri" pitchFamily="0" charset="0"/>
              <a:ea typeface="等线" pitchFamily="0" charset="0"/>
              <a:cs typeface="Calibri" pitchFamily="0" charset="0"/>
            </a:endParaRPr>
          </a:p>
        </p:txBody>
      </p:sp>
      <p:graphicFrame>
        <p:nvGraphicFramePr>
          <p:cNvPr id="249" name="对象"/>
          <p:cNvGraphicFramePr>
            <a:graphicFrameLocks/>
          </p:cNvGraphicFramePr>
          <p:nvPr/>
        </p:nvGraphicFramePr>
        <p:xfrm>
          <a:off x="594360" y="1783080"/>
          <a:ext cx="4663440" cy="2761488"/>
        </p:xfrm>
        <a:graphic>
          <a:graphicData uri="http://schemas.openxmlformats.org/drawingml/2006/chart">
            <c:chart xmlns:c="http://schemas.openxmlformats.org/drawingml/2006/chart" r:id="rId1"/>
          </a:graphicData>
        </a:graphic>
      </p:graphicFrame>
      <p:sp>
        <p:nvSpPr>
          <p:cNvPr id="250" name="矩形"/>
          <p:cNvSpPr>
            <a:spLocks/>
          </p:cNvSpPr>
          <p:nvPr/>
        </p:nvSpPr>
        <p:spPr>
          <a:xfrm rot="0">
            <a:off x="5806440" y="1883664"/>
            <a:ext cx="2743200" cy="201167"/>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1" i="0" u="none" strike="noStrike" kern="1200" cap="none" spc="100" baseline="0">
                <a:solidFill>
                  <a:srgbClr val="5B3BA8"/>
                </a:solidFill>
                <a:latin typeface="Calibri" pitchFamily="0" charset="0"/>
                <a:ea typeface="等线" pitchFamily="0" charset="0"/>
                <a:cs typeface="Calibri" pitchFamily="0" charset="0"/>
              </a:rPr>
              <a:t>SAVED VS RUN-NOW (ILLUSTRATIVE)</a:t>
            </a:r>
            <a:endParaRPr lang="zh-CN" altLang="en-US" sz="900" b="1" i="0" u="none" strike="noStrike" kern="1200" cap="none" spc="100" baseline="0">
              <a:solidFill>
                <a:srgbClr val="5B3BA8"/>
              </a:solidFill>
              <a:latin typeface="Calibri" pitchFamily="0" charset="0"/>
              <a:ea typeface="等线" pitchFamily="0" charset="0"/>
              <a:cs typeface="Calibri" pitchFamily="0" charset="0"/>
            </a:endParaRPr>
          </a:p>
        </p:txBody>
      </p:sp>
      <p:sp>
        <p:nvSpPr>
          <p:cNvPr id="251" name="椭圆"/>
          <p:cNvSpPr>
            <a:spLocks/>
          </p:cNvSpPr>
          <p:nvPr/>
        </p:nvSpPr>
        <p:spPr>
          <a:xfrm rot="0">
            <a:off x="5806440" y="2203703"/>
            <a:ext cx="365759" cy="365760"/>
          </a:xfrm>
          <a:prstGeom prst="ellipse"/>
          <a:solidFill>
            <a:srgbClr val="5B3BA8"/>
          </a:solidFill>
          <a:ln w="6350" cmpd="sng" cap="flat">
            <a:noFill/>
            <a:prstDash val="solid"/>
            <a:round/>
          </a:ln>
        </p:spPr>
      </p:sp>
      <p:pic>
        <p:nvPicPr>
          <p:cNvPr id="252" name="图片" descr="leaf_w.png"/>
          <p:cNvPicPr>
            <a:picLocks noChangeAspect="1"/>
          </p:cNvPicPr>
          <p:nvPr/>
        </p:nvPicPr>
        <p:blipFill>
          <a:blip r:embed="rId2" cstate="print"/>
          <a:stretch>
            <a:fillRect/>
          </a:stretch>
        </p:blipFill>
        <p:spPr>
          <a:xfrm rot="0">
            <a:off x="5894222" y="2291486"/>
            <a:ext cx="190194" cy="190195"/>
          </a:xfrm>
          <a:prstGeom prst="rect"/>
          <a:noFill/>
          <a:ln w="12700" cmpd="sng" cap="flat">
            <a:noFill/>
            <a:prstDash val="solid"/>
            <a:miter/>
          </a:ln>
        </p:spPr>
      </p:pic>
      <p:sp>
        <p:nvSpPr>
          <p:cNvPr id="253" name="矩形"/>
          <p:cNvSpPr>
            <a:spLocks/>
          </p:cNvSpPr>
          <p:nvPr/>
        </p:nvSpPr>
        <p:spPr>
          <a:xfrm rot="0">
            <a:off x="6291072" y="2139696"/>
            <a:ext cx="2194560" cy="329183"/>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800" b="1" i="0" u="none" strike="noStrike" kern="1200" cap="none" spc="0" baseline="0">
                <a:solidFill>
                  <a:srgbClr val="2E1B5B"/>
                </a:solidFill>
                <a:latin typeface="Georgia" pitchFamily="0" charset="0"/>
                <a:ea typeface="等线" pitchFamily="0" charset="0"/>
                <a:cs typeface="Calibri" pitchFamily="0" charset="0"/>
              </a:rPr>
              <a:t>−530 kg</a:t>
            </a:r>
            <a:endParaRPr lang="zh-CN" altLang="en-US" sz="1800" b="1" i="0" u="none" strike="noStrike" kern="1200" cap="none" spc="0" baseline="0">
              <a:solidFill>
                <a:srgbClr val="2E1B5B"/>
              </a:solidFill>
              <a:latin typeface="Georgia" pitchFamily="0" charset="0"/>
              <a:ea typeface="等线" pitchFamily="0" charset="0"/>
              <a:cs typeface="Calibri" pitchFamily="0" charset="0"/>
            </a:endParaRPr>
          </a:p>
        </p:txBody>
      </p:sp>
      <p:sp>
        <p:nvSpPr>
          <p:cNvPr id="254" name="矩形"/>
          <p:cNvSpPr>
            <a:spLocks/>
          </p:cNvSpPr>
          <p:nvPr/>
        </p:nvSpPr>
        <p:spPr>
          <a:xfrm rot="0">
            <a:off x="6291072" y="2459735"/>
            <a:ext cx="2194560" cy="201168"/>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CO₂ · −14%</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255" name="椭圆"/>
          <p:cNvSpPr>
            <a:spLocks/>
          </p:cNvSpPr>
          <p:nvPr/>
        </p:nvSpPr>
        <p:spPr>
          <a:xfrm rot="0">
            <a:off x="5806440" y="2807208"/>
            <a:ext cx="365759" cy="365759"/>
          </a:xfrm>
          <a:prstGeom prst="ellipse"/>
          <a:solidFill>
            <a:srgbClr val="7C93F0"/>
          </a:solidFill>
          <a:ln w="6350" cmpd="sng" cap="flat">
            <a:noFill/>
            <a:prstDash val="solid"/>
            <a:round/>
          </a:ln>
        </p:spPr>
      </p:sp>
      <p:pic>
        <p:nvPicPr>
          <p:cNvPr id="256" name="图片" descr="drop_w.png"/>
          <p:cNvPicPr>
            <a:picLocks noChangeAspect="1"/>
          </p:cNvPicPr>
          <p:nvPr/>
        </p:nvPicPr>
        <p:blipFill>
          <a:blip r:embed="rId3" cstate="print"/>
          <a:stretch>
            <a:fillRect/>
          </a:stretch>
        </p:blipFill>
        <p:spPr>
          <a:xfrm rot="0">
            <a:off x="5894222" y="2894990"/>
            <a:ext cx="190194" cy="190195"/>
          </a:xfrm>
          <a:prstGeom prst="rect"/>
          <a:noFill/>
          <a:ln w="12700" cmpd="sng" cap="flat">
            <a:noFill/>
            <a:prstDash val="solid"/>
            <a:miter/>
          </a:ln>
        </p:spPr>
      </p:pic>
      <p:sp>
        <p:nvSpPr>
          <p:cNvPr id="257" name="矩形"/>
          <p:cNvSpPr>
            <a:spLocks/>
          </p:cNvSpPr>
          <p:nvPr/>
        </p:nvSpPr>
        <p:spPr>
          <a:xfrm rot="0">
            <a:off x="6291072" y="2743200"/>
            <a:ext cx="2194560" cy="329183"/>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800" b="1" i="0" u="none" strike="noStrike" kern="1200" cap="none" spc="0" baseline="0">
                <a:solidFill>
                  <a:srgbClr val="2E1B5B"/>
                </a:solidFill>
                <a:latin typeface="Georgia" pitchFamily="0" charset="0"/>
                <a:ea typeface="等线" pitchFamily="0" charset="0"/>
                <a:cs typeface="Calibri" pitchFamily="0" charset="0"/>
              </a:rPr>
              <a:t>−1,798 L</a:t>
            </a:r>
            <a:endParaRPr lang="zh-CN" altLang="en-US" sz="1800" b="1" i="0" u="none" strike="noStrike" kern="1200" cap="none" spc="0" baseline="0">
              <a:solidFill>
                <a:srgbClr val="2E1B5B"/>
              </a:solidFill>
              <a:latin typeface="Georgia" pitchFamily="0" charset="0"/>
              <a:ea typeface="等线" pitchFamily="0" charset="0"/>
              <a:cs typeface="Calibri" pitchFamily="0" charset="0"/>
            </a:endParaRPr>
          </a:p>
        </p:txBody>
      </p:sp>
      <p:sp>
        <p:nvSpPr>
          <p:cNvPr id="258" name="矩形"/>
          <p:cNvSpPr>
            <a:spLocks/>
          </p:cNvSpPr>
          <p:nvPr/>
        </p:nvSpPr>
        <p:spPr>
          <a:xfrm rot="0">
            <a:off x="6291072" y="3063239"/>
            <a:ext cx="2194560" cy="201168"/>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water · −14%</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259" name="椭圆"/>
          <p:cNvSpPr>
            <a:spLocks/>
          </p:cNvSpPr>
          <p:nvPr/>
        </p:nvSpPr>
        <p:spPr>
          <a:xfrm rot="0">
            <a:off x="5824728" y="3520439"/>
            <a:ext cx="82296" cy="82296"/>
          </a:xfrm>
          <a:prstGeom prst="ellipse"/>
          <a:solidFill>
            <a:srgbClr val="E8639F"/>
          </a:solidFill>
          <a:ln w="6350" cmpd="sng" cap="flat">
            <a:noFill/>
            <a:prstDash val="solid"/>
            <a:round/>
          </a:ln>
        </p:spPr>
      </p:sp>
      <p:sp>
        <p:nvSpPr>
          <p:cNvPr id="260" name="矩形"/>
          <p:cNvSpPr>
            <a:spLocks/>
          </p:cNvSpPr>
          <p:nvPr/>
        </p:nvSpPr>
        <p:spPr>
          <a:xfrm rot="0">
            <a:off x="5989320" y="3456431"/>
            <a:ext cx="2560319" cy="23774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2E1B5B"/>
                </a:solidFill>
                <a:latin typeface="Calibri" pitchFamily="0" charset="0"/>
                <a:ea typeface="等线" pitchFamily="0" charset="0"/>
                <a:cs typeface="Calibri" pitchFamily="0" charset="0"/>
              </a:rPr>
              <a:t>7 runs on ibm_marrakesh · 21 s QPU</a:t>
            </a:r>
            <a:endParaRPr lang="zh-CN" altLang="en-US" sz="1050" b="0" i="0" u="none" strike="noStrike" kern="1200" cap="none" spc="0" baseline="0">
              <a:solidFill>
                <a:srgbClr val="2E1B5B"/>
              </a:solidFill>
              <a:latin typeface="Calibri" pitchFamily="0" charset="0"/>
              <a:ea typeface="等线" pitchFamily="0" charset="0"/>
              <a:cs typeface="Calibri" pitchFamily="0" charset="0"/>
            </a:endParaRPr>
          </a:p>
        </p:txBody>
      </p:sp>
      <p:sp>
        <p:nvSpPr>
          <p:cNvPr id="261" name="椭圆"/>
          <p:cNvSpPr>
            <a:spLocks/>
          </p:cNvSpPr>
          <p:nvPr/>
        </p:nvSpPr>
        <p:spPr>
          <a:xfrm rot="0">
            <a:off x="5824728" y="3785615"/>
            <a:ext cx="82296" cy="82296"/>
          </a:xfrm>
          <a:prstGeom prst="ellipse"/>
          <a:solidFill>
            <a:srgbClr val="E8639F"/>
          </a:solidFill>
          <a:ln w="6350" cmpd="sng" cap="flat">
            <a:noFill/>
            <a:prstDash val="solid"/>
            <a:round/>
          </a:ln>
        </p:spPr>
      </p:sp>
      <p:sp>
        <p:nvSpPr>
          <p:cNvPr id="262" name="矩形"/>
          <p:cNvSpPr>
            <a:spLocks/>
          </p:cNvSpPr>
          <p:nvPr/>
        </p:nvSpPr>
        <p:spPr>
          <a:xfrm rot="0">
            <a:off x="5989320" y="3721606"/>
            <a:ext cx="2560319" cy="23774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2E1B5B"/>
                </a:solidFill>
                <a:latin typeface="Calibri" pitchFamily="0" charset="0"/>
                <a:ea typeface="等线" pitchFamily="0" charset="0"/>
                <a:cs typeface="Calibri" pitchFamily="0" charset="0"/>
              </a:rPr>
              <a:t>Beats random by 14–19 std. errors</a:t>
            </a:r>
            <a:endParaRPr lang="zh-CN" altLang="en-US" sz="1050" b="0" i="0" u="none" strike="noStrike" kern="1200" cap="none" spc="0" baseline="0">
              <a:solidFill>
                <a:srgbClr val="2E1B5B"/>
              </a:solidFill>
              <a:latin typeface="Calibri" pitchFamily="0" charset="0"/>
              <a:ea typeface="等线" pitchFamily="0" charset="0"/>
              <a:cs typeface="Calibri" pitchFamily="0" charset="0"/>
            </a:endParaRPr>
          </a:p>
        </p:txBody>
      </p:sp>
      <p:sp>
        <p:nvSpPr>
          <p:cNvPr id="263" name="椭圆"/>
          <p:cNvSpPr>
            <a:spLocks/>
          </p:cNvSpPr>
          <p:nvPr/>
        </p:nvSpPr>
        <p:spPr>
          <a:xfrm rot="0">
            <a:off x="5824728" y="4050791"/>
            <a:ext cx="82296" cy="82296"/>
          </a:xfrm>
          <a:prstGeom prst="ellipse"/>
          <a:solidFill>
            <a:srgbClr val="E8639F"/>
          </a:solidFill>
          <a:ln w="6350" cmpd="sng" cap="flat">
            <a:noFill/>
            <a:prstDash val="solid"/>
            <a:round/>
          </a:ln>
        </p:spPr>
      </p:sp>
      <p:sp>
        <p:nvSpPr>
          <p:cNvPr id="264" name="矩形"/>
          <p:cNvSpPr>
            <a:spLocks/>
          </p:cNvSpPr>
          <p:nvPr/>
        </p:nvSpPr>
        <p:spPr>
          <a:xfrm rot="0">
            <a:off x="5989320" y="3986783"/>
            <a:ext cx="2560319" cy="23774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2E1B5B"/>
                </a:solidFill>
                <a:latin typeface="Calibri" pitchFamily="0" charset="0"/>
                <a:ea typeface="等线" pitchFamily="0" charset="0"/>
                <a:cs typeface="Calibri" pitchFamily="0" charset="0"/>
              </a:rPr>
              <a:t>Error mitigation: no consistent gain</a:t>
            </a:r>
            <a:endParaRPr lang="zh-CN" altLang="en-US" sz="1050" b="0" i="0" u="none" strike="noStrike" kern="1200" cap="none" spc="0" baseline="0">
              <a:solidFill>
                <a:srgbClr val="2E1B5B"/>
              </a:solidFill>
              <a:latin typeface="Calibri" pitchFamily="0" charset="0"/>
              <a:ea typeface="等线" pitchFamily="0" charset="0"/>
              <a:cs typeface="Calibri" pitchFamily="0" charset="0"/>
            </a:endParaRPr>
          </a:p>
        </p:txBody>
      </p:sp>
      <p:sp>
        <p:nvSpPr>
          <p:cNvPr id="265" name="椭圆"/>
          <p:cNvSpPr>
            <a:spLocks/>
          </p:cNvSpPr>
          <p:nvPr/>
        </p:nvSpPr>
        <p:spPr>
          <a:xfrm rot="0">
            <a:off x="5824728" y="4315968"/>
            <a:ext cx="82296" cy="82296"/>
          </a:xfrm>
          <a:prstGeom prst="ellipse"/>
          <a:solidFill>
            <a:srgbClr val="E8639F"/>
          </a:solidFill>
          <a:ln w="6350" cmpd="sng" cap="flat">
            <a:noFill/>
            <a:prstDash val="solid"/>
            <a:round/>
          </a:ln>
        </p:spPr>
      </p:sp>
      <p:sp>
        <p:nvSpPr>
          <p:cNvPr id="266" name="矩形"/>
          <p:cNvSpPr>
            <a:spLocks/>
          </p:cNvSpPr>
          <p:nvPr/>
        </p:nvSpPr>
        <p:spPr>
          <a:xfrm rot="0">
            <a:off x="5989320" y="4251959"/>
            <a:ext cx="2560319" cy="23774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2E1B5B"/>
                </a:solidFill>
                <a:latin typeface="Calibri" pitchFamily="0" charset="0"/>
                <a:ea typeface="等线" pitchFamily="0" charset="0"/>
                <a:cs typeface="Calibri" pitchFamily="0" charset="0"/>
              </a:rPr>
              <a:t>Greedy and annealing also find the best here</a:t>
            </a:r>
            <a:endParaRPr lang="zh-CN" altLang="en-US" sz="1050" b="0" i="0" u="none" strike="noStrike" kern="1200" cap="none" spc="0" baseline="0">
              <a:solidFill>
                <a:srgbClr val="2E1B5B"/>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608532558"/>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bg>
      <p:bgPr>
        <a:solidFill>
          <a:srgbClr val="DDE2FC"/>
        </a:solidFill>
      </p:bgPr>
    </p:bg>
    <p:spTree>
      <p:nvGrpSpPr>
        <p:cNvPr id="1" name=""/>
        <p:cNvGrpSpPr/>
        <p:nvPr/>
      </p:nvGrpSpPr>
      <p:grpSpPr>
        <a:xfrm>
          <a:off x="0" y="0"/>
          <a:ext cx="0" cy="0"/>
          <a:chOff x="0" y="0"/>
          <a:chExt cx="0" cy="0"/>
        </a:xfrm>
      </p:grpSpPr>
      <p:sp>
        <p:nvSpPr>
          <p:cNvPr id="269" name="文本框"/>
          <p:cNvSpPr>
            <a:spLocks noGrp="1"/>
          </p:cNvSpPr>
          <p:nvPr>
            <p:ph type="title"/>
          </p:nvPr>
        </p:nvSpPr>
        <p:spPr>
          <a:xfrm rot="0">
            <a:off x="457200" y="841248"/>
            <a:ext cx="630936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600" b="1" i="0" u="none" strike="noStrike" kern="1200" cap="none" spc="0" baseline="0">
                <a:solidFill>
                  <a:srgbClr val="2E1B5B"/>
                </a:solidFill>
                <a:latin typeface="Georgia" pitchFamily="0" charset="0"/>
                <a:ea typeface="Georgia" pitchFamily="0" charset="0"/>
                <a:cs typeface="Georgia" pitchFamily="0" charset="0"/>
              </a:rPr>
              <a:t>Impact &amp; Real-World Applications</a:t>
            </a:r>
            <a:endParaRPr lang="zh-CN" altLang="en-US" sz="2600" b="1" i="0" u="none" strike="noStrike" kern="1200" cap="none" spc="0" baseline="0">
              <a:solidFill>
                <a:srgbClr val="2E1B5B"/>
              </a:solidFill>
              <a:latin typeface="Georgia" pitchFamily="0" charset="0"/>
              <a:ea typeface="Georgia" pitchFamily="0" charset="0"/>
              <a:cs typeface="Georgia" pitchFamily="0" charset="0"/>
            </a:endParaRPr>
          </a:p>
        </p:txBody>
      </p:sp>
      <p:sp>
        <p:nvSpPr>
          <p:cNvPr id="270" name="矩形"/>
          <p:cNvSpPr>
            <a:spLocks/>
          </p:cNvSpPr>
          <p:nvPr/>
        </p:nvSpPr>
        <p:spPr>
          <a:xfrm rot="0">
            <a:off x="457200" y="1463040"/>
            <a:ext cx="256031" cy="45720"/>
          </a:xfrm>
          <a:prstGeom prst="rect"/>
          <a:solidFill>
            <a:srgbClr val="7C93F0"/>
          </a:solidFill>
          <a:ln w="12700" cmpd="sng" cap="flat">
            <a:solidFill>
              <a:srgbClr val="7C93F0"/>
            </a:solidFill>
            <a:prstDash val="solid"/>
            <a:round/>
          </a:ln>
        </p:spPr>
      </p:sp>
      <p:sp>
        <p:nvSpPr>
          <p:cNvPr id="271" name="矩形"/>
          <p:cNvSpPr>
            <a:spLocks/>
          </p:cNvSpPr>
          <p:nvPr/>
        </p:nvSpPr>
        <p:spPr>
          <a:xfrm rot="0">
            <a:off x="731520" y="1463040"/>
            <a:ext cx="256031" cy="45720"/>
          </a:xfrm>
          <a:prstGeom prst="rect"/>
          <a:solidFill>
            <a:srgbClr val="E8639F"/>
          </a:solidFill>
          <a:ln w="12700" cmpd="sng" cap="flat">
            <a:solidFill>
              <a:srgbClr val="E8639F"/>
            </a:solidFill>
            <a:prstDash val="solid"/>
            <a:round/>
          </a:ln>
        </p:spPr>
      </p:sp>
      <p:sp>
        <p:nvSpPr>
          <p:cNvPr id="272" name="矩形"/>
          <p:cNvSpPr>
            <a:spLocks/>
          </p:cNvSpPr>
          <p:nvPr/>
        </p:nvSpPr>
        <p:spPr>
          <a:xfrm rot="0">
            <a:off x="1005839" y="1463040"/>
            <a:ext cx="256031" cy="45720"/>
          </a:xfrm>
          <a:prstGeom prst="rect"/>
          <a:solidFill>
            <a:srgbClr val="5B3BA8"/>
          </a:solidFill>
          <a:ln w="12700" cmpd="sng" cap="flat">
            <a:solidFill>
              <a:srgbClr val="5B3BA8"/>
            </a:solidFill>
            <a:prstDash val="solid"/>
            <a:round/>
          </a:ln>
        </p:spPr>
      </p:sp>
      <p:sp>
        <p:nvSpPr>
          <p:cNvPr id="273" name="圆角矩形"/>
          <p:cNvSpPr>
            <a:spLocks/>
          </p:cNvSpPr>
          <p:nvPr/>
        </p:nvSpPr>
        <p:spPr>
          <a:xfrm rot="0">
            <a:off x="457200" y="1691639"/>
            <a:ext cx="8229600" cy="2926080"/>
          </a:xfrm>
          <a:prstGeom prst="roundRect">
            <a:avLst>
              <a:gd name="adj" fmla="val 2500"/>
            </a:avLst>
          </a:prstGeom>
          <a:solidFill>
            <a:srgbClr val="FFFFFF"/>
          </a:solidFill>
          <a:ln w="9525" cmpd="sng" cap="flat">
            <a:solidFill>
              <a:srgbClr val="B8BDEB"/>
            </a:solidFill>
            <a:prstDash val="solid"/>
            <a:round/>
          </a:ln>
        </p:spPr>
      </p:sp>
      <p:sp>
        <p:nvSpPr>
          <p:cNvPr id="274" name="矩形"/>
          <p:cNvSpPr>
            <a:spLocks/>
          </p:cNvSpPr>
          <p:nvPr/>
        </p:nvSpPr>
        <p:spPr>
          <a:xfrm rot="0">
            <a:off x="685800" y="1691639"/>
            <a:ext cx="822960" cy="54863"/>
          </a:xfrm>
          <a:prstGeom prst="rect"/>
          <a:solidFill>
            <a:srgbClr val="7C93F0"/>
          </a:solidFill>
          <a:ln w="12700" cmpd="sng" cap="flat">
            <a:solidFill>
              <a:srgbClr val="7C93F0"/>
            </a:solidFill>
            <a:prstDash val="solid"/>
            <a:round/>
          </a:ln>
        </p:spPr>
      </p:sp>
      <p:sp>
        <p:nvSpPr>
          <p:cNvPr id="275" name="文本框"/>
          <p:cNvSpPr>
            <a:spLocks noGrp="1"/>
          </p:cNvSpPr>
          <p:nvPr>
            <p:ph type="sldNum"/>
          </p:nvPr>
        </p:nvSpPr>
        <p:spPr>
          <a:xfrm rot="0">
            <a:off x="8321040" y="4864608"/>
            <a:ext cx="365759" cy="274319"/>
          </a:xfrm>
          <a:prstGeom prst="rect"/>
          <a:noFill/>
          <a:ln cmpd="sng" cap="flat">
            <a:noFill/>
            <a:prstDash val="solid"/>
            <a:miter/>
          </a:ln>
        </p:spPr>
        <p:txBody>
          <a:bodyPr vert="horz" wrap="non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900" b="1" i="0" u="none" strike="noStrike" kern="1200" cap="none" spc="0" baseline="0">
                <a:solidFill>
                  <a:srgbClr val="2E1B5B"/>
                </a:solidFill>
                <a:latin typeface="Calibri" pitchFamily="0" charset="0"/>
                <a:ea typeface="等线" pitchFamily="0" charset="0"/>
                <a:cs typeface="Calibri" pitchFamily="0" charset="0"/>
              </a:rPr>
              <a:t>8</a:t>
            </a:fld>
            <a:endParaRPr lang="zh-CN" altLang="en-US" sz="900" b="0" i="0" u="none" strike="noStrike" kern="1200" cap="none" spc="0" baseline="0">
              <a:solidFill>
                <a:srgbClr val="2E1B5B"/>
              </a:solidFill>
              <a:latin typeface="Calibri" pitchFamily="0" charset="0"/>
              <a:ea typeface="等线" pitchFamily="0" charset="0"/>
              <a:cs typeface="Calibri" pitchFamily="0" charset="0"/>
            </a:endParaRPr>
          </a:p>
        </p:txBody>
      </p:sp>
      <p:sp>
        <p:nvSpPr>
          <p:cNvPr id="276" name="矩形"/>
          <p:cNvSpPr>
            <a:spLocks/>
          </p:cNvSpPr>
          <p:nvPr/>
        </p:nvSpPr>
        <p:spPr>
          <a:xfrm rot="0">
            <a:off x="731520" y="1901951"/>
            <a:ext cx="2468880" cy="201167"/>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1" i="0" u="none" strike="noStrike" kern="1200" cap="none" spc="100" baseline="0">
                <a:solidFill>
                  <a:srgbClr val="5B3BA8"/>
                </a:solidFill>
                <a:latin typeface="Calibri" pitchFamily="0" charset="0"/>
                <a:ea typeface="等线" pitchFamily="0" charset="0"/>
                <a:cs typeface="Calibri" pitchFamily="0" charset="0"/>
              </a:rPr>
              <a:t>WHO CAN USE IT</a:t>
            </a:r>
            <a:endParaRPr lang="zh-CN" altLang="en-US" sz="900" b="1" i="0" u="none" strike="noStrike" kern="1200" cap="none" spc="100" baseline="0">
              <a:solidFill>
                <a:srgbClr val="5B3BA8"/>
              </a:solidFill>
              <a:latin typeface="Calibri" pitchFamily="0" charset="0"/>
              <a:ea typeface="等线" pitchFamily="0" charset="0"/>
              <a:cs typeface="Calibri" pitchFamily="0" charset="0"/>
            </a:endParaRPr>
          </a:p>
        </p:txBody>
      </p:sp>
      <p:sp>
        <p:nvSpPr>
          <p:cNvPr id="277" name="椭圆"/>
          <p:cNvSpPr>
            <a:spLocks/>
          </p:cNvSpPr>
          <p:nvPr/>
        </p:nvSpPr>
        <p:spPr>
          <a:xfrm rot="0">
            <a:off x="731520" y="2212848"/>
            <a:ext cx="384047" cy="384048"/>
          </a:xfrm>
          <a:prstGeom prst="ellipse"/>
          <a:solidFill>
            <a:srgbClr val="2E1B5B"/>
          </a:solidFill>
          <a:ln w="6350" cmpd="sng" cap="flat">
            <a:noFill/>
            <a:prstDash val="solid"/>
            <a:round/>
          </a:ln>
        </p:spPr>
      </p:sp>
      <p:pic>
        <p:nvPicPr>
          <p:cNvPr id="278" name="图片" descr="cloud_w.png"/>
          <p:cNvPicPr>
            <a:picLocks noChangeAspect="1"/>
          </p:cNvPicPr>
          <p:nvPr/>
        </p:nvPicPr>
        <p:blipFill>
          <a:blip r:embed="rId1" cstate="print"/>
          <a:stretch>
            <a:fillRect/>
          </a:stretch>
        </p:blipFill>
        <p:spPr>
          <a:xfrm rot="0">
            <a:off x="823691" y="2305019"/>
            <a:ext cx="199704" cy="199703"/>
          </a:xfrm>
          <a:prstGeom prst="rect"/>
          <a:noFill/>
          <a:ln w="12700" cmpd="sng" cap="flat">
            <a:noFill/>
            <a:prstDash val="solid"/>
            <a:miter/>
          </a:ln>
        </p:spPr>
      </p:pic>
      <p:sp>
        <p:nvSpPr>
          <p:cNvPr id="279" name="矩形"/>
          <p:cNvSpPr>
            <a:spLocks/>
          </p:cNvSpPr>
          <p:nvPr/>
        </p:nvSpPr>
        <p:spPr>
          <a:xfrm rot="0">
            <a:off x="1234440" y="2212848"/>
            <a:ext cx="1783079" cy="384048"/>
          </a:xfrm>
          <a:prstGeom prst="rect"/>
          <a:noFill/>
          <a:ln w="12700" cmpd="sng" cap="flat">
            <a:noFill/>
            <a:prstDash val="solid"/>
            <a:miter/>
          </a:ln>
        </p:spPr>
        <p:txBody>
          <a:bodyPr vert="horz" wrap="square" lIns="0" tIns="0" rIns="0" bIns="0" anchor="ctr" anchorCtr="0">
            <a:prstTxWarp prst="textNoShape"/>
            <a:spAutoFit/>
          </a:bodyPr>
          <a:lstStyle/>
          <a:p>
            <a:pPr marL="0" indent="0" algn="l">
              <a:lnSpc>
                <a:spcPct val="100000"/>
              </a:lnSpc>
              <a:spcBef>
                <a:spcPts val="0"/>
              </a:spcBef>
              <a:spcAft>
                <a:spcPts val="0"/>
              </a:spcAft>
              <a:buNone/>
            </a:pPr>
            <a:r>
              <a:rPr lang="en-US" altLang="zh-CN" sz="1100" b="1" i="0" u="none" strike="noStrike" kern="1200" cap="none" spc="0" baseline="0">
                <a:solidFill>
                  <a:srgbClr val="2E1B5B"/>
                </a:solidFill>
                <a:latin typeface="Calibri" pitchFamily="0" charset="0"/>
                <a:ea typeface="等线" pitchFamily="0" charset="0"/>
                <a:cs typeface="Calibri" pitchFamily="0" charset="0"/>
              </a:rPr>
              <a:t>Cloud and colocation providers</a:t>
            </a:r>
            <a:endParaRPr lang="zh-CN" altLang="en-US" sz="1100" b="1" i="0" u="none" strike="noStrike" kern="1200" cap="none" spc="0" baseline="0">
              <a:solidFill>
                <a:srgbClr val="2E1B5B"/>
              </a:solidFill>
              <a:latin typeface="Calibri" pitchFamily="0" charset="0"/>
              <a:ea typeface="等线" pitchFamily="0" charset="0"/>
              <a:cs typeface="Calibri" pitchFamily="0" charset="0"/>
            </a:endParaRPr>
          </a:p>
        </p:txBody>
      </p:sp>
      <p:sp>
        <p:nvSpPr>
          <p:cNvPr id="280" name="椭圆"/>
          <p:cNvSpPr>
            <a:spLocks/>
          </p:cNvSpPr>
          <p:nvPr/>
        </p:nvSpPr>
        <p:spPr>
          <a:xfrm rot="0">
            <a:off x="731520" y="2816352"/>
            <a:ext cx="384047" cy="384048"/>
          </a:xfrm>
          <a:prstGeom prst="ellipse"/>
          <a:solidFill>
            <a:srgbClr val="5B3BA8"/>
          </a:solidFill>
          <a:ln w="6350" cmpd="sng" cap="flat">
            <a:noFill/>
            <a:prstDash val="solid"/>
            <a:round/>
          </a:ln>
        </p:spPr>
      </p:sp>
      <p:pic>
        <p:nvPicPr>
          <p:cNvPr id="281" name="图片" descr="cpu_w.png"/>
          <p:cNvPicPr>
            <a:picLocks noChangeAspect="1"/>
          </p:cNvPicPr>
          <p:nvPr/>
        </p:nvPicPr>
        <p:blipFill>
          <a:blip r:embed="rId2" cstate="print"/>
          <a:stretch>
            <a:fillRect/>
          </a:stretch>
        </p:blipFill>
        <p:spPr>
          <a:xfrm rot="0">
            <a:off x="823691" y="2908523"/>
            <a:ext cx="199704" cy="199703"/>
          </a:xfrm>
          <a:prstGeom prst="rect"/>
          <a:noFill/>
          <a:ln w="12700" cmpd="sng" cap="flat">
            <a:noFill/>
            <a:prstDash val="solid"/>
            <a:miter/>
          </a:ln>
        </p:spPr>
      </p:pic>
      <p:sp>
        <p:nvSpPr>
          <p:cNvPr id="282" name="矩形"/>
          <p:cNvSpPr>
            <a:spLocks/>
          </p:cNvSpPr>
          <p:nvPr/>
        </p:nvSpPr>
        <p:spPr>
          <a:xfrm rot="0">
            <a:off x="1234440" y="2816352"/>
            <a:ext cx="1783079" cy="384048"/>
          </a:xfrm>
          <a:prstGeom prst="rect"/>
          <a:noFill/>
          <a:ln w="12700" cmpd="sng" cap="flat">
            <a:noFill/>
            <a:prstDash val="solid"/>
            <a:miter/>
          </a:ln>
        </p:spPr>
        <p:txBody>
          <a:bodyPr vert="horz" wrap="square" lIns="0" tIns="0" rIns="0" bIns="0" anchor="ctr" anchorCtr="0">
            <a:prstTxWarp prst="textNoShape"/>
            <a:spAutoFit/>
          </a:bodyPr>
          <a:lstStyle/>
          <a:p>
            <a:pPr marL="0" indent="0" algn="l">
              <a:lnSpc>
                <a:spcPct val="100000"/>
              </a:lnSpc>
              <a:spcBef>
                <a:spcPts val="0"/>
              </a:spcBef>
              <a:spcAft>
                <a:spcPts val="0"/>
              </a:spcAft>
              <a:buNone/>
            </a:pPr>
            <a:r>
              <a:rPr lang="en-US" altLang="zh-CN" sz="1100" b="1" i="0" u="none" strike="noStrike" kern="1200" cap="none" spc="0" baseline="0">
                <a:solidFill>
                  <a:srgbClr val="2E1B5B"/>
                </a:solidFill>
                <a:latin typeface="Calibri" pitchFamily="0" charset="0"/>
                <a:ea typeface="等线" pitchFamily="0" charset="0"/>
                <a:cs typeface="Calibri" pitchFamily="0" charset="0"/>
              </a:rPr>
              <a:t>AI and HPC labs with batch jobs</a:t>
            </a:r>
            <a:endParaRPr lang="zh-CN" altLang="en-US" sz="1100" b="1" i="0" u="none" strike="noStrike" kern="1200" cap="none" spc="0" baseline="0">
              <a:solidFill>
                <a:srgbClr val="2E1B5B"/>
              </a:solidFill>
              <a:latin typeface="Calibri" pitchFamily="0" charset="0"/>
              <a:ea typeface="等线" pitchFamily="0" charset="0"/>
              <a:cs typeface="Calibri" pitchFamily="0" charset="0"/>
            </a:endParaRPr>
          </a:p>
        </p:txBody>
      </p:sp>
      <p:sp>
        <p:nvSpPr>
          <p:cNvPr id="283" name="椭圆"/>
          <p:cNvSpPr>
            <a:spLocks/>
          </p:cNvSpPr>
          <p:nvPr/>
        </p:nvSpPr>
        <p:spPr>
          <a:xfrm rot="0">
            <a:off x="731520" y="3419856"/>
            <a:ext cx="384047" cy="384048"/>
          </a:xfrm>
          <a:prstGeom prst="ellipse"/>
          <a:solidFill>
            <a:srgbClr val="E8639F"/>
          </a:solidFill>
          <a:ln w="6350" cmpd="sng" cap="flat">
            <a:noFill/>
            <a:prstDash val="solid"/>
            <a:round/>
          </a:ln>
        </p:spPr>
      </p:sp>
      <p:pic>
        <p:nvPicPr>
          <p:cNvPr id="284" name="图片" descr="building_w.png"/>
          <p:cNvPicPr>
            <a:picLocks noChangeAspect="1"/>
          </p:cNvPicPr>
          <p:nvPr/>
        </p:nvPicPr>
        <p:blipFill>
          <a:blip r:embed="rId3" cstate="print"/>
          <a:stretch>
            <a:fillRect/>
          </a:stretch>
        </p:blipFill>
        <p:spPr>
          <a:xfrm rot="0">
            <a:off x="823691" y="3512027"/>
            <a:ext cx="199704" cy="199703"/>
          </a:xfrm>
          <a:prstGeom prst="rect"/>
          <a:noFill/>
          <a:ln w="12700" cmpd="sng" cap="flat">
            <a:noFill/>
            <a:prstDash val="solid"/>
            <a:miter/>
          </a:ln>
        </p:spPr>
      </p:pic>
      <p:sp>
        <p:nvSpPr>
          <p:cNvPr id="285" name="矩形"/>
          <p:cNvSpPr>
            <a:spLocks/>
          </p:cNvSpPr>
          <p:nvPr/>
        </p:nvSpPr>
        <p:spPr>
          <a:xfrm rot="0">
            <a:off x="1234440" y="3419856"/>
            <a:ext cx="1783079" cy="384048"/>
          </a:xfrm>
          <a:prstGeom prst="rect"/>
          <a:noFill/>
          <a:ln w="12700" cmpd="sng" cap="flat">
            <a:noFill/>
            <a:prstDash val="solid"/>
            <a:miter/>
          </a:ln>
        </p:spPr>
        <p:txBody>
          <a:bodyPr vert="horz" wrap="square" lIns="0" tIns="0" rIns="0" bIns="0" anchor="ctr" anchorCtr="0">
            <a:prstTxWarp prst="textNoShape"/>
            <a:spAutoFit/>
          </a:bodyPr>
          <a:lstStyle/>
          <a:p>
            <a:pPr marL="0" indent="0" algn="l">
              <a:lnSpc>
                <a:spcPct val="100000"/>
              </a:lnSpc>
              <a:spcBef>
                <a:spcPts val="0"/>
              </a:spcBef>
              <a:spcAft>
                <a:spcPts val="0"/>
              </a:spcAft>
              <a:buNone/>
            </a:pPr>
            <a:r>
              <a:rPr lang="en-US" altLang="zh-CN" sz="1100" b="1" i="0" u="none" strike="noStrike" kern="1200" cap="none" spc="0" baseline="0">
                <a:solidFill>
                  <a:srgbClr val="2E1B5B"/>
                </a:solidFill>
                <a:latin typeface="Calibri" pitchFamily="0" charset="0"/>
                <a:ea typeface="等线" pitchFamily="0" charset="0"/>
                <a:cs typeface="Calibri" pitchFamily="0" charset="0"/>
              </a:rPr>
              <a:t>Enterprises with ESG targets</a:t>
            </a:r>
            <a:endParaRPr lang="zh-CN" altLang="en-US" sz="1100" b="1" i="0" u="none" strike="noStrike" kern="1200" cap="none" spc="0" baseline="0">
              <a:solidFill>
                <a:srgbClr val="2E1B5B"/>
              </a:solidFill>
              <a:latin typeface="Calibri" pitchFamily="0" charset="0"/>
              <a:ea typeface="等线" pitchFamily="0" charset="0"/>
              <a:cs typeface="Calibri" pitchFamily="0" charset="0"/>
            </a:endParaRPr>
          </a:p>
        </p:txBody>
      </p:sp>
      <p:sp>
        <p:nvSpPr>
          <p:cNvPr id="286" name="矩形"/>
          <p:cNvSpPr>
            <a:spLocks/>
          </p:cNvSpPr>
          <p:nvPr/>
        </p:nvSpPr>
        <p:spPr>
          <a:xfrm rot="0">
            <a:off x="731520" y="4059936"/>
            <a:ext cx="2377440" cy="411479"/>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Water counts more in stressed cities (WRI Aqueduct weighting).</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287" name="圆角矩形"/>
          <p:cNvSpPr>
            <a:spLocks/>
          </p:cNvSpPr>
          <p:nvPr/>
        </p:nvSpPr>
        <p:spPr>
          <a:xfrm rot="0">
            <a:off x="3291840" y="1847088"/>
            <a:ext cx="2606040" cy="2633471"/>
          </a:xfrm>
          <a:prstGeom prst="roundRect">
            <a:avLst>
              <a:gd name="adj" fmla="val 8000"/>
            </a:avLst>
          </a:prstGeom>
          <a:solidFill>
            <a:srgbClr val="EEF0FE"/>
          </a:solidFill>
          <a:ln w="6350" cmpd="sng" cap="flat">
            <a:noFill/>
            <a:prstDash val="solid"/>
            <a:round/>
          </a:ln>
        </p:spPr>
      </p:sp>
      <p:sp>
        <p:nvSpPr>
          <p:cNvPr id="288" name="矩形"/>
          <p:cNvSpPr>
            <a:spLocks/>
          </p:cNvSpPr>
          <p:nvPr/>
        </p:nvSpPr>
        <p:spPr>
          <a:xfrm rot="0">
            <a:off x="3456431" y="1956816"/>
            <a:ext cx="2377440" cy="201167"/>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1" i="0" u="none" strike="noStrike" kern="1200" cap="none" spc="100" baseline="0">
                <a:solidFill>
                  <a:srgbClr val="5B3BA8"/>
                </a:solidFill>
                <a:latin typeface="Calibri" pitchFamily="0" charset="0"/>
                <a:ea typeface="等线" pitchFamily="0" charset="0"/>
                <a:cs typeface="Calibri" pitchFamily="0" charset="0"/>
              </a:rPr>
              <a:t>AI COPILOT (GROQ LLM)</a:t>
            </a:r>
            <a:endParaRPr lang="zh-CN" altLang="en-US" sz="900" b="1" i="0" u="none" strike="noStrike" kern="1200" cap="none" spc="100" baseline="0">
              <a:solidFill>
                <a:srgbClr val="5B3BA8"/>
              </a:solidFill>
              <a:latin typeface="Calibri" pitchFamily="0" charset="0"/>
              <a:ea typeface="等线" pitchFamily="0" charset="0"/>
              <a:cs typeface="Calibri" pitchFamily="0" charset="0"/>
            </a:endParaRPr>
          </a:p>
        </p:txBody>
      </p:sp>
      <p:sp>
        <p:nvSpPr>
          <p:cNvPr id="289" name="椭圆"/>
          <p:cNvSpPr>
            <a:spLocks/>
          </p:cNvSpPr>
          <p:nvPr/>
        </p:nvSpPr>
        <p:spPr>
          <a:xfrm rot="0">
            <a:off x="3456431" y="2258568"/>
            <a:ext cx="347472" cy="347472"/>
          </a:xfrm>
          <a:prstGeom prst="ellipse"/>
          <a:solidFill>
            <a:srgbClr val="5B3BA8"/>
          </a:solidFill>
          <a:ln w="6350" cmpd="sng" cap="flat">
            <a:noFill/>
            <a:prstDash val="solid"/>
            <a:round/>
          </a:ln>
        </p:spPr>
      </p:sp>
      <p:pic>
        <p:nvPicPr>
          <p:cNvPr id="290" name="图片" descr="chat_w.png"/>
          <p:cNvPicPr>
            <a:picLocks noChangeAspect="1"/>
          </p:cNvPicPr>
          <p:nvPr/>
        </p:nvPicPr>
        <p:blipFill>
          <a:blip r:embed="rId4" cstate="print"/>
          <a:stretch>
            <a:fillRect/>
          </a:stretch>
        </p:blipFill>
        <p:spPr>
          <a:xfrm rot="0">
            <a:off x="3539825" y="2341961"/>
            <a:ext cx="180685" cy="180684"/>
          </a:xfrm>
          <a:prstGeom prst="rect"/>
          <a:noFill/>
          <a:ln w="12700" cmpd="sng" cap="flat">
            <a:noFill/>
            <a:prstDash val="solid"/>
            <a:miter/>
          </a:ln>
        </p:spPr>
      </p:pic>
      <p:sp>
        <p:nvSpPr>
          <p:cNvPr id="291" name="矩形"/>
          <p:cNvSpPr>
            <a:spLocks/>
          </p:cNvSpPr>
          <p:nvPr/>
        </p:nvSpPr>
        <p:spPr>
          <a:xfrm rot="0">
            <a:off x="3913632" y="2240280"/>
            <a:ext cx="1874519" cy="21945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50" b="1" i="0" u="none" strike="noStrike" kern="1200" cap="none" spc="0" baseline="0">
                <a:solidFill>
                  <a:srgbClr val="2E1B5B"/>
                </a:solidFill>
                <a:latin typeface="Calibri" pitchFamily="0" charset="0"/>
                <a:ea typeface="等线" pitchFamily="0" charset="0"/>
                <a:cs typeface="Calibri" pitchFamily="0" charset="0"/>
              </a:rPr>
              <a:t>Ask GreenQ</a:t>
            </a:r>
            <a:endParaRPr lang="zh-CN" altLang="en-US" sz="1150" b="1" i="0" u="none" strike="noStrike" kern="1200" cap="none" spc="0" baseline="0">
              <a:solidFill>
                <a:srgbClr val="2E1B5B"/>
              </a:solidFill>
              <a:latin typeface="Calibri" pitchFamily="0" charset="0"/>
              <a:ea typeface="等线" pitchFamily="0" charset="0"/>
              <a:cs typeface="Calibri" pitchFamily="0" charset="0"/>
            </a:endParaRPr>
          </a:p>
        </p:txBody>
      </p:sp>
      <p:sp>
        <p:nvSpPr>
          <p:cNvPr id="292" name="矩形"/>
          <p:cNvSpPr>
            <a:spLocks/>
          </p:cNvSpPr>
          <p:nvPr/>
        </p:nvSpPr>
        <p:spPr>
          <a:xfrm rot="0">
            <a:off x="3913632" y="2459735"/>
            <a:ext cx="1874519" cy="411479"/>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Explains any plan in plain words</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293" name="椭圆"/>
          <p:cNvSpPr>
            <a:spLocks/>
          </p:cNvSpPr>
          <p:nvPr/>
        </p:nvSpPr>
        <p:spPr>
          <a:xfrm rot="0">
            <a:off x="3456431" y="2971799"/>
            <a:ext cx="347472" cy="347472"/>
          </a:xfrm>
          <a:prstGeom prst="ellipse"/>
          <a:solidFill>
            <a:srgbClr val="5B3BA8"/>
          </a:solidFill>
          <a:ln w="6350" cmpd="sng" cap="flat">
            <a:noFill/>
            <a:prstDash val="solid"/>
            <a:round/>
          </a:ln>
        </p:spPr>
      </p:sp>
      <p:pic>
        <p:nvPicPr>
          <p:cNvPr id="294" name="图片" descr="keyboard_w.png"/>
          <p:cNvPicPr>
            <a:picLocks noChangeAspect="1"/>
          </p:cNvPicPr>
          <p:nvPr/>
        </p:nvPicPr>
        <p:blipFill>
          <a:blip r:embed="rId5" cstate="print"/>
          <a:stretch>
            <a:fillRect/>
          </a:stretch>
        </p:blipFill>
        <p:spPr>
          <a:xfrm rot="0">
            <a:off x="3539825" y="3055193"/>
            <a:ext cx="180685" cy="180685"/>
          </a:xfrm>
          <a:prstGeom prst="rect"/>
          <a:noFill/>
          <a:ln w="12700" cmpd="sng" cap="flat">
            <a:noFill/>
            <a:prstDash val="solid"/>
            <a:miter/>
          </a:ln>
        </p:spPr>
      </p:pic>
      <p:sp>
        <p:nvSpPr>
          <p:cNvPr id="295" name="矩形"/>
          <p:cNvSpPr>
            <a:spLocks/>
          </p:cNvSpPr>
          <p:nvPr/>
        </p:nvSpPr>
        <p:spPr>
          <a:xfrm rot="0">
            <a:off x="3913632" y="2953512"/>
            <a:ext cx="1874519" cy="21945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50" b="1" i="0" u="none" strike="noStrike" kern="1200" cap="none" spc="0" baseline="0">
                <a:solidFill>
                  <a:srgbClr val="2E1B5B"/>
                </a:solidFill>
                <a:latin typeface="Calibri" pitchFamily="0" charset="0"/>
                <a:ea typeface="等线" pitchFamily="0" charset="0"/>
                <a:cs typeface="Calibri" pitchFamily="0" charset="0"/>
              </a:rPr>
              <a:t>Jobs in plain English</a:t>
            </a:r>
            <a:endParaRPr lang="zh-CN" altLang="en-US" sz="1150" b="1" i="0" u="none" strike="noStrike" kern="1200" cap="none" spc="0" baseline="0">
              <a:solidFill>
                <a:srgbClr val="2E1B5B"/>
              </a:solidFill>
              <a:latin typeface="Calibri" pitchFamily="0" charset="0"/>
              <a:ea typeface="等线" pitchFamily="0" charset="0"/>
              <a:cs typeface="Calibri" pitchFamily="0" charset="0"/>
            </a:endParaRPr>
          </a:p>
        </p:txBody>
      </p:sp>
      <p:sp>
        <p:nvSpPr>
          <p:cNvPr id="296" name="矩形"/>
          <p:cNvSpPr>
            <a:spLocks/>
          </p:cNvSpPr>
          <p:nvPr/>
        </p:nvSpPr>
        <p:spPr>
          <a:xfrm rot="0">
            <a:off x="3913632" y="3172968"/>
            <a:ext cx="1874519" cy="411479"/>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Typed text becomes a plan</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297" name="椭圆"/>
          <p:cNvSpPr>
            <a:spLocks/>
          </p:cNvSpPr>
          <p:nvPr/>
        </p:nvSpPr>
        <p:spPr>
          <a:xfrm rot="0">
            <a:off x="3456431" y="3685032"/>
            <a:ext cx="347472" cy="347472"/>
          </a:xfrm>
          <a:prstGeom prst="ellipse"/>
          <a:solidFill>
            <a:srgbClr val="5B3BA8"/>
          </a:solidFill>
          <a:ln w="6350" cmpd="sng" cap="flat">
            <a:noFill/>
            <a:prstDash val="solid"/>
            <a:round/>
          </a:ln>
        </p:spPr>
      </p:sp>
      <p:pic>
        <p:nvPicPr>
          <p:cNvPr id="298" name="图片" descr="shield_w.png"/>
          <p:cNvPicPr>
            <a:picLocks noChangeAspect="1"/>
          </p:cNvPicPr>
          <p:nvPr/>
        </p:nvPicPr>
        <p:blipFill>
          <a:blip r:embed="rId6" cstate="print"/>
          <a:stretch>
            <a:fillRect/>
          </a:stretch>
        </p:blipFill>
        <p:spPr>
          <a:xfrm rot="0">
            <a:off x="3539825" y="3768424"/>
            <a:ext cx="180685" cy="180685"/>
          </a:xfrm>
          <a:prstGeom prst="rect"/>
          <a:noFill/>
          <a:ln w="12700" cmpd="sng" cap="flat">
            <a:noFill/>
            <a:prstDash val="solid"/>
            <a:miter/>
          </a:ln>
        </p:spPr>
      </p:pic>
      <p:sp>
        <p:nvSpPr>
          <p:cNvPr id="299" name="矩形"/>
          <p:cNvSpPr>
            <a:spLocks/>
          </p:cNvSpPr>
          <p:nvPr/>
        </p:nvSpPr>
        <p:spPr>
          <a:xfrm rot="0">
            <a:off x="3913632" y="3666744"/>
            <a:ext cx="1874519" cy="21945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50" b="1" i="0" u="none" strike="noStrike" kern="1200" cap="none" spc="0" baseline="0">
                <a:solidFill>
                  <a:srgbClr val="2E1B5B"/>
                </a:solidFill>
                <a:latin typeface="Calibri" pitchFamily="0" charset="0"/>
                <a:ea typeface="等线" pitchFamily="0" charset="0"/>
                <a:cs typeface="Calibri" pitchFamily="0" charset="0"/>
              </a:rPr>
              <a:t>Guard-railed</a:t>
            </a:r>
            <a:endParaRPr lang="zh-CN" altLang="en-US" sz="1150" b="1" i="0" u="none" strike="noStrike" kern="1200" cap="none" spc="0" baseline="0">
              <a:solidFill>
                <a:srgbClr val="2E1B5B"/>
              </a:solidFill>
              <a:latin typeface="Calibri" pitchFamily="0" charset="0"/>
              <a:ea typeface="等线" pitchFamily="0" charset="0"/>
              <a:cs typeface="Calibri" pitchFamily="0" charset="0"/>
            </a:endParaRPr>
          </a:p>
        </p:txBody>
      </p:sp>
      <p:sp>
        <p:nvSpPr>
          <p:cNvPr id="300" name="矩形"/>
          <p:cNvSpPr>
            <a:spLocks/>
          </p:cNvSpPr>
          <p:nvPr/>
        </p:nvSpPr>
        <p:spPr>
          <a:xfrm rot="0">
            <a:off x="3913632" y="3886200"/>
            <a:ext cx="1874519" cy="411479"/>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00" b="0" i="0" u="none" strike="noStrike" kern="1200" cap="none" spc="0" baseline="0">
                <a:solidFill>
                  <a:srgbClr val="6F7399"/>
                </a:solidFill>
                <a:latin typeface="Calibri" pitchFamily="0" charset="0"/>
                <a:ea typeface="等线" pitchFamily="0" charset="0"/>
                <a:cs typeface="Calibri" pitchFamily="0" charset="0"/>
              </a:rPr>
              <a:t>AI never decides · every number checked · offline fallback</a:t>
            </a:r>
            <a:endParaRPr lang="zh-CN" altLang="en-US" sz="1000" b="0" i="0" u="none" strike="noStrike" kern="1200" cap="none" spc="0" baseline="0">
              <a:solidFill>
                <a:srgbClr val="6F7399"/>
              </a:solidFill>
              <a:latin typeface="Calibri" pitchFamily="0" charset="0"/>
              <a:ea typeface="等线" pitchFamily="0" charset="0"/>
              <a:cs typeface="Calibri" pitchFamily="0" charset="0"/>
            </a:endParaRPr>
          </a:p>
        </p:txBody>
      </p:sp>
      <p:sp>
        <p:nvSpPr>
          <p:cNvPr id="301" name="矩形"/>
          <p:cNvSpPr>
            <a:spLocks/>
          </p:cNvSpPr>
          <p:nvPr/>
        </p:nvSpPr>
        <p:spPr>
          <a:xfrm rot="0">
            <a:off x="6126479" y="1901951"/>
            <a:ext cx="2377440" cy="201167"/>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1" i="0" u="none" strike="noStrike" kern="1200" cap="none" spc="100" baseline="0">
                <a:solidFill>
                  <a:srgbClr val="5B3BA8"/>
                </a:solidFill>
                <a:latin typeface="Calibri" pitchFamily="0" charset="0"/>
                <a:ea typeface="等线" pitchFamily="0" charset="0"/>
                <a:cs typeface="Calibri" pitchFamily="0" charset="0"/>
              </a:rPr>
              <a:t>WHAT IT COULD BE WORTH</a:t>
            </a:r>
            <a:endParaRPr lang="zh-CN" altLang="en-US" sz="900" b="1" i="0" u="none" strike="noStrike" kern="1200" cap="none" spc="100" baseline="0">
              <a:solidFill>
                <a:srgbClr val="5B3BA8"/>
              </a:solidFill>
              <a:latin typeface="Calibri" pitchFamily="0" charset="0"/>
              <a:ea typeface="等线" pitchFamily="0" charset="0"/>
              <a:cs typeface="Calibri" pitchFamily="0" charset="0"/>
            </a:endParaRPr>
          </a:p>
        </p:txBody>
      </p:sp>
      <p:sp>
        <p:nvSpPr>
          <p:cNvPr id="302" name="矩形"/>
          <p:cNvSpPr>
            <a:spLocks/>
          </p:cNvSpPr>
          <p:nvPr/>
        </p:nvSpPr>
        <p:spPr>
          <a:xfrm rot="0">
            <a:off x="6126479" y="2194560"/>
            <a:ext cx="2377440" cy="384048"/>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2E1B5B"/>
                </a:solidFill>
                <a:latin typeface="Georgia" pitchFamily="0" charset="0"/>
                <a:ea typeface="等线" pitchFamily="0" charset="0"/>
                <a:cs typeface="Calibri" pitchFamily="0" charset="0"/>
              </a:rPr>
              <a:t>≈3,420 t</a:t>
            </a:r>
            <a:endParaRPr lang="zh-CN" altLang="en-US" sz="2400" b="1" i="0" u="none" strike="noStrike" kern="1200" cap="none" spc="0" baseline="0">
              <a:solidFill>
                <a:srgbClr val="2E1B5B"/>
              </a:solidFill>
              <a:latin typeface="Georgia" pitchFamily="0" charset="0"/>
              <a:ea typeface="等线" pitchFamily="0" charset="0"/>
              <a:cs typeface="Calibri" pitchFamily="0" charset="0"/>
            </a:endParaRPr>
          </a:p>
        </p:txBody>
      </p:sp>
      <p:sp>
        <p:nvSpPr>
          <p:cNvPr id="303" name="矩形"/>
          <p:cNvSpPr>
            <a:spLocks/>
          </p:cNvSpPr>
          <p:nvPr/>
        </p:nvSpPr>
        <p:spPr>
          <a:xfrm rot="0">
            <a:off x="6126479" y="2596896"/>
            <a:ext cx="2377440" cy="201168"/>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6F7399"/>
                </a:solidFill>
                <a:latin typeface="Calibri" pitchFamily="0" charset="0"/>
                <a:ea typeface="等线" pitchFamily="0" charset="0"/>
                <a:cs typeface="Calibri" pitchFamily="0" charset="0"/>
              </a:rPr>
              <a:t>CO₂ saved per year</a:t>
            </a:r>
            <a:endParaRPr lang="zh-CN" altLang="en-US" sz="1050" b="0" i="0" u="none" strike="noStrike" kern="1200" cap="none" spc="0" baseline="0">
              <a:solidFill>
                <a:srgbClr val="6F7399"/>
              </a:solidFill>
              <a:latin typeface="Calibri" pitchFamily="0" charset="0"/>
              <a:ea typeface="等线" pitchFamily="0" charset="0"/>
              <a:cs typeface="Calibri" pitchFamily="0" charset="0"/>
            </a:endParaRPr>
          </a:p>
        </p:txBody>
      </p:sp>
      <p:sp>
        <p:nvSpPr>
          <p:cNvPr id="304" name="矩形"/>
          <p:cNvSpPr>
            <a:spLocks/>
          </p:cNvSpPr>
          <p:nvPr/>
        </p:nvSpPr>
        <p:spPr>
          <a:xfrm rot="0">
            <a:off x="6126479" y="2926080"/>
            <a:ext cx="2377440" cy="384048"/>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2E1B5B"/>
                </a:solidFill>
                <a:latin typeface="Georgia" pitchFamily="0" charset="0"/>
                <a:ea typeface="等线" pitchFamily="0" charset="0"/>
                <a:cs typeface="Calibri" pitchFamily="0" charset="0"/>
              </a:rPr>
              <a:t>≈11.6 ML</a:t>
            </a:r>
            <a:endParaRPr lang="zh-CN" altLang="en-US" sz="2400" b="1" i="0" u="none" strike="noStrike" kern="1200" cap="none" spc="0" baseline="0">
              <a:solidFill>
                <a:srgbClr val="2E1B5B"/>
              </a:solidFill>
              <a:latin typeface="Georgia" pitchFamily="0" charset="0"/>
              <a:ea typeface="等线" pitchFamily="0" charset="0"/>
              <a:cs typeface="Calibri" pitchFamily="0" charset="0"/>
            </a:endParaRPr>
          </a:p>
        </p:txBody>
      </p:sp>
      <p:sp>
        <p:nvSpPr>
          <p:cNvPr id="305" name="矩形"/>
          <p:cNvSpPr>
            <a:spLocks/>
          </p:cNvSpPr>
          <p:nvPr/>
        </p:nvSpPr>
        <p:spPr>
          <a:xfrm rot="0">
            <a:off x="6126479" y="3328416"/>
            <a:ext cx="2377440" cy="201168"/>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6F7399"/>
                </a:solidFill>
                <a:latin typeface="Calibri" pitchFamily="0" charset="0"/>
                <a:ea typeface="等线" pitchFamily="0" charset="0"/>
                <a:cs typeface="Calibri" pitchFamily="0" charset="0"/>
              </a:rPr>
              <a:t>megalitres of water saved per year</a:t>
            </a:r>
            <a:endParaRPr lang="zh-CN" altLang="en-US" sz="1050" b="0" i="0" u="none" strike="noStrike" kern="1200" cap="none" spc="0" baseline="0">
              <a:solidFill>
                <a:srgbClr val="6F7399"/>
              </a:solidFill>
              <a:latin typeface="Calibri" pitchFamily="0" charset="0"/>
              <a:ea typeface="等线" pitchFamily="0" charset="0"/>
              <a:cs typeface="Calibri" pitchFamily="0" charset="0"/>
            </a:endParaRPr>
          </a:p>
        </p:txBody>
      </p:sp>
      <p:sp>
        <p:nvSpPr>
          <p:cNvPr id="306" name="矩形"/>
          <p:cNvSpPr>
            <a:spLocks/>
          </p:cNvSpPr>
          <p:nvPr/>
        </p:nvSpPr>
        <p:spPr>
          <a:xfrm rot="0">
            <a:off x="6126479" y="3767328"/>
            <a:ext cx="2377440" cy="6858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50" b="0" i="0" u="none" strike="noStrike" kern="1200" cap="none" spc="0" baseline="0">
                <a:solidFill>
                  <a:srgbClr val="6F7399"/>
                </a:solidFill>
                <a:latin typeface="Calibri" pitchFamily="0" charset="0"/>
                <a:ea typeface="等线" pitchFamily="0" charset="0"/>
                <a:cs typeface="Calibri" pitchFamily="0" charset="0"/>
              </a:rPr>
              <a:t>Assumed: 100 GWh/yr fleet, 20% flexible load, our measured 14% saving. An estimate, not a deployment.</a:t>
            </a:r>
            <a:endParaRPr lang="zh-CN" altLang="en-US" sz="950" b="0" i="0" u="none" strike="noStrike" kern="1200" cap="none" spc="0" baseline="0">
              <a:solidFill>
                <a:srgbClr val="6F739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760414143"/>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bg>
      <p:bgPr>
        <a:solidFill>
          <a:srgbClr val="DDE2FC"/>
        </a:solidFill>
      </p:bgPr>
    </p:bg>
    <p:spTree>
      <p:nvGrpSpPr>
        <p:cNvPr id="1" name=""/>
        <p:cNvGrpSpPr/>
        <p:nvPr/>
      </p:nvGrpSpPr>
      <p:grpSpPr>
        <a:xfrm>
          <a:off x="0" y="0"/>
          <a:ext cx="0" cy="0"/>
          <a:chOff x="0" y="0"/>
          <a:chExt cx="0" cy="0"/>
        </a:xfrm>
      </p:grpSpPr>
      <p:sp>
        <p:nvSpPr>
          <p:cNvPr id="309" name="文本框"/>
          <p:cNvSpPr>
            <a:spLocks noGrp="1"/>
          </p:cNvSpPr>
          <p:nvPr>
            <p:ph type="title"/>
          </p:nvPr>
        </p:nvSpPr>
        <p:spPr>
          <a:xfrm rot="0">
            <a:off x="457200" y="841248"/>
            <a:ext cx="630936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600" b="1" i="0" u="none" strike="noStrike" kern="1200" cap="none" spc="0" baseline="0">
                <a:solidFill>
                  <a:srgbClr val="2E1B5B"/>
                </a:solidFill>
                <a:latin typeface="Georgia" pitchFamily="0" charset="0"/>
                <a:ea typeface="Georgia" pitchFamily="0" charset="0"/>
                <a:cs typeface="Georgia" pitchFamily="0" charset="0"/>
              </a:rPr>
              <a:t>Challenges &amp; Future Scope</a:t>
            </a:r>
            <a:endParaRPr lang="zh-CN" altLang="en-US" sz="2600" b="1" i="0" u="none" strike="noStrike" kern="1200" cap="none" spc="0" baseline="0">
              <a:solidFill>
                <a:srgbClr val="2E1B5B"/>
              </a:solidFill>
              <a:latin typeface="Georgia" pitchFamily="0" charset="0"/>
              <a:ea typeface="Georgia" pitchFamily="0" charset="0"/>
              <a:cs typeface="Georgia" pitchFamily="0" charset="0"/>
            </a:endParaRPr>
          </a:p>
        </p:txBody>
      </p:sp>
      <p:sp>
        <p:nvSpPr>
          <p:cNvPr id="310" name="矩形"/>
          <p:cNvSpPr>
            <a:spLocks/>
          </p:cNvSpPr>
          <p:nvPr/>
        </p:nvSpPr>
        <p:spPr>
          <a:xfrm rot="0">
            <a:off x="457200" y="1463040"/>
            <a:ext cx="256031" cy="45720"/>
          </a:xfrm>
          <a:prstGeom prst="rect"/>
          <a:solidFill>
            <a:srgbClr val="7C93F0"/>
          </a:solidFill>
          <a:ln w="12700" cmpd="sng" cap="flat">
            <a:solidFill>
              <a:srgbClr val="7C93F0"/>
            </a:solidFill>
            <a:prstDash val="solid"/>
            <a:round/>
          </a:ln>
        </p:spPr>
      </p:sp>
      <p:sp>
        <p:nvSpPr>
          <p:cNvPr id="311" name="矩形"/>
          <p:cNvSpPr>
            <a:spLocks/>
          </p:cNvSpPr>
          <p:nvPr/>
        </p:nvSpPr>
        <p:spPr>
          <a:xfrm rot="0">
            <a:off x="731520" y="1463040"/>
            <a:ext cx="256031" cy="45720"/>
          </a:xfrm>
          <a:prstGeom prst="rect"/>
          <a:solidFill>
            <a:srgbClr val="E8639F"/>
          </a:solidFill>
          <a:ln w="12700" cmpd="sng" cap="flat">
            <a:solidFill>
              <a:srgbClr val="E8639F"/>
            </a:solidFill>
            <a:prstDash val="solid"/>
            <a:round/>
          </a:ln>
        </p:spPr>
      </p:sp>
      <p:sp>
        <p:nvSpPr>
          <p:cNvPr id="312" name="矩形"/>
          <p:cNvSpPr>
            <a:spLocks/>
          </p:cNvSpPr>
          <p:nvPr/>
        </p:nvSpPr>
        <p:spPr>
          <a:xfrm rot="0">
            <a:off x="1005839" y="1463040"/>
            <a:ext cx="256031" cy="45720"/>
          </a:xfrm>
          <a:prstGeom prst="rect"/>
          <a:solidFill>
            <a:srgbClr val="5B3BA8"/>
          </a:solidFill>
          <a:ln w="12700" cmpd="sng" cap="flat">
            <a:solidFill>
              <a:srgbClr val="5B3BA8"/>
            </a:solidFill>
            <a:prstDash val="solid"/>
            <a:round/>
          </a:ln>
        </p:spPr>
      </p:sp>
      <p:sp>
        <p:nvSpPr>
          <p:cNvPr id="313" name="圆角矩形"/>
          <p:cNvSpPr>
            <a:spLocks/>
          </p:cNvSpPr>
          <p:nvPr/>
        </p:nvSpPr>
        <p:spPr>
          <a:xfrm rot="0">
            <a:off x="457200" y="1691639"/>
            <a:ext cx="8229600" cy="2926080"/>
          </a:xfrm>
          <a:prstGeom prst="roundRect">
            <a:avLst>
              <a:gd name="adj" fmla="val 2500"/>
            </a:avLst>
          </a:prstGeom>
          <a:solidFill>
            <a:srgbClr val="FFFFFF"/>
          </a:solidFill>
          <a:ln w="9525" cmpd="sng" cap="flat">
            <a:solidFill>
              <a:srgbClr val="B8BDEB"/>
            </a:solidFill>
            <a:prstDash val="solid"/>
            <a:round/>
          </a:ln>
        </p:spPr>
      </p:sp>
      <p:sp>
        <p:nvSpPr>
          <p:cNvPr id="314" name="矩形"/>
          <p:cNvSpPr>
            <a:spLocks/>
          </p:cNvSpPr>
          <p:nvPr/>
        </p:nvSpPr>
        <p:spPr>
          <a:xfrm rot="0">
            <a:off x="685800" y="1691639"/>
            <a:ext cx="822960" cy="54863"/>
          </a:xfrm>
          <a:prstGeom prst="rect"/>
          <a:solidFill>
            <a:srgbClr val="E8639F"/>
          </a:solidFill>
          <a:ln w="12700" cmpd="sng" cap="flat">
            <a:solidFill>
              <a:srgbClr val="E8639F"/>
            </a:solidFill>
            <a:prstDash val="solid"/>
            <a:round/>
          </a:ln>
        </p:spPr>
      </p:sp>
      <p:sp>
        <p:nvSpPr>
          <p:cNvPr id="315" name="文本框"/>
          <p:cNvSpPr>
            <a:spLocks noGrp="1"/>
          </p:cNvSpPr>
          <p:nvPr>
            <p:ph type="sldNum"/>
          </p:nvPr>
        </p:nvSpPr>
        <p:spPr>
          <a:xfrm rot="0">
            <a:off x="8321040" y="4864608"/>
            <a:ext cx="365759" cy="274319"/>
          </a:xfrm>
          <a:prstGeom prst="rect"/>
          <a:noFill/>
          <a:ln cmpd="sng" cap="flat">
            <a:noFill/>
            <a:prstDash val="solid"/>
            <a:miter/>
          </a:ln>
        </p:spPr>
        <p:txBody>
          <a:bodyPr vert="horz" wrap="non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900" b="1" i="0" u="none" strike="noStrike" kern="1200" cap="none" spc="0" baseline="0">
                <a:solidFill>
                  <a:srgbClr val="2E1B5B"/>
                </a:solidFill>
                <a:latin typeface="Calibri" pitchFamily="0" charset="0"/>
                <a:ea typeface="等线" pitchFamily="0" charset="0"/>
                <a:cs typeface="Calibri" pitchFamily="0" charset="0"/>
              </a:rPr>
              <a:t>9</a:t>
            </a:fld>
            <a:endParaRPr lang="zh-CN" altLang="en-US" sz="900" b="0" i="0" u="none" strike="noStrike" kern="1200" cap="none" spc="0" baseline="0">
              <a:solidFill>
                <a:srgbClr val="2E1B5B"/>
              </a:solidFill>
              <a:latin typeface="Calibri" pitchFamily="0" charset="0"/>
              <a:ea typeface="等线" pitchFamily="0" charset="0"/>
              <a:cs typeface="Calibri" pitchFamily="0" charset="0"/>
            </a:endParaRPr>
          </a:p>
        </p:txBody>
      </p:sp>
      <p:graphicFrame>
        <p:nvGraphicFramePr>
          <p:cNvPr id="316" name="对象"/>
          <p:cNvGraphicFramePr>
            <a:graphicFrameLocks/>
          </p:cNvGraphicFramePr>
          <p:nvPr/>
        </p:nvGraphicFramePr>
        <p:xfrm>
          <a:off x="640080" y="1828800"/>
          <a:ext cx="3977639" cy="2468880"/>
        </p:xfrm>
        <a:graphic>
          <a:graphicData uri="http://schemas.openxmlformats.org/drawingml/2006/chart">
            <c:chart xmlns:c="http://schemas.openxmlformats.org/drawingml/2006/chart" r:id="rId1"/>
          </a:graphicData>
        </a:graphic>
      </p:graphicFrame>
      <p:sp>
        <p:nvSpPr>
          <p:cNvPr id="317" name="矩形"/>
          <p:cNvSpPr>
            <a:spLocks/>
          </p:cNvSpPr>
          <p:nvPr/>
        </p:nvSpPr>
        <p:spPr>
          <a:xfrm rot="0">
            <a:off x="777240" y="4334256"/>
            <a:ext cx="3749039" cy="201168"/>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50" b="0" i="0" u="none" strike="noStrike" kern="1200" cap="none" spc="0" baseline="0">
                <a:solidFill>
                  <a:srgbClr val="6F7399"/>
                </a:solidFill>
                <a:latin typeface="Calibri" pitchFamily="0" charset="0"/>
                <a:ea typeface="等线" pitchFamily="0" charset="0"/>
                <a:cs typeface="Calibri" pitchFamily="0" charset="0"/>
              </a:rPr>
              <a:t>Qubits on the x-axis (2 per job). Pink: 8 qubits, run on real IBM hardware.</a:t>
            </a:r>
            <a:endParaRPr lang="zh-CN" altLang="en-US" sz="950" b="0" i="0" u="none" strike="noStrike" kern="1200" cap="none" spc="0" baseline="0">
              <a:solidFill>
                <a:srgbClr val="6F7399"/>
              </a:solidFill>
              <a:latin typeface="Calibri" pitchFamily="0" charset="0"/>
              <a:ea typeface="等线" pitchFamily="0" charset="0"/>
              <a:cs typeface="Calibri" pitchFamily="0" charset="0"/>
            </a:endParaRPr>
          </a:p>
        </p:txBody>
      </p:sp>
      <p:sp>
        <p:nvSpPr>
          <p:cNvPr id="318" name="矩形"/>
          <p:cNvSpPr>
            <a:spLocks/>
          </p:cNvSpPr>
          <p:nvPr/>
        </p:nvSpPr>
        <p:spPr>
          <a:xfrm rot="0">
            <a:off x="4892040" y="1901951"/>
            <a:ext cx="3566160" cy="201167"/>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1" i="0" u="none" strike="noStrike" kern="1200" cap="none" spc="100" baseline="0">
                <a:solidFill>
                  <a:srgbClr val="E8639F"/>
                </a:solidFill>
                <a:latin typeface="Calibri" pitchFamily="0" charset="0"/>
                <a:ea typeface="等线" pitchFamily="0" charset="0"/>
                <a:cs typeface="Calibri" pitchFamily="0" charset="0"/>
              </a:rPr>
              <a:t>CHALLENGES</a:t>
            </a:r>
            <a:endParaRPr lang="zh-CN" altLang="en-US" sz="900" b="1" i="0" u="none" strike="noStrike" kern="1200" cap="none" spc="100" baseline="0">
              <a:solidFill>
                <a:srgbClr val="E8639F"/>
              </a:solidFill>
              <a:latin typeface="Calibri" pitchFamily="0" charset="0"/>
              <a:ea typeface="等线" pitchFamily="0" charset="0"/>
              <a:cs typeface="Calibri" pitchFamily="0" charset="0"/>
            </a:endParaRPr>
          </a:p>
        </p:txBody>
      </p:sp>
      <p:sp>
        <p:nvSpPr>
          <p:cNvPr id="319" name="椭圆"/>
          <p:cNvSpPr>
            <a:spLocks/>
          </p:cNvSpPr>
          <p:nvPr/>
        </p:nvSpPr>
        <p:spPr>
          <a:xfrm rot="0">
            <a:off x="4910327" y="2231136"/>
            <a:ext cx="82296" cy="82296"/>
          </a:xfrm>
          <a:prstGeom prst="ellipse"/>
          <a:solidFill>
            <a:srgbClr val="E8639F"/>
          </a:solidFill>
          <a:ln w="6350" cmpd="sng" cap="flat">
            <a:noFill/>
            <a:prstDash val="solid"/>
            <a:round/>
          </a:ln>
        </p:spPr>
      </p:sp>
      <p:sp>
        <p:nvSpPr>
          <p:cNvPr id="320" name="矩形"/>
          <p:cNvSpPr>
            <a:spLocks/>
          </p:cNvSpPr>
          <p:nvPr/>
        </p:nvSpPr>
        <p:spPr>
          <a:xfrm rot="0">
            <a:off x="5074920" y="2157984"/>
            <a:ext cx="3429000" cy="246887"/>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2E1B5B"/>
                </a:solidFill>
                <a:latin typeface="Calibri" pitchFamily="0" charset="0"/>
                <a:ea typeface="等线" pitchFamily="0" charset="0"/>
                <a:cs typeface="Calibri" pitchFamily="0" charset="0"/>
              </a:rPr>
              <a:t>Noise: the real chip keeps 48–67% of the ideal gain</a:t>
            </a:r>
            <a:endParaRPr lang="zh-CN" altLang="en-US" sz="1050" b="0" i="0" u="none" strike="noStrike" kern="1200" cap="none" spc="0" baseline="0">
              <a:solidFill>
                <a:srgbClr val="2E1B5B"/>
              </a:solidFill>
              <a:latin typeface="Calibri" pitchFamily="0" charset="0"/>
              <a:ea typeface="等线" pitchFamily="0" charset="0"/>
              <a:cs typeface="Calibri" pitchFamily="0" charset="0"/>
            </a:endParaRPr>
          </a:p>
        </p:txBody>
      </p:sp>
      <p:sp>
        <p:nvSpPr>
          <p:cNvPr id="321" name="椭圆"/>
          <p:cNvSpPr>
            <a:spLocks/>
          </p:cNvSpPr>
          <p:nvPr/>
        </p:nvSpPr>
        <p:spPr>
          <a:xfrm rot="0">
            <a:off x="4910327" y="2478024"/>
            <a:ext cx="82296" cy="82296"/>
          </a:xfrm>
          <a:prstGeom prst="ellipse"/>
          <a:solidFill>
            <a:srgbClr val="E8639F"/>
          </a:solidFill>
          <a:ln w="6350" cmpd="sng" cap="flat">
            <a:noFill/>
            <a:prstDash val="solid"/>
            <a:round/>
          </a:ln>
        </p:spPr>
      </p:sp>
      <p:sp>
        <p:nvSpPr>
          <p:cNvPr id="322" name="矩形"/>
          <p:cNvSpPr>
            <a:spLocks/>
          </p:cNvSpPr>
          <p:nvPr/>
        </p:nvSpPr>
        <p:spPr>
          <a:xfrm rot="0">
            <a:off x="5074920" y="2404872"/>
            <a:ext cx="3429000" cy="246887"/>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2E1B5B"/>
                </a:solidFill>
                <a:latin typeface="Calibri" pitchFamily="0" charset="0"/>
                <a:ea typeface="等线" pitchFamily="0" charset="0"/>
                <a:cs typeface="Calibri" pitchFamily="0" charset="0"/>
              </a:rPr>
              <a:t>22 qubits already need 1,010 two-qubit gates</a:t>
            </a:r>
            <a:endParaRPr lang="zh-CN" altLang="en-US" sz="1050" b="0" i="0" u="none" strike="noStrike" kern="1200" cap="none" spc="0" baseline="0">
              <a:solidFill>
                <a:srgbClr val="2E1B5B"/>
              </a:solidFill>
              <a:latin typeface="Calibri" pitchFamily="0" charset="0"/>
              <a:ea typeface="等线" pitchFamily="0" charset="0"/>
              <a:cs typeface="Calibri" pitchFamily="0" charset="0"/>
            </a:endParaRPr>
          </a:p>
        </p:txBody>
      </p:sp>
      <p:sp>
        <p:nvSpPr>
          <p:cNvPr id="323" name="椭圆"/>
          <p:cNvSpPr>
            <a:spLocks/>
          </p:cNvSpPr>
          <p:nvPr/>
        </p:nvSpPr>
        <p:spPr>
          <a:xfrm rot="0">
            <a:off x="4910327" y="2724912"/>
            <a:ext cx="82296" cy="82296"/>
          </a:xfrm>
          <a:prstGeom prst="ellipse"/>
          <a:solidFill>
            <a:srgbClr val="E8639F"/>
          </a:solidFill>
          <a:ln w="6350" cmpd="sng" cap="flat">
            <a:noFill/>
            <a:prstDash val="solid"/>
            <a:round/>
          </a:ln>
        </p:spPr>
      </p:sp>
      <p:sp>
        <p:nvSpPr>
          <p:cNvPr id="324" name="矩形"/>
          <p:cNvSpPr>
            <a:spLocks/>
          </p:cNvSpPr>
          <p:nvPr/>
        </p:nvSpPr>
        <p:spPr>
          <a:xfrm rot="0">
            <a:off x="5074920" y="2651760"/>
            <a:ext cx="3429000" cy="246887"/>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2E1B5B"/>
                </a:solidFill>
                <a:latin typeface="Calibri" pitchFamily="0" charset="0"/>
                <a:ea typeface="等线" pitchFamily="0" charset="0"/>
                <a:cs typeface="Calibri" pitchFamily="0" charset="0"/>
              </a:rPr>
              <a:t>About 10 min of free quantum time a month</a:t>
            </a:r>
            <a:endParaRPr lang="zh-CN" altLang="en-US" sz="1050" b="0" i="0" u="none" strike="noStrike" kern="1200" cap="none" spc="0" baseline="0">
              <a:solidFill>
                <a:srgbClr val="2E1B5B"/>
              </a:solidFill>
              <a:latin typeface="Calibri" pitchFamily="0" charset="0"/>
              <a:ea typeface="等线" pitchFamily="0" charset="0"/>
              <a:cs typeface="Calibri" pitchFamily="0" charset="0"/>
            </a:endParaRPr>
          </a:p>
        </p:txBody>
      </p:sp>
      <p:sp>
        <p:nvSpPr>
          <p:cNvPr id="325" name="椭圆"/>
          <p:cNvSpPr>
            <a:spLocks/>
          </p:cNvSpPr>
          <p:nvPr/>
        </p:nvSpPr>
        <p:spPr>
          <a:xfrm rot="0">
            <a:off x="4910327" y="2971799"/>
            <a:ext cx="82296" cy="82296"/>
          </a:xfrm>
          <a:prstGeom prst="ellipse"/>
          <a:solidFill>
            <a:srgbClr val="E8639F"/>
          </a:solidFill>
          <a:ln w="6350" cmpd="sng" cap="flat">
            <a:noFill/>
            <a:prstDash val="solid"/>
            <a:round/>
          </a:ln>
        </p:spPr>
      </p:sp>
      <p:sp>
        <p:nvSpPr>
          <p:cNvPr id="326" name="矩形"/>
          <p:cNvSpPr>
            <a:spLocks/>
          </p:cNvSpPr>
          <p:nvPr/>
        </p:nvSpPr>
        <p:spPr>
          <a:xfrm rot="0">
            <a:off x="5074920" y="2898647"/>
            <a:ext cx="3429000" cy="246887"/>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2E1B5B"/>
                </a:solidFill>
                <a:latin typeface="Calibri" pitchFamily="0" charset="0"/>
                <a:ea typeface="等线" pitchFamily="0" charset="0"/>
                <a:cs typeface="Calibri" pitchFamily="0" charset="0"/>
              </a:rPr>
              <a:t>Site and job data are illustrative</a:t>
            </a:r>
            <a:endParaRPr lang="zh-CN" altLang="en-US" sz="1050" b="0" i="0" u="none" strike="noStrike" kern="1200" cap="none" spc="0" baseline="0">
              <a:solidFill>
                <a:srgbClr val="2E1B5B"/>
              </a:solidFill>
              <a:latin typeface="Calibri" pitchFamily="0" charset="0"/>
              <a:ea typeface="等线" pitchFamily="0" charset="0"/>
              <a:cs typeface="Calibri" pitchFamily="0" charset="0"/>
            </a:endParaRPr>
          </a:p>
        </p:txBody>
      </p:sp>
      <p:sp>
        <p:nvSpPr>
          <p:cNvPr id="327" name="矩形"/>
          <p:cNvSpPr>
            <a:spLocks/>
          </p:cNvSpPr>
          <p:nvPr/>
        </p:nvSpPr>
        <p:spPr>
          <a:xfrm rot="0">
            <a:off x="4892040" y="3255264"/>
            <a:ext cx="3566160" cy="201168"/>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1" i="0" u="none" strike="noStrike" kern="1200" cap="none" spc="100" baseline="0">
                <a:solidFill>
                  <a:srgbClr val="5B3BA8"/>
                </a:solidFill>
                <a:latin typeface="Calibri" pitchFamily="0" charset="0"/>
                <a:ea typeface="等线" pitchFamily="0" charset="0"/>
                <a:cs typeface="Calibri" pitchFamily="0" charset="0"/>
              </a:rPr>
              <a:t>FUTURE SCOPE</a:t>
            </a:r>
            <a:endParaRPr lang="zh-CN" altLang="en-US" sz="900" b="1" i="0" u="none" strike="noStrike" kern="1200" cap="none" spc="100" baseline="0">
              <a:solidFill>
                <a:srgbClr val="5B3BA8"/>
              </a:solidFill>
              <a:latin typeface="Calibri" pitchFamily="0" charset="0"/>
              <a:ea typeface="等线" pitchFamily="0" charset="0"/>
              <a:cs typeface="Calibri" pitchFamily="0" charset="0"/>
            </a:endParaRPr>
          </a:p>
        </p:txBody>
      </p:sp>
      <p:sp>
        <p:nvSpPr>
          <p:cNvPr id="328" name="椭圆"/>
          <p:cNvSpPr>
            <a:spLocks/>
          </p:cNvSpPr>
          <p:nvPr/>
        </p:nvSpPr>
        <p:spPr>
          <a:xfrm rot="0">
            <a:off x="4910327" y="3584448"/>
            <a:ext cx="82296" cy="82296"/>
          </a:xfrm>
          <a:prstGeom prst="ellipse"/>
          <a:solidFill>
            <a:srgbClr val="5B3BA8"/>
          </a:solidFill>
          <a:ln w="6350" cmpd="sng" cap="flat">
            <a:noFill/>
            <a:prstDash val="solid"/>
            <a:round/>
          </a:ln>
        </p:spPr>
      </p:sp>
      <p:sp>
        <p:nvSpPr>
          <p:cNvPr id="329" name="矩形"/>
          <p:cNvSpPr>
            <a:spLocks/>
          </p:cNvSpPr>
          <p:nvPr/>
        </p:nvSpPr>
        <p:spPr>
          <a:xfrm rot="0">
            <a:off x="5074920" y="3511296"/>
            <a:ext cx="3429000" cy="246887"/>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2E1B5B"/>
                </a:solidFill>
                <a:latin typeface="Calibri" pitchFamily="0" charset="0"/>
                <a:ea typeface="等线" pitchFamily="0" charset="0"/>
                <a:cs typeface="Calibri" pitchFamily="0" charset="0"/>
              </a:rPr>
              <a:t>Split big fleets into small sub-problems</a:t>
            </a:r>
            <a:endParaRPr lang="zh-CN" altLang="en-US" sz="1050" b="0" i="0" u="none" strike="noStrike" kern="1200" cap="none" spc="0" baseline="0">
              <a:solidFill>
                <a:srgbClr val="2E1B5B"/>
              </a:solidFill>
              <a:latin typeface="Calibri" pitchFamily="0" charset="0"/>
              <a:ea typeface="等线" pitchFamily="0" charset="0"/>
              <a:cs typeface="Calibri" pitchFamily="0" charset="0"/>
            </a:endParaRPr>
          </a:p>
        </p:txBody>
      </p:sp>
      <p:sp>
        <p:nvSpPr>
          <p:cNvPr id="330" name="椭圆"/>
          <p:cNvSpPr>
            <a:spLocks/>
          </p:cNvSpPr>
          <p:nvPr/>
        </p:nvSpPr>
        <p:spPr>
          <a:xfrm rot="0">
            <a:off x="4910327" y="3831335"/>
            <a:ext cx="82296" cy="82296"/>
          </a:xfrm>
          <a:prstGeom prst="ellipse"/>
          <a:solidFill>
            <a:srgbClr val="5B3BA8"/>
          </a:solidFill>
          <a:ln w="6350" cmpd="sng" cap="flat">
            <a:noFill/>
            <a:prstDash val="solid"/>
            <a:round/>
          </a:ln>
        </p:spPr>
      </p:sp>
      <p:sp>
        <p:nvSpPr>
          <p:cNvPr id="331" name="矩形"/>
          <p:cNvSpPr>
            <a:spLocks/>
          </p:cNvSpPr>
          <p:nvPr/>
        </p:nvSpPr>
        <p:spPr>
          <a:xfrm rot="0">
            <a:off x="5074920" y="3758183"/>
            <a:ext cx="3429000" cy="246887"/>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2E1B5B"/>
                </a:solidFill>
                <a:latin typeface="Calibri" pitchFamily="0" charset="0"/>
                <a:ea typeface="等线" pitchFamily="0" charset="0"/>
                <a:cs typeface="Calibri" pitchFamily="0" charset="0"/>
              </a:rPr>
              <a:t>Live regional carbon and water data</a:t>
            </a:r>
            <a:endParaRPr lang="zh-CN" altLang="en-US" sz="1050" b="0" i="0" u="none" strike="noStrike" kern="1200" cap="none" spc="0" baseline="0">
              <a:solidFill>
                <a:srgbClr val="2E1B5B"/>
              </a:solidFill>
              <a:latin typeface="Calibri" pitchFamily="0" charset="0"/>
              <a:ea typeface="等线" pitchFamily="0" charset="0"/>
              <a:cs typeface="Calibri" pitchFamily="0" charset="0"/>
            </a:endParaRPr>
          </a:p>
        </p:txBody>
      </p:sp>
      <p:sp>
        <p:nvSpPr>
          <p:cNvPr id="332" name="椭圆"/>
          <p:cNvSpPr>
            <a:spLocks/>
          </p:cNvSpPr>
          <p:nvPr/>
        </p:nvSpPr>
        <p:spPr>
          <a:xfrm rot="0">
            <a:off x="4910327" y="4078224"/>
            <a:ext cx="82296" cy="82296"/>
          </a:xfrm>
          <a:prstGeom prst="ellipse"/>
          <a:solidFill>
            <a:srgbClr val="5B3BA8"/>
          </a:solidFill>
          <a:ln w="6350" cmpd="sng" cap="flat">
            <a:noFill/>
            <a:prstDash val="solid"/>
            <a:round/>
          </a:ln>
        </p:spPr>
      </p:sp>
      <p:sp>
        <p:nvSpPr>
          <p:cNvPr id="333" name="矩形"/>
          <p:cNvSpPr>
            <a:spLocks/>
          </p:cNvSpPr>
          <p:nvPr/>
        </p:nvSpPr>
        <p:spPr>
          <a:xfrm rot="0">
            <a:off x="5074920" y="4005072"/>
            <a:ext cx="3429000" cy="246887"/>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2E1B5B"/>
                </a:solidFill>
                <a:latin typeface="Calibri" pitchFamily="0" charset="0"/>
                <a:ea typeface="等线" pitchFamily="0" charset="0"/>
                <a:cs typeface="Calibri" pitchFamily="0" charset="0"/>
              </a:rPr>
              <a:t>Plug into schedulers like Kubernetes and Slurm</a:t>
            </a:r>
            <a:endParaRPr lang="zh-CN" altLang="en-US" sz="1050" b="0" i="0" u="none" strike="noStrike" kern="1200" cap="none" spc="0" baseline="0">
              <a:solidFill>
                <a:srgbClr val="2E1B5B"/>
              </a:solidFill>
              <a:latin typeface="Calibri" pitchFamily="0" charset="0"/>
              <a:ea typeface="等线" pitchFamily="0" charset="0"/>
              <a:cs typeface="Calibri" pitchFamily="0" charset="0"/>
            </a:endParaRPr>
          </a:p>
        </p:txBody>
      </p:sp>
      <p:sp>
        <p:nvSpPr>
          <p:cNvPr id="334" name="椭圆"/>
          <p:cNvSpPr>
            <a:spLocks/>
          </p:cNvSpPr>
          <p:nvPr/>
        </p:nvSpPr>
        <p:spPr>
          <a:xfrm rot="0">
            <a:off x="4910327" y="4325112"/>
            <a:ext cx="82296" cy="82296"/>
          </a:xfrm>
          <a:prstGeom prst="ellipse"/>
          <a:solidFill>
            <a:srgbClr val="5B3BA8"/>
          </a:solidFill>
          <a:ln w="6350" cmpd="sng" cap="flat">
            <a:noFill/>
            <a:prstDash val="solid"/>
            <a:round/>
          </a:ln>
        </p:spPr>
      </p:sp>
      <p:sp>
        <p:nvSpPr>
          <p:cNvPr id="335" name="矩形"/>
          <p:cNvSpPr>
            <a:spLocks/>
          </p:cNvSpPr>
          <p:nvPr/>
        </p:nvSpPr>
        <p:spPr>
          <a:xfrm rot="0">
            <a:off x="5074920" y="4251960"/>
            <a:ext cx="3429000" cy="246887"/>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2E1B5B"/>
                </a:solidFill>
                <a:latin typeface="Calibri" pitchFamily="0" charset="0"/>
                <a:ea typeface="等线" pitchFamily="0" charset="0"/>
                <a:cs typeface="Calibri" pitchFamily="0" charset="0"/>
              </a:rPr>
              <a:t>Deeper circuits as hardware improves</a:t>
            </a:r>
            <a:endParaRPr lang="zh-CN" altLang="en-US" sz="1050" b="0" i="0" u="none" strike="noStrike" kern="1200" cap="none" spc="0" baseline="0">
              <a:solidFill>
                <a:srgbClr val="2E1B5B"/>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712888381"/>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bg>
      <p:bgPr>
        <a:solidFill>
          <a:srgbClr val="DDE2FC"/>
        </a:solidFill>
      </p:bgPr>
    </p:bg>
    <p:spTree>
      <p:nvGrpSpPr>
        <p:cNvPr id="1" name=""/>
        <p:cNvGrpSpPr/>
        <p:nvPr/>
      </p:nvGrpSpPr>
      <p:grpSpPr>
        <a:xfrm>
          <a:off x="0" y="0"/>
          <a:ext cx="0" cy="0"/>
          <a:chOff x="0" y="0"/>
          <a:chExt cx="0" cy="0"/>
        </a:xfrm>
      </p:grpSpPr>
      <p:sp>
        <p:nvSpPr>
          <p:cNvPr id="338" name="矩形"/>
          <p:cNvSpPr>
            <a:spLocks/>
          </p:cNvSpPr>
          <p:nvPr/>
        </p:nvSpPr>
        <p:spPr>
          <a:xfrm rot="0">
            <a:off x="457200" y="914400"/>
            <a:ext cx="2743200" cy="27432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000" b="1" i="0" u="none" strike="noStrike" kern="0" cap="none" spc="300" baseline="0">
                <a:solidFill>
                  <a:srgbClr val="E8639F"/>
                </a:solidFill>
                <a:latin typeface="Calibri" pitchFamily="0" charset="0"/>
                <a:ea typeface="Calibri" pitchFamily="0" charset="0"/>
                <a:cs typeface="Calibri" pitchFamily="0" charset="0"/>
              </a:rPr>
              <a:t>CLOSING</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339" name="矩形"/>
          <p:cNvSpPr>
            <a:spLocks/>
          </p:cNvSpPr>
          <p:nvPr/>
        </p:nvSpPr>
        <p:spPr>
          <a:xfrm rot="0">
            <a:off x="457200" y="1188720"/>
            <a:ext cx="4754880" cy="155448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4200" b="1" i="0" u="none" strike="noStrike" kern="1200" cap="none" spc="0" baseline="0">
                <a:solidFill>
                  <a:srgbClr val="2E1B5B"/>
                </a:solidFill>
                <a:latin typeface="Georgia" pitchFamily="0" charset="0"/>
                <a:ea typeface="Georgia" pitchFamily="0" charset="0"/>
                <a:cs typeface="Georgia" pitchFamily="0" charset="0"/>
              </a:rPr>
              <a:t>Thank You</a:t>
            </a:r>
            <a:endParaRPr lang="en-US" altLang="zh-CN" sz="42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0"/>
              </a:spcAft>
              <a:buNone/>
            </a:pPr>
            <a:r>
              <a:rPr lang="en-US" altLang="zh-CN" sz="4200" b="1" i="0" u="none" strike="noStrike" kern="1200" cap="none" spc="0" baseline="0">
                <a:solidFill>
                  <a:srgbClr val="E8639F"/>
                </a:solidFill>
                <a:latin typeface="Georgia" pitchFamily="0" charset="0"/>
                <a:ea typeface="Georgia" pitchFamily="0" charset="0"/>
                <a:cs typeface="Georgia" pitchFamily="0" charset="0"/>
              </a:rPr>
              <a:t>Questions?</a:t>
            </a:r>
            <a:endParaRPr lang="zh-CN" altLang="en-US" sz="4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0" name="矩形"/>
          <p:cNvSpPr>
            <a:spLocks/>
          </p:cNvSpPr>
          <p:nvPr/>
        </p:nvSpPr>
        <p:spPr>
          <a:xfrm rot="0">
            <a:off x="457200" y="2788920"/>
            <a:ext cx="4754880" cy="27432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300" b="0" i="1" u="none" strike="noStrike" kern="1200" cap="none" spc="0" baseline="0">
                <a:solidFill>
                  <a:srgbClr val="6F7399"/>
                </a:solidFill>
                <a:latin typeface="Calibri" pitchFamily="0" charset="0"/>
                <a:ea typeface="Calibri" pitchFamily="0" charset="0"/>
                <a:cs typeface="Calibri" pitchFamily="0" charset="0"/>
              </a:rPr>
              <a:t>Inspiring Minds. Shaping Tomorrow.</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1" name="圆角矩形"/>
          <p:cNvSpPr>
            <a:spLocks/>
          </p:cNvSpPr>
          <p:nvPr/>
        </p:nvSpPr>
        <p:spPr>
          <a:xfrm rot="0">
            <a:off x="457200" y="3291840"/>
            <a:ext cx="2286000" cy="713231"/>
          </a:xfrm>
          <a:prstGeom prst="roundRect">
            <a:avLst>
              <a:gd name="adj" fmla="val 10347"/>
            </a:avLst>
          </a:prstGeom>
          <a:solidFill>
            <a:srgbClr val="FFFFFF"/>
          </a:solidFill>
          <a:ln w="9525" cmpd="sng" cap="flat">
            <a:solidFill>
              <a:srgbClr val="B8BDEB"/>
            </a:solidFill>
            <a:prstDash val="solid"/>
            <a:round/>
          </a:ln>
        </p:spPr>
        <p:txBody>
          <a:bodyPr vert="horz" wrap="square" lIns="63500" tIns="114300" rIns="114300" bIns="38100" anchor="t" anchorCtr="0">
            <a:prstTxWarp prst="textNoShape"/>
          </a:bodyPr>
          <a:lstStyle/>
          <a:p>
            <a:pPr marL="0" indent="0" algn="l">
              <a:lnSpc>
                <a:spcPct val="100000"/>
              </a:lnSpc>
              <a:spcBef>
                <a:spcPts val="0"/>
              </a:spcBef>
              <a:spcAft>
                <a:spcPts val="0"/>
              </a:spcAft>
              <a:buNone/>
            </a:pPr>
            <a:r>
              <a:rPr lang="en-US" altLang="zh-CN" sz="900" b="1" i="0" u="none" strike="noStrike" kern="0" cap="none" spc="100" baseline="0">
                <a:solidFill>
                  <a:srgbClr val="5B3BA8"/>
                </a:solidFill>
                <a:latin typeface="Calibri" pitchFamily="0" charset="0"/>
                <a:ea typeface="Calibri" pitchFamily="0" charset="0"/>
                <a:cs typeface="Calibri" pitchFamily="0" charset="0"/>
              </a:rPr>
              <a:t>GITHUB REPOSITORY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2" name="圆角矩形"/>
          <p:cNvSpPr>
            <a:spLocks/>
          </p:cNvSpPr>
          <p:nvPr/>
        </p:nvSpPr>
        <p:spPr>
          <a:xfrm rot="0">
            <a:off x="457200" y="4114800"/>
            <a:ext cx="4663440" cy="530352"/>
          </a:xfrm>
          <a:prstGeom prst="roundRect">
            <a:avLst>
              <a:gd name="adj" fmla="val 10347"/>
            </a:avLst>
          </a:prstGeom>
          <a:solidFill>
            <a:srgbClr val="FFFFFF"/>
          </a:solidFill>
          <a:ln w="9525" cmpd="sng" cap="flat">
            <a:solidFill>
              <a:srgbClr val="B8BDEB"/>
            </a:solidFill>
            <a:prstDash val="solid"/>
            <a:round/>
          </a:ln>
        </p:spPr>
        <p:txBody>
          <a:bodyPr vert="horz" wrap="square" lIns="63500" tIns="114300" rIns="114300" bIns="38100" anchor="t" anchorCtr="0">
            <a:prstTxWarp prst="textNoShape"/>
          </a:bodyPr>
          <a:lstStyle/>
          <a:p>
            <a:pPr marL="0" indent="0" algn="l">
              <a:lnSpc>
                <a:spcPct val="100000"/>
              </a:lnSpc>
              <a:spcBef>
                <a:spcPts val="0"/>
              </a:spcBef>
              <a:spcAft>
                <a:spcPts val="0"/>
              </a:spcAft>
              <a:buNone/>
            </a:pPr>
            <a:r>
              <a:rPr lang="en-US" altLang="zh-CN" sz="900" b="1" i="0" u="none" strike="noStrike" kern="0" cap="none" spc="100" baseline="0">
                <a:solidFill>
                  <a:srgbClr val="5B3BA8"/>
                </a:solidFill>
                <a:latin typeface="Calibri" pitchFamily="0" charset="0"/>
                <a:ea typeface="Calibri" pitchFamily="0" charset="0"/>
                <a:cs typeface="Calibri" pitchFamily="0" charset="0"/>
              </a:rPr>
              <a:t>LIVE APP</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3" name="圆角矩形"/>
          <p:cNvSpPr>
            <a:spLocks/>
          </p:cNvSpPr>
          <p:nvPr/>
        </p:nvSpPr>
        <p:spPr>
          <a:xfrm rot="0">
            <a:off x="2834640" y="3291840"/>
            <a:ext cx="2285999" cy="713231"/>
          </a:xfrm>
          <a:prstGeom prst="roundRect">
            <a:avLst>
              <a:gd name="adj" fmla="val 10347"/>
            </a:avLst>
          </a:prstGeom>
          <a:solidFill>
            <a:srgbClr val="FFFFFF"/>
          </a:solidFill>
          <a:ln w="9525" cmpd="sng" cap="flat">
            <a:solidFill>
              <a:srgbClr val="B8BDEB"/>
            </a:solidFill>
            <a:prstDash val="solid"/>
            <a:round/>
          </a:ln>
        </p:spPr>
        <p:txBody>
          <a:bodyPr vert="horz" wrap="square" lIns="63500" tIns="114300" rIns="114300" bIns="38100" anchor="t" anchorCtr="0">
            <a:prstTxWarp prst="textNoShape"/>
          </a:bodyPr>
          <a:lstStyle/>
          <a:p>
            <a:pPr marL="0" indent="0" algn="l">
              <a:lnSpc>
                <a:spcPct val="100000"/>
              </a:lnSpc>
              <a:spcBef>
                <a:spcPts val="0"/>
              </a:spcBef>
              <a:spcAft>
                <a:spcPts val="0"/>
              </a:spcAft>
              <a:buNone/>
            </a:pPr>
            <a:r>
              <a:rPr lang="en-US" altLang="zh-CN" sz="900" b="1" i="0" u="none" strike="noStrike" kern="0" cap="none" spc="100" baseline="0">
                <a:solidFill>
                  <a:srgbClr val="5B3BA8"/>
                </a:solidFill>
                <a:latin typeface="Calibri" pitchFamily="0" charset="0"/>
                <a:ea typeface="Calibri" pitchFamily="0" charset="0"/>
                <a:cs typeface="Calibri" pitchFamily="0" charset="0"/>
              </a:rPr>
              <a:t>DEMO VIDEO LINK</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344" name="图片" descr="sphere.png"/>
          <p:cNvPicPr>
            <a:picLocks noChangeAspect="1"/>
          </p:cNvPicPr>
          <p:nvPr/>
        </p:nvPicPr>
        <p:blipFill>
          <a:blip r:embed="rId1" cstate="print"/>
          <a:stretch>
            <a:fillRect/>
          </a:stretch>
        </p:blipFill>
        <p:spPr>
          <a:xfrm rot="0">
            <a:off x="5486400" y="1097280"/>
            <a:ext cx="3200400" cy="3200400"/>
          </a:xfrm>
          <a:prstGeom prst="rect"/>
          <a:noFill/>
          <a:ln w="12700" cmpd="sng" cap="flat">
            <a:noFill/>
            <a:prstDash val="solid"/>
            <a:miter/>
          </a:ln>
        </p:spPr>
      </p:pic>
      <p:pic>
        <p:nvPicPr>
          <p:cNvPr id="345" name="图片" descr="bird1.png"/>
          <p:cNvPicPr>
            <a:picLocks noChangeAspect="1"/>
          </p:cNvPicPr>
          <p:nvPr/>
        </p:nvPicPr>
        <p:blipFill>
          <a:blip r:embed="rId2" cstate="print"/>
          <a:stretch>
            <a:fillRect/>
          </a:stretch>
        </p:blipFill>
        <p:spPr>
          <a:xfrm rot="0">
            <a:off x="5029200" y="914400"/>
            <a:ext cx="822959" cy="493775"/>
          </a:xfrm>
          <a:prstGeom prst="rect"/>
          <a:noFill/>
          <a:ln w="12700" cmpd="sng" cap="flat">
            <a:noFill/>
            <a:prstDash val="solid"/>
            <a:miter/>
          </a:ln>
        </p:spPr>
      </p:pic>
      <p:pic>
        <p:nvPicPr>
          <p:cNvPr id="346" name="图片" descr="bird2.png"/>
          <p:cNvPicPr>
            <a:picLocks noChangeAspect="1"/>
          </p:cNvPicPr>
          <p:nvPr/>
        </p:nvPicPr>
        <p:blipFill>
          <a:blip r:embed="rId3" cstate="print"/>
          <a:stretch>
            <a:fillRect/>
          </a:stretch>
        </p:blipFill>
        <p:spPr>
          <a:xfrm rot="0">
            <a:off x="4754880" y="3840480"/>
            <a:ext cx="548639" cy="329183"/>
          </a:xfrm>
          <a:prstGeom prst="rect"/>
          <a:noFill/>
          <a:ln w="12700" cmpd="sng" cap="flat">
            <a:noFill/>
            <a:prstDash val="solid"/>
            <a:miter/>
          </a:ln>
        </p:spPr>
      </p:pic>
      <p:pic>
        <p:nvPicPr>
          <p:cNvPr id="347" name="图片" descr="bird3.png"/>
          <p:cNvPicPr>
            <a:picLocks noChangeAspect="1"/>
          </p:cNvPicPr>
          <p:nvPr/>
        </p:nvPicPr>
        <p:blipFill>
          <a:blip r:embed="rId4" cstate="print"/>
          <a:stretch>
            <a:fillRect/>
          </a:stretch>
        </p:blipFill>
        <p:spPr>
          <a:xfrm rot="0">
            <a:off x="8229600" y="4023359"/>
            <a:ext cx="457200" cy="274320"/>
          </a:xfrm>
          <a:prstGeom prst="rect"/>
          <a:noFill/>
          <a:ln w="12700" cmpd="sng" cap="flat">
            <a:noFill/>
            <a:prstDash val="solid"/>
            <a:miter/>
          </a:ln>
        </p:spPr>
      </p:pic>
      <p:sp>
        <p:nvSpPr>
          <p:cNvPr id="348" name="矩形"/>
          <p:cNvSpPr>
            <a:spLocks/>
          </p:cNvSpPr>
          <p:nvPr/>
        </p:nvSpPr>
        <p:spPr>
          <a:xfrm rot="0">
            <a:off x="2926080" y="3552443"/>
            <a:ext cx="2103120" cy="438911"/>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5B3BA8"/>
                </a:solidFill>
                <a:latin typeface="Calibri" pitchFamily="0" charset="0"/>
                <a:ea typeface="等线" pitchFamily="0" charset="0"/>
                <a:cs typeface="Calibri" pitchFamily="0" charset="0"/>
                <a:hlinkClick r:id="rId12"/>
              </a:rPr>
              <a:t>youtu.be/WW4myHQ4JOg</a:t>
            </a:r>
            <a:endParaRPr lang="zh-CN" altLang="en-US" sz="1050" b="0" i="1" u="none" strike="noStrike" kern="1200" cap="none" spc="0" baseline="0">
              <a:solidFill>
                <a:srgbClr val="6F7399"/>
              </a:solidFill>
              <a:latin typeface="Calibri" pitchFamily="0" charset="0"/>
              <a:ea typeface="等线" pitchFamily="0" charset="0"/>
              <a:cs typeface="Calibri" pitchFamily="0" charset="0"/>
            </a:endParaRPr>
          </a:p>
        </p:txBody>
      </p:sp>
      <p:sp>
        <p:nvSpPr>
          <p:cNvPr id="349" name="矩形"/>
          <p:cNvSpPr>
            <a:spLocks/>
          </p:cNvSpPr>
          <p:nvPr/>
        </p:nvSpPr>
        <p:spPr>
          <a:xfrm rot="0">
            <a:off x="548640" y="4375403"/>
            <a:ext cx="4480560" cy="256031"/>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00" b="0" i="0" u="none" strike="noStrike" kern="1200" cap="none" spc="0" baseline="0">
                <a:solidFill>
                  <a:srgbClr val="5B3BA8"/>
                </a:solidFill>
                <a:latin typeface="Calibri" pitchFamily="0" charset="0"/>
                <a:ea typeface="等线" pitchFamily="0" charset="0"/>
                <a:cs typeface="Calibri" pitchFamily="0" charset="0"/>
                <a:hlinkClick r:id="rId5"/>
              </a:rPr>
              <a:t>greenq-xi.vercel.app</a:t>
            </a:r>
            <a:endParaRPr lang="zh-CN" altLang="en-US" sz="1100" b="0" i="0" u="none" strike="noStrike" kern="1200" cap="none" spc="0" baseline="0">
              <a:solidFill>
                <a:srgbClr val="5B3BA8"/>
              </a:solidFill>
              <a:latin typeface="Calibri" pitchFamily="0" charset="0"/>
              <a:ea typeface="等线" pitchFamily="0" charset="0"/>
              <a:cs typeface="Calibri" pitchFamily="0" charset="0"/>
              <a:hlinkClick r:id="rId6"/>
            </a:endParaRPr>
          </a:p>
        </p:txBody>
      </p:sp>
      <p:sp>
        <p:nvSpPr>
          <p:cNvPr id="350" name="矩形"/>
          <p:cNvSpPr>
            <a:spLocks/>
          </p:cNvSpPr>
          <p:nvPr/>
        </p:nvSpPr>
        <p:spPr>
          <a:xfrm rot="0">
            <a:off x="548640" y="3552443"/>
            <a:ext cx="2103120" cy="438911"/>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rgbClr val="5B3BA8"/>
                </a:solidFill>
                <a:latin typeface="Calibri" pitchFamily="0" charset="0"/>
                <a:ea typeface="等线" pitchFamily="0" charset="0"/>
                <a:cs typeface="Calibri" pitchFamily="0" charset="0"/>
                <a:hlinkClick r:id="rId7"/>
              </a:rPr>
              <a:t>github.com/vtu-qiskit-fall-fest-2026/</a:t>
            </a:r>
            <a:br>
              <a:rPr lang="zh-CN" altLang="en-US" sz="1050" b="0" i="0" u="none" strike="noStrike" kern="1200" cap="none" spc="0" baseline="0">
                <a:solidFill>
                  <a:srgbClr val="5B3BA8"/>
                </a:solidFill>
                <a:latin typeface="Calibri" pitchFamily="0" charset="0"/>
                <a:ea typeface="等线" pitchFamily="0" charset="0"/>
                <a:cs typeface="Calibri" pitchFamily="0" charset="0"/>
              </a:rPr>
            </a:br>
            <a:r>
              <a:rPr lang="en-US" altLang="zh-CN" sz="1050" b="0" i="0" u="none" strike="noStrike" kern="1200" cap="none" spc="0" baseline="0">
                <a:solidFill>
                  <a:srgbClr val="5B3BA8"/>
                </a:solidFill>
                <a:latin typeface="Calibri" pitchFamily="0" charset="0"/>
                <a:ea typeface="等线" pitchFamily="0" charset="0"/>
                <a:cs typeface="Calibri" pitchFamily="0" charset="0"/>
                <a:hlinkClick r:id="rId8"/>
              </a:rPr>
              <a:t>vtu-hc-response200</a:t>
            </a:r>
            <a:endParaRPr lang="zh-CN" altLang="en-US" sz="1050" b="0" i="0" u="none" strike="noStrike" kern="1200" cap="none" spc="0" baseline="0">
              <a:solidFill>
                <a:srgbClr val="5B3BA8"/>
              </a:solidFill>
              <a:latin typeface="Calibri" pitchFamily="0" charset="0"/>
              <a:ea typeface="等线" pitchFamily="0" charset="0"/>
              <a:cs typeface="Calibri" pitchFamily="0" charset="0"/>
              <a:hlinkClick r:id="rId9"/>
            </a:endParaRPr>
          </a:p>
        </p:txBody>
      </p:sp>
    </p:spTree>
    <p:extLst>
      <p:ext uri="{BB962C8B-B14F-4D97-AF65-F5344CB8AC3E}">
        <p14:creationId xmlns:p14="http://schemas.microsoft.com/office/powerpoint/2010/main" val="58556762"/>
      </p:ext>
    </p:extLst>
  </p:cSld>
  <p:clrMapOvr>
    <a:masterClrMapping/>
  </p:clrMapOvr>
</p:sld>
</file>

<file path=ppt/theme/theme1.xml><?xml version="1.0" encoding="utf-8"?>
<a:theme xmlns:a="http://schemas.openxmlformats.org/drawingml/2006/main" name="Qiskit Fall Fest">
  <a:themeElements>
    <a:clrScheme name="Qiskit Fall Fest">
      <a:dk1>
        <a:srgbClr val="2E1B5B"/>
      </a:dk1>
      <a:lt1>
        <a:srgbClr val="FFFFFF"/>
      </a:lt1>
      <a:dk2>
        <a:srgbClr val="4B2BA8"/>
      </a:dk2>
      <a:lt2>
        <a:srgbClr val="DDE2FC"/>
      </a:lt2>
      <a:accent1>
        <a:srgbClr val="E0558F"/>
      </a:accent1>
      <a:accent2>
        <a:srgbClr val="6B3FD4"/>
      </a:accent2>
      <a:accent3>
        <a:srgbClr val="F5C33B"/>
      </a:accent3>
      <a:accent4>
        <a:srgbClr val="3B82F6"/>
      </a:accent4>
      <a:accent5>
        <a:srgbClr val="7B58B8"/>
      </a:accent5>
      <a:accent6>
        <a:srgbClr val="2BB5A0"/>
      </a:accent6>
      <a:hlink>
        <a:srgbClr val="6B3FD4"/>
      </a:hlink>
      <a:folHlink>
        <a:srgbClr val="4B2BA8"/>
      </a:folHlink>
    </a:clrScheme>
    <a:fontScheme name="Qiskit Fall Fest">
      <a:majorFont>
        <a:latin typeface=""/>
        <a:ea typeface=""/>
        <a:cs typeface=""/>
      </a:majorFont>
      <a:minorFont>
        <a:latin typeface=""/>
        <a:ea typeface=""/>
        <a:cs typeface=""/>
      </a:minorFont>
    </a:fontScheme>
    <a:fmtScheme name="Qiskit Fall Fest">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0</TotalTime>
  <Application>Yozo_Office</Application>
</Properties>
</file>

<file path=docProps/core.xml><?xml version="1.0" encoding="utf-8"?>
<cp:coreProperties xmlns:cp="http://schemas.openxmlformats.org/package/2006/metadata/core-properties" xmlns:dc="http://purl.org/dc/elements/1.1/" xmlns:dcterms="http://purl.org/dc/terms/" xmlns:xsi="http://www.w3.org/2001/XMLSchema-instance">
  <cp:lastModifiedBy>root</cp:lastModifiedBy>
  <cp:revision>0</cp:revision>
  <dcterms:modified xsi:type="dcterms:W3CDTF">2026-10-23T05:17:36Z</dcterms:modified>
</cp:coreProperties>
</file>